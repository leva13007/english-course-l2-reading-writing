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handoutMasterIdLst>
    <p:handoutMasterId r:id="rId33"/>
  </p:handoutMasterIdLst>
  <p:sldIdLst>
    <p:sldId id="256" r:id="rId5"/>
    <p:sldId id="257" r:id="rId6"/>
    <p:sldId id="258" r:id="rId7"/>
    <p:sldId id="269" r:id="rId8"/>
    <p:sldId id="279" r:id="rId9"/>
    <p:sldId id="280" r:id="rId10"/>
    <p:sldId id="281" r:id="rId11"/>
    <p:sldId id="282" r:id="rId12"/>
    <p:sldId id="270" r:id="rId13"/>
    <p:sldId id="278" r:id="rId14"/>
    <p:sldId id="283" r:id="rId15"/>
    <p:sldId id="271" r:id="rId16"/>
    <p:sldId id="272" r:id="rId17"/>
    <p:sldId id="273" r:id="rId18"/>
    <p:sldId id="274" r:id="rId19"/>
    <p:sldId id="275" r:id="rId20"/>
    <p:sldId id="277" r:id="rId21"/>
    <p:sldId id="276" r:id="rId22"/>
    <p:sldId id="265" r:id="rId23"/>
    <p:sldId id="263" r:id="rId24"/>
    <p:sldId id="264" r:id="rId25"/>
    <p:sldId id="266" r:id="rId26"/>
    <p:sldId id="259" r:id="rId27"/>
    <p:sldId id="260" r:id="rId28"/>
    <p:sldId id="261" r:id="rId29"/>
    <p:sldId id="262" r:id="rId30"/>
    <p:sldId id="268" r:id="rId31"/>
    <p:sldId id="267" r:id="rId32"/>
  </p:sldIdLst>
  <p:sldSz cx="9144000" cy="6858000" type="screen4x3"/>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546"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E1C54FC6-6982-4DBA-8B59-74345EA39570}" type="datetimeFigureOut">
              <a:rPr lang="en-GB" smtClean="0"/>
              <a:t>23/09/2025</a:t>
            </a:fld>
            <a:endParaRPr lang="en-GB"/>
          </a:p>
        </p:txBody>
      </p:sp>
      <p:sp>
        <p:nvSpPr>
          <p:cNvPr id="4" name="Footer Placeholder 3"/>
          <p:cNvSpPr>
            <a:spLocks noGrp="1"/>
          </p:cNvSpPr>
          <p:nvPr>
            <p:ph type="ftr" sz="quarter" idx="2"/>
          </p:nvPr>
        </p:nvSpPr>
        <p:spPr>
          <a:xfrm>
            <a:off x="0" y="9428163"/>
            <a:ext cx="2946400" cy="4968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49688" y="9428163"/>
            <a:ext cx="2946400" cy="496887"/>
          </a:xfrm>
          <a:prstGeom prst="rect">
            <a:avLst/>
          </a:prstGeom>
        </p:spPr>
        <p:txBody>
          <a:bodyPr vert="horz" lIns="91440" tIns="45720" rIns="91440" bIns="45720" rtlCol="0" anchor="b"/>
          <a:lstStyle>
            <a:lvl1pPr algn="r">
              <a:defRPr sz="1200"/>
            </a:lvl1pPr>
          </a:lstStyle>
          <a:p>
            <a:fld id="{C94F6910-613C-4278-A9D6-38E763986D2B}" type="slidenum">
              <a:rPr lang="en-GB" smtClean="0"/>
              <a:t>‹#›</a:t>
            </a:fld>
            <a:endParaRPr lang="en-GB"/>
          </a:p>
        </p:txBody>
      </p:sp>
    </p:spTree>
    <p:extLst>
      <p:ext uri="{BB962C8B-B14F-4D97-AF65-F5344CB8AC3E}">
        <p14:creationId xmlns:p14="http://schemas.microsoft.com/office/powerpoint/2010/main" val="3203147012"/>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5" name="Rounded Rectangle 14"/>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ounded Rectangle 9"/>
          <p:cNvSpPr/>
          <p:nvPr/>
        </p:nvSpPr>
        <p:spPr>
          <a:xfrm>
            <a:off x="418596" y="434162"/>
            <a:ext cx="8306809" cy="3108960"/>
          </a:xfrm>
          <a:prstGeom prst="roundRect">
            <a:avLst>
              <a:gd name="adj" fmla="val 4578"/>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4"/>
          <p:cNvSpPr>
            <a:spLocks noGrp="1"/>
          </p:cNvSpPr>
          <p:nvPr>
            <p:ph type="ctrTitle"/>
          </p:nvPr>
        </p:nvSpPr>
        <p:spPr>
          <a:xfrm>
            <a:off x="722376" y="1820206"/>
            <a:ext cx="7772400" cy="1828800"/>
          </a:xfrm>
        </p:spPr>
        <p:txBody>
          <a:bodyPr lIns="45720" rIns="45720" bIns="45720"/>
          <a:lstStyle>
            <a:lvl1pPr algn="r">
              <a:defRPr sz="4500" b="1">
                <a:solidFill>
                  <a:schemeClr val="accent1">
                    <a:tint val="88000"/>
                    <a:satMod val="150000"/>
                  </a:schemeClr>
                </a:solidFill>
                <a:effectLst>
                  <a:outerShdw blurRad="53975" dist="22860" dir="5400000" algn="tl" rotWithShape="0">
                    <a:srgbClr val="000000">
                      <a:alpha val="55000"/>
                    </a:srgbClr>
                  </a:outerShdw>
                </a:effectLst>
              </a:defRPr>
            </a:lvl1pPr>
            <a:extLst/>
          </a:lstStyle>
          <a:p>
            <a:r>
              <a:rPr kumimoji="0" lang="en-US"/>
              <a:t>Click to edit Master title style</a:t>
            </a:r>
          </a:p>
        </p:txBody>
      </p:sp>
      <p:sp>
        <p:nvSpPr>
          <p:cNvPr id="20" name="Subtitle 19"/>
          <p:cNvSpPr>
            <a:spLocks noGrp="1"/>
          </p:cNvSpPr>
          <p:nvPr>
            <p:ph type="subTitle" idx="1"/>
          </p:nvPr>
        </p:nvSpPr>
        <p:spPr>
          <a:xfrm>
            <a:off x="722376" y="3685032"/>
            <a:ext cx="7772400" cy="914400"/>
          </a:xfrm>
        </p:spPr>
        <p:txBody>
          <a:bodyPr lIns="182880" tIns="0"/>
          <a:lstStyle>
            <a:lvl1pPr marL="36576" indent="0" algn="r">
              <a:spcBef>
                <a:spcPts val="0"/>
              </a:spcBef>
              <a:buNone/>
              <a:defRPr sz="2000">
                <a:solidFill>
                  <a:schemeClr val="bg2">
                    <a:shade val="2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19" name="Date Placeholder 18"/>
          <p:cNvSpPr>
            <a:spLocks noGrp="1"/>
          </p:cNvSpPr>
          <p:nvPr>
            <p:ph type="dt" sz="half" idx="10"/>
          </p:nvPr>
        </p:nvSpPr>
        <p:spPr/>
        <p:txBody>
          <a:bodyPr/>
          <a:lstStyle/>
          <a:p>
            <a:fld id="{B22DB389-9851-40A6-B5ED-4D8068B8FEE7}" type="datetimeFigureOut">
              <a:rPr lang="en-GB" smtClean="0"/>
              <a:t>23/09/2025</a:t>
            </a:fld>
            <a:endParaRPr lang="en-GB"/>
          </a:p>
        </p:txBody>
      </p:sp>
      <p:sp>
        <p:nvSpPr>
          <p:cNvPr id="8" name="Footer Placeholder 7"/>
          <p:cNvSpPr>
            <a:spLocks noGrp="1"/>
          </p:cNvSpPr>
          <p:nvPr>
            <p:ph type="ftr" sz="quarter" idx="11"/>
          </p:nvPr>
        </p:nvSpPr>
        <p:spPr/>
        <p:txBody>
          <a:bodyPr/>
          <a:lstStyle/>
          <a:p>
            <a:endParaRPr lang="en-GB"/>
          </a:p>
        </p:txBody>
      </p:sp>
      <p:sp>
        <p:nvSpPr>
          <p:cNvPr id="11" name="Slide Number Placeholder 10"/>
          <p:cNvSpPr>
            <a:spLocks noGrp="1"/>
          </p:cNvSpPr>
          <p:nvPr>
            <p:ph type="sldNum" sz="quarter" idx="12"/>
          </p:nvPr>
        </p:nvSpPr>
        <p:spPr/>
        <p:txBody>
          <a:bodyPr/>
          <a:lstStyle/>
          <a:p>
            <a:fld id="{B4059904-151E-4BD6-816A-B6D350B39DE5}" type="slidenum">
              <a:rPr lang="en-GB" smtClean="0"/>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p>
            <a:r>
              <a:rPr kumimoji="0" lang="en-US"/>
              <a:t>Click to edit Master title style</a:t>
            </a:r>
          </a:p>
        </p:txBody>
      </p:sp>
      <p:sp>
        <p:nvSpPr>
          <p:cNvPr id="3" name="Content Placeholder 2"/>
          <p:cNvSpPr>
            <a:spLocks noGrp="1"/>
          </p:cNvSpPr>
          <p:nvPr>
            <p:ph idx="1"/>
          </p:nvPr>
        </p:nvSpPr>
        <p:spPr>
          <a:xfrm>
            <a:off x="502920" y="530352"/>
            <a:ext cx="8183880" cy="41879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22DB389-9851-40A6-B5ED-4D8068B8FEE7}" type="datetimeFigureOut">
              <a:rPr lang="en-GB" smtClean="0"/>
              <a:t>23/09/2025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4059904-151E-4BD6-816A-B6D350B39DE5}" type="slidenum">
              <a:rPr lang="en-GB" smtClean="0"/>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ounded Rectangle 10"/>
          <p:cNvSpPr/>
          <p:nvPr/>
        </p:nvSpPr>
        <p:spPr>
          <a:xfrm>
            <a:off x="418596" y="434162"/>
            <a:ext cx="8306809" cy="4341329"/>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468344" y="4928616"/>
            <a:ext cx="8183880" cy="676656"/>
          </a:xfrm>
        </p:spPr>
        <p:txBody>
          <a:bodyPr lIns="91440" bIns="0" anchor="b"/>
          <a:lstStyle>
            <a:lvl1pPr algn="l">
              <a:buNone/>
              <a:defRPr sz="3600" b="0" cap="none" baseline="0">
                <a:solidFill>
                  <a:schemeClr val="bg2">
                    <a:shade val="25000"/>
                  </a:schemeClr>
                </a:solidFill>
                <a:effectLst/>
              </a:defRPr>
            </a:lvl1pPr>
            <a:extLst/>
          </a:lstStyle>
          <a:p>
            <a:r>
              <a:rPr kumimoji="0" lang="en-US"/>
              <a:t>Click to edit Master title style</a:t>
            </a:r>
          </a:p>
        </p:txBody>
      </p:sp>
      <p:sp>
        <p:nvSpPr>
          <p:cNvPr id="3" name="Text Placeholder 2"/>
          <p:cNvSpPr>
            <a:spLocks noGrp="1"/>
          </p:cNvSpPr>
          <p:nvPr>
            <p:ph type="body" idx="1"/>
          </p:nvPr>
        </p:nvSpPr>
        <p:spPr>
          <a:xfrm>
            <a:off x="468344" y="5624484"/>
            <a:ext cx="8183880" cy="420624"/>
          </a:xfrm>
        </p:spPr>
        <p:txBody>
          <a:bodyPr lIns="118872" tIns="0" anchor="t"/>
          <a:lstStyle>
            <a:lvl1pPr marL="0" marR="36576" indent="0" algn="l">
              <a:spcBef>
                <a:spcPts val="0"/>
              </a:spcBef>
              <a:spcAft>
                <a:spcPts val="0"/>
              </a:spcAft>
              <a:buNone/>
              <a:defRPr sz="1800" b="0">
                <a:solidFill>
                  <a:schemeClr val="accent1">
                    <a:shade val="50000"/>
                    <a:satMod val="110000"/>
                  </a:schemeClr>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B22DB389-9851-40A6-B5ED-4D8068B8FEE7}" type="datetimeFigureOut">
              <a:rPr lang="en-GB" smtClean="0"/>
              <a:t>23/09/2025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4059904-151E-4BD6-816A-B6D350B39DE5}" type="slidenum">
              <a:rPr lang="en-GB" smtClean="0"/>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514352"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755360"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B22DB389-9851-40A6-B5ED-4D8068B8FEE7}" type="datetimeFigureOut">
              <a:rPr lang="en-GB" smtClean="0"/>
              <a:t>23/09/2025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4059904-151E-4BD6-816A-B6D350B39DE5}" type="slidenum">
              <a:rPr lang="en-GB" smtClean="0"/>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nchor="b"/>
          <a:lstStyle>
            <a:lvl1pPr>
              <a:defRPr b="1"/>
            </a:lvl1pPr>
            <a:extLst/>
          </a:lstStyle>
          <a:p>
            <a:r>
              <a:rPr kumimoji="0" lang="en-US"/>
              <a:t>Click to edit Master title style</a:t>
            </a:r>
          </a:p>
        </p:txBody>
      </p:sp>
      <p:sp>
        <p:nvSpPr>
          <p:cNvPr id="3" name="Text Placeholder 2"/>
          <p:cNvSpPr>
            <a:spLocks noGrp="1"/>
          </p:cNvSpPr>
          <p:nvPr>
            <p:ph type="body" idx="1"/>
          </p:nvPr>
        </p:nvSpPr>
        <p:spPr>
          <a:xfrm>
            <a:off x="607224" y="579438"/>
            <a:ext cx="3931920" cy="792162"/>
          </a:xfrm>
        </p:spPr>
        <p:txBody>
          <a:bodyPr lIns="146304"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52169" y="579438"/>
            <a:ext cx="3931920" cy="792162"/>
          </a:xfrm>
        </p:spPr>
        <p:txBody>
          <a:bodyPr lIns="137160"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7224"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52169"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B22DB389-9851-40A6-B5ED-4D8068B8FEE7}" type="datetimeFigureOut">
              <a:rPr lang="en-GB" smtClean="0"/>
              <a:t>23/09/2025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B4059904-151E-4BD6-816A-B6D350B39DE5}"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B22DB389-9851-40A6-B5ED-4D8068B8FEE7}" type="datetimeFigureOut">
              <a:rPr lang="en-GB" smtClean="0"/>
              <a:t>23/09/2025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B4059904-151E-4BD6-816A-B6D350B39DE5}" type="slidenum">
              <a:rPr lang="en-GB" smtClean="0"/>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ounded Rectangle 6"/>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B22DB389-9851-40A6-B5ED-4D8068B8FEE7}" type="datetimeFigureOut">
              <a:rPr lang="en-GB" smtClean="0"/>
              <a:t>23/09/2025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B4059904-151E-4BD6-816A-B6D350B39DE5}" type="slidenum">
              <a:rPr lang="en-GB" smtClean="0"/>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38784" y="533400"/>
            <a:ext cx="2971800" cy="914400"/>
          </a:xfrm>
        </p:spPr>
        <p:txBody>
          <a:bodyPr anchor="b"/>
          <a:lstStyle>
            <a:lvl1pPr algn="l">
              <a:buNone/>
              <a:defRPr sz="2200" b="1">
                <a:solidFill>
                  <a:schemeClr val="accent1"/>
                </a:solidFill>
              </a:defRPr>
            </a:lvl1pPr>
            <a:extLst/>
          </a:lstStyle>
          <a:p>
            <a:r>
              <a:rPr kumimoji="0" lang="en-US"/>
              <a:t>Click to edit Master title style</a:t>
            </a:r>
          </a:p>
        </p:txBody>
      </p:sp>
      <p:sp>
        <p:nvSpPr>
          <p:cNvPr id="3" name="Text Placeholder 2"/>
          <p:cNvSpPr>
            <a:spLocks noGrp="1"/>
          </p:cNvSpPr>
          <p:nvPr>
            <p:ph type="body" idx="2"/>
          </p:nvPr>
        </p:nvSpPr>
        <p:spPr>
          <a:xfrm>
            <a:off x="5538847" y="1447802"/>
            <a:ext cx="2971800" cy="4206112"/>
          </a:xfrm>
        </p:spPr>
        <p:txBody>
          <a:bodyPr lIns="91440"/>
          <a:lstStyle>
            <a:lvl1pPr marL="18288" marR="18288" indent="0">
              <a:spcBef>
                <a:spcPts val="0"/>
              </a:spcBef>
              <a:buNone/>
              <a:defRPr sz="1400">
                <a:solidFill>
                  <a:schemeClr val="tx1"/>
                </a:solidFill>
              </a:defRPr>
            </a:lvl1pPr>
            <a:lvl2pPr>
              <a:buNone/>
              <a:defRPr sz="1200">
                <a:solidFill>
                  <a:schemeClr val="tx1"/>
                </a:solidFill>
              </a:defRPr>
            </a:lvl2pPr>
            <a:lvl3pPr>
              <a:buNone/>
              <a:defRPr sz="1000">
                <a:solidFill>
                  <a:schemeClr val="tx1"/>
                </a:solidFill>
              </a:defRPr>
            </a:lvl3pPr>
            <a:lvl4pPr>
              <a:buNone/>
              <a:defRPr sz="900">
                <a:solidFill>
                  <a:schemeClr val="tx1"/>
                </a:solidFill>
              </a:defRPr>
            </a:lvl4pPr>
            <a:lvl5pPr>
              <a:buNone/>
              <a:defRPr sz="900">
                <a:solidFill>
                  <a:schemeClr val="tx1"/>
                </a:solidFill>
              </a:defRPr>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1"/>
          </p:nvPr>
        </p:nvSpPr>
        <p:spPr>
          <a:xfrm>
            <a:off x="761372" y="930144"/>
            <a:ext cx="4626159" cy="4724402"/>
          </a:xfrm>
        </p:spPr>
        <p:txBody>
          <a:bodyPr/>
          <a:lstStyle>
            <a:lvl1pPr>
              <a:defRPr sz="2800">
                <a:solidFill>
                  <a:schemeClr val="tx1"/>
                </a:solidFill>
              </a:defRPr>
            </a:lvl1pPr>
            <a:lvl2pPr>
              <a:defRPr sz="26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buNone/>
              <a:defRPr/>
            </a:lvl6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B22DB389-9851-40A6-B5ED-4D8068B8FEE7}" type="datetimeFigureOut">
              <a:rPr lang="en-GB" smtClean="0"/>
              <a:t>23/09/2025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4059904-151E-4BD6-816A-B6D350B39DE5}" type="slidenum">
              <a:rPr lang="en-GB" smtClean="0"/>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ound Single Corner Rectangle 10"/>
          <p:cNvSpPr/>
          <p:nvPr/>
        </p:nvSpPr>
        <p:spPr>
          <a:xfrm>
            <a:off x="6400800" y="434162"/>
            <a:ext cx="2324605" cy="4343400"/>
          </a:xfrm>
          <a:prstGeom prst="round1Rect">
            <a:avLst>
              <a:gd name="adj" fmla="val 2748"/>
            </a:avLst>
          </a:prstGeom>
          <a:solidFill>
            <a:srgbClr val="1C1C1C"/>
          </a:soli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457200" y="5012056"/>
            <a:ext cx="8229600" cy="1051560"/>
          </a:xfrm>
        </p:spPr>
        <p:txBody>
          <a:bodyPr anchor="t"/>
          <a:lstStyle>
            <a:lvl1pPr algn="l">
              <a:buNone/>
              <a:defRPr sz="3600" b="0">
                <a:solidFill>
                  <a:schemeClr val="bg2">
                    <a:shade val="25000"/>
                  </a:schemeClr>
                </a:solidFill>
                <a:effectLst/>
              </a:defRPr>
            </a:lvl1pPr>
            <a:extLst/>
          </a:lstStyle>
          <a:p>
            <a:r>
              <a:rPr kumimoji="0" lang="en-US"/>
              <a:t>Click to edit Master title style</a:t>
            </a:r>
          </a:p>
        </p:txBody>
      </p:sp>
      <p:sp>
        <p:nvSpPr>
          <p:cNvPr id="4" name="Text Placeholder 3"/>
          <p:cNvSpPr>
            <a:spLocks noGrp="1"/>
          </p:cNvSpPr>
          <p:nvPr>
            <p:ph type="body" sz="half" idx="2"/>
          </p:nvPr>
        </p:nvSpPr>
        <p:spPr bwMode="grayWhite">
          <a:xfrm>
            <a:off x="6462712" y="533400"/>
            <a:ext cx="2240280" cy="4211480"/>
          </a:xfrm>
        </p:spPr>
        <p:txBody>
          <a:bodyPr lIns="91440"/>
          <a:lstStyle>
            <a:lvl1pPr marL="45720" indent="0" algn="l">
              <a:spcBef>
                <a:spcPts val="0"/>
              </a:spcBef>
              <a:buNone/>
              <a:defRPr sz="1400">
                <a:solidFill>
                  <a:srgbClr val="FFFFFF"/>
                </a:solidFill>
              </a:defRPr>
            </a:lvl1pPr>
            <a:lvl2pPr>
              <a:defRPr sz="1200">
                <a:solidFill>
                  <a:srgbClr val="FFFFFF"/>
                </a:solidFill>
              </a:defRPr>
            </a:lvl2pPr>
            <a:lvl3pPr>
              <a:defRPr sz="1000">
                <a:solidFill>
                  <a:srgbClr val="FFFFFF"/>
                </a:solidFill>
              </a:defRPr>
            </a:lvl3pPr>
            <a:lvl4pPr>
              <a:defRPr sz="900">
                <a:solidFill>
                  <a:srgbClr val="FFFFFF"/>
                </a:solidFill>
              </a:defRPr>
            </a:lvl4pPr>
            <a:lvl5pPr>
              <a:defRPr sz="900">
                <a:solidFill>
                  <a:srgbClr val="FFFFFF"/>
                </a:solidFill>
              </a:defRPr>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B22DB389-9851-40A6-B5ED-4D8068B8FEE7}" type="datetimeFigureOut">
              <a:rPr lang="en-GB" smtClean="0"/>
              <a:t>23/09/2025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4059904-151E-4BD6-816A-B6D350B39DE5}" type="slidenum">
              <a:rPr lang="en-GB" smtClean="0"/>
              <a:t>‹#›</a:t>
            </a:fld>
            <a:endParaRPr lang="en-GB"/>
          </a:p>
        </p:txBody>
      </p:sp>
      <p:sp>
        <p:nvSpPr>
          <p:cNvPr id="3" name="Picture Placeholder 2"/>
          <p:cNvSpPr>
            <a:spLocks noGrp="1"/>
          </p:cNvSpPr>
          <p:nvPr>
            <p:ph type="pic" idx="1"/>
          </p:nvPr>
        </p:nvSpPr>
        <p:spPr>
          <a:xfrm>
            <a:off x="421480" y="435768"/>
            <a:ext cx="5925312" cy="4343400"/>
          </a:xfrm>
          <a:prstGeom prst="snipRoundRect">
            <a:avLst>
              <a:gd name="adj1" fmla="val 1040"/>
              <a:gd name="adj2" fmla="val 0"/>
            </a:avLst>
          </a:prstGeom>
          <a:solidFill>
            <a:schemeClr val="bg2">
              <a:shade val="10000"/>
            </a:schemeClr>
          </a:solidFill>
        </p:spPr>
        <p:txBody>
          <a:bodyPr/>
          <a:lstStyle>
            <a:lvl1pPr marL="0" indent="0">
              <a:buNone/>
              <a:defRPr sz="3200"/>
            </a:lvl1pPr>
            <a:extLst/>
          </a:lstStyle>
          <a:p>
            <a:r>
              <a:rPr kumimoji="0" lang="en-US"/>
              <a:t>Click icon to add picture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p>
            <a:r>
              <a:rPr kumimoji="0" lang="en-US"/>
              <a:t>Click to edit Master title style</a:t>
            </a:r>
          </a:p>
        </p:txBody>
      </p:sp>
      <p:sp>
        <p:nvSpPr>
          <p:cNvPr id="3" name="Vertical Text Placeholder 2"/>
          <p:cNvSpPr>
            <a:spLocks noGrp="1"/>
          </p:cNvSpPr>
          <p:nvPr>
            <p:ph type="body" orient="vert" idx="1"/>
          </p:nvPr>
        </p:nvSpPr>
        <p:spPr>
          <a:xfrm>
            <a:off x="502920" y="530352"/>
            <a:ext cx="8183880" cy="4187952"/>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22DB389-9851-40A6-B5ED-4D8068B8FEE7}" type="datetimeFigureOut">
              <a:rPr lang="en-GB" smtClean="0"/>
              <a:t>23/09/2025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4059904-151E-4BD6-816A-B6D350B39DE5}" type="slidenum">
              <a:rPr lang="en-GB" smtClean="0"/>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533404"/>
            <a:ext cx="1981200" cy="5257799"/>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533400" y="533402"/>
            <a:ext cx="5943600" cy="525780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22DB389-9851-40A6-B5ED-4D8068B8FEE7}" type="datetimeFigureOut">
              <a:rPr lang="en-GB" smtClean="0"/>
              <a:t>23/09/2025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4059904-151E-4BD6-816A-B6D350B39DE5}" type="slidenum">
              <a:rPr lang="en-GB" smtClean="0"/>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ounded Rectangle 6"/>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ounded Rectangle 8"/>
          <p:cNvSpPr/>
          <p:nvPr/>
        </p:nvSpPr>
        <p:spPr>
          <a:xfrm>
            <a:off x="418596" y="434162"/>
            <a:ext cx="8306809" cy="5486400"/>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Title Placeholder 12"/>
          <p:cNvSpPr>
            <a:spLocks noGrp="1"/>
          </p:cNvSpPr>
          <p:nvPr>
            <p:ph type="title"/>
          </p:nvPr>
        </p:nvSpPr>
        <p:spPr>
          <a:xfrm>
            <a:off x="502920" y="4985590"/>
            <a:ext cx="8183880" cy="1051560"/>
          </a:xfrm>
          <a:prstGeom prst="rect">
            <a:avLst/>
          </a:prstGeom>
        </p:spPr>
        <p:txBody>
          <a:bodyPr vert="horz" anchor="b">
            <a:normAutofit/>
          </a:bodyPr>
          <a:lstStyle/>
          <a:p>
            <a:r>
              <a:rPr kumimoji="0" lang="en-US"/>
              <a:t>Click to edit Master title style</a:t>
            </a:r>
          </a:p>
        </p:txBody>
      </p:sp>
      <p:sp>
        <p:nvSpPr>
          <p:cNvPr id="4" name="Text Placeholder 3"/>
          <p:cNvSpPr>
            <a:spLocks noGrp="1"/>
          </p:cNvSpPr>
          <p:nvPr>
            <p:ph type="body" idx="1"/>
          </p:nvPr>
        </p:nvSpPr>
        <p:spPr>
          <a:xfrm>
            <a:off x="502920" y="530352"/>
            <a:ext cx="8183880" cy="4187952"/>
          </a:xfrm>
          <a:prstGeom prst="rect">
            <a:avLst/>
          </a:prstGeom>
        </p:spPr>
        <p:txBody>
          <a:bodyPr vert="horz" lIns="182880" tIns="91440">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5" name="Date Placeholder 24"/>
          <p:cNvSpPr>
            <a:spLocks noGrp="1"/>
          </p:cNvSpPr>
          <p:nvPr>
            <p:ph type="dt" sz="half" idx="2"/>
          </p:nvPr>
        </p:nvSpPr>
        <p:spPr>
          <a:xfrm>
            <a:off x="3776328" y="6111875"/>
            <a:ext cx="22860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B22DB389-9851-40A6-B5ED-4D8068B8FEE7}" type="datetimeFigureOut">
              <a:rPr lang="en-GB" smtClean="0"/>
              <a:t>23/09/2025</a:t>
            </a:fld>
            <a:endParaRPr lang="en-GB"/>
          </a:p>
        </p:txBody>
      </p:sp>
      <p:sp>
        <p:nvSpPr>
          <p:cNvPr id="18" name="Footer Placeholder 17"/>
          <p:cNvSpPr>
            <a:spLocks noGrp="1"/>
          </p:cNvSpPr>
          <p:nvPr>
            <p:ph type="ftr" sz="quarter" idx="3"/>
          </p:nvPr>
        </p:nvSpPr>
        <p:spPr>
          <a:xfrm>
            <a:off x="6062328" y="6111875"/>
            <a:ext cx="2286000" cy="365125"/>
          </a:xfrm>
          <a:prstGeom prst="rect">
            <a:avLst/>
          </a:prstGeom>
        </p:spPr>
        <p:txBody>
          <a:bodyPr vert="horz" anchor="b"/>
          <a:lstStyle>
            <a:lvl1pPr algn="l" eaLnBrk="1" latinLnBrk="0" hangingPunct="1">
              <a:defRPr kumimoji="0" sz="1000">
                <a:solidFill>
                  <a:schemeClr val="bg2">
                    <a:shade val="50000"/>
                  </a:schemeClr>
                </a:solidFill>
              </a:defRPr>
            </a:lvl1pPr>
            <a:extLst/>
          </a:lstStyle>
          <a:p>
            <a:endParaRPr lang="en-GB"/>
          </a:p>
        </p:txBody>
      </p:sp>
      <p:sp>
        <p:nvSpPr>
          <p:cNvPr id="5" name="Slide Number Placeholder 4"/>
          <p:cNvSpPr>
            <a:spLocks noGrp="1"/>
          </p:cNvSpPr>
          <p:nvPr>
            <p:ph type="sldNum" sz="quarter" idx="4"/>
          </p:nvPr>
        </p:nvSpPr>
        <p:spPr>
          <a:xfrm>
            <a:off x="8348328" y="6111875"/>
            <a:ext cx="4572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B4059904-151E-4BD6-816A-B6D350B39DE5}" type="slidenum">
              <a:rPr lang="en-GB" smtClean="0"/>
              <a:t>‹#›</a:t>
            </a:fld>
            <a:endParaRPr lang="en-GB"/>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p:titleStyle>
    <p:bodyStyle>
      <a:lvl1pPr marL="265176" indent="-265176" algn="l" rtl="0" eaLnBrk="1" latinLnBrk="0" hangingPunct="1">
        <a:spcBef>
          <a:spcPts val="250"/>
        </a:spcBef>
        <a:buClr>
          <a:schemeClr val="accent1"/>
        </a:buClr>
        <a:buSzPct val="80000"/>
        <a:buFont typeface="Wingdings 2"/>
        <a:buChar char=""/>
        <a:defRPr kumimoji="0" sz="2800" kern="1200">
          <a:solidFill>
            <a:schemeClr val="tx1"/>
          </a:solidFill>
          <a:effectLst/>
          <a:latin typeface="+mn-lt"/>
          <a:ea typeface="+mn-ea"/>
          <a:cs typeface="+mn-cs"/>
        </a:defRPr>
      </a:lvl1pPr>
      <a:lvl2pPr marL="548640" indent="-201168" algn="l" rtl="0" eaLnBrk="1" latinLnBrk="0" hangingPunct="1">
        <a:spcBef>
          <a:spcPts val="250"/>
        </a:spcBef>
        <a:buClr>
          <a:schemeClr val="accent1"/>
        </a:buClr>
        <a:buSzPct val="100000"/>
        <a:buFont typeface="Verdana"/>
        <a:buChar char="◦"/>
        <a:defRPr kumimoji="0" sz="2400" kern="1200">
          <a:solidFill>
            <a:schemeClr val="tx1"/>
          </a:solidFill>
          <a:latin typeface="+mn-lt"/>
          <a:ea typeface="+mn-ea"/>
          <a:cs typeface="+mn-cs"/>
        </a:defRPr>
      </a:lvl2pPr>
      <a:lvl3pPr marL="786384" indent="-182880" algn="l" rtl="0" eaLnBrk="1" latinLnBrk="0" hangingPunct="1">
        <a:spcBef>
          <a:spcPts val="250"/>
        </a:spcBef>
        <a:buClr>
          <a:schemeClr val="accent2">
            <a:tint val="85000"/>
            <a:satMod val="285000"/>
          </a:schemeClr>
        </a:buClr>
        <a:buSzPct val="100000"/>
        <a:buFont typeface="Wingdings 2"/>
        <a:buChar char=""/>
        <a:defRPr kumimoji="0" sz="2200" kern="1200">
          <a:solidFill>
            <a:schemeClr val="tx1"/>
          </a:solidFill>
          <a:latin typeface="+mn-lt"/>
          <a:ea typeface="+mn-ea"/>
          <a:cs typeface="+mn-cs"/>
        </a:defRPr>
      </a:lvl3pPr>
      <a:lvl4pPr marL="1024128" indent="-182880" algn="l" rtl="0" eaLnBrk="1" latinLnBrk="0" hangingPunct="1">
        <a:spcBef>
          <a:spcPts val="230"/>
        </a:spcBef>
        <a:buClr>
          <a:schemeClr val="accent2">
            <a:tint val="85000"/>
            <a:satMod val="285000"/>
          </a:schemeClr>
        </a:buClr>
        <a:buSzPct val="112000"/>
        <a:buFont typeface="Verdana"/>
        <a:buChar char="◦"/>
        <a:defRPr kumimoji="0" sz="1900" kern="1200">
          <a:solidFill>
            <a:schemeClr val="tx1"/>
          </a:solidFill>
          <a:latin typeface="+mn-lt"/>
          <a:ea typeface="+mn-ea"/>
          <a:cs typeface="+mn-cs"/>
        </a:defRPr>
      </a:lvl4pPr>
      <a:lvl5pPr marL="1280160" indent="-182880" algn="l" rtl="0" eaLnBrk="1" latinLnBrk="0" hangingPunct="1">
        <a:spcBef>
          <a:spcPts val="250"/>
        </a:spcBef>
        <a:buClr>
          <a:schemeClr val="accent3">
            <a:tint val="85000"/>
            <a:satMod val="275000"/>
          </a:schemeClr>
        </a:buClr>
        <a:buSzPct val="100000"/>
        <a:buFont typeface="Wingdings 2"/>
        <a:buChar char=""/>
        <a:defRPr kumimoji="0" sz="18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28.xml.rels><?xml version="1.0" encoding="UTF-8" standalone="yes"?>
<Relationships xmlns="http://schemas.openxmlformats.org/package/2006/relationships"><Relationship Id="rId3" Type="http://schemas.openxmlformats.org/officeDocument/2006/relationships/hyperlink" Target="http://www.englishpage.com/verbpage/presentperfect.html" TargetMode="External"/><Relationship Id="rId2" Type="http://schemas.openxmlformats.org/officeDocument/2006/relationships/slideLayout" Target="../slideLayouts/slideLayout2.xml"/><Relationship Id="rId1" Type="http://schemas.openxmlformats.org/officeDocument/2006/relationships/tags" Target="../tags/tag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Perfect Verbs</a:t>
            </a:r>
          </a:p>
        </p:txBody>
      </p:sp>
      <p:sp>
        <p:nvSpPr>
          <p:cNvPr id="3" name="Subtitle 2"/>
          <p:cNvSpPr>
            <a:spLocks noGrp="1"/>
          </p:cNvSpPr>
          <p:nvPr>
            <p:ph type="subTitle" idx="1"/>
          </p:nvPr>
        </p:nvSpPr>
        <p:spPr/>
        <p:txBody>
          <a:bodyPr/>
          <a:lstStyle/>
          <a:p>
            <a:r>
              <a:rPr lang="en-GB" dirty="0"/>
              <a:t>Past, present, future…</a:t>
            </a:r>
          </a:p>
        </p:txBody>
      </p:sp>
    </p:spTree>
    <p:custDataLst>
      <p:tags r:id="rId1"/>
    </p:custDataLst>
    <p:extLst>
      <p:ext uri="{BB962C8B-B14F-4D97-AF65-F5344CB8AC3E}">
        <p14:creationId xmlns:p14="http://schemas.microsoft.com/office/powerpoint/2010/main" val="32682353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Verbs… basic parts</a:t>
            </a:r>
          </a:p>
        </p:txBody>
      </p:sp>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9714" y="1340768"/>
            <a:ext cx="9173714" cy="28803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3026660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998220" y="1"/>
            <a:ext cx="7199300"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187936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Present perfect</a:t>
            </a:r>
          </a:p>
        </p:txBody>
      </p:sp>
      <p:sp>
        <p:nvSpPr>
          <p:cNvPr id="3" name="Content Placeholder 2"/>
          <p:cNvSpPr>
            <a:spLocks noGrp="1"/>
          </p:cNvSpPr>
          <p:nvPr>
            <p:ph idx="1"/>
          </p:nvPr>
        </p:nvSpPr>
        <p:spPr>
          <a:xfrm>
            <a:off x="502920" y="530352"/>
            <a:ext cx="8183880" cy="4400922"/>
          </a:xfrm>
        </p:spPr>
        <p:txBody>
          <a:bodyPr>
            <a:normAutofit fontScale="70000" lnSpcReduction="20000"/>
          </a:bodyPr>
          <a:lstStyle/>
          <a:p>
            <a:pPr marL="0" indent="0">
              <a:buNone/>
            </a:pPr>
            <a:r>
              <a:rPr lang="en-GB" dirty="0"/>
              <a:t>We use the Present Perfect to say that an action happened at an </a:t>
            </a:r>
            <a:r>
              <a:rPr lang="en-GB" u="sng" dirty="0"/>
              <a:t>unspecified</a:t>
            </a:r>
            <a:r>
              <a:rPr lang="en-GB" dirty="0"/>
              <a:t> time before now. </a:t>
            </a:r>
          </a:p>
          <a:p>
            <a:pPr marL="0" indent="0">
              <a:buNone/>
            </a:pPr>
            <a:r>
              <a:rPr lang="en-GB" dirty="0"/>
              <a:t>The exact time is not important. </a:t>
            </a:r>
          </a:p>
          <a:p>
            <a:pPr marL="0" indent="0">
              <a:buNone/>
            </a:pPr>
            <a:endParaRPr lang="en-GB" dirty="0"/>
          </a:p>
          <a:p>
            <a:pPr marL="0" indent="0">
              <a:buNone/>
            </a:pPr>
            <a:r>
              <a:rPr lang="en-GB" dirty="0"/>
              <a:t>You </a:t>
            </a:r>
            <a:r>
              <a:rPr lang="en-GB" dirty="0">
                <a:solidFill>
                  <a:srgbClr val="FF0000"/>
                </a:solidFill>
              </a:rPr>
              <a:t>CANNOT</a:t>
            </a:r>
            <a:r>
              <a:rPr lang="en-GB" dirty="0"/>
              <a:t> use the Present Perfect with specific time expressions such as: </a:t>
            </a:r>
            <a:r>
              <a:rPr lang="en-GB" i="1" dirty="0"/>
              <a:t>yesterday, one year ago, last week, when I was a child, when I lived in Japan, at that moment, that day, one day, etc</a:t>
            </a:r>
            <a:r>
              <a:rPr lang="en-GB" dirty="0"/>
              <a:t>. </a:t>
            </a:r>
          </a:p>
          <a:p>
            <a:pPr marL="0" indent="0">
              <a:buNone/>
            </a:pPr>
            <a:endParaRPr lang="en-GB" dirty="0"/>
          </a:p>
          <a:p>
            <a:pPr marL="0" indent="0">
              <a:buNone/>
            </a:pPr>
            <a:r>
              <a:rPr lang="en-GB" dirty="0"/>
              <a:t>We </a:t>
            </a:r>
            <a:r>
              <a:rPr lang="en-GB" dirty="0">
                <a:solidFill>
                  <a:srgbClr val="00B050"/>
                </a:solidFill>
              </a:rPr>
              <a:t>CAN</a:t>
            </a:r>
            <a:r>
              <a:rPr lang="en-GB" dirty="0"/>
              <a:t> use the Present Perfect with unspecific expressions such as: </a:t>
            </a:r>
            <a:r>
              <a:rPr lang="en-GB" i="1" dirty="0"/>
              <a:t>ever, never, once, many times, several times, before, so far, already, yet, etc</a:t>
            </a:r>
            <a:r>
              <a:rPr lang="en-GB" dirty="0"/>
              <a:t>. </a:t>
            </a:r>
          </a:p>
          <a:p>
            <a:pPr marL="0" indent="0">
              <a:buNone/>
            </a:pPr>
            <a:endParaRPr lang="en-GB" dirty="0"/>
          </a:p>
          <a:p>
            <a:r>
              <a:rPr lang="en-GB" dirty="0"/>
              <a:t>Examples:</a:t>
            </a:r>
          </a:p>
          <a:p>
            <a:r>
              <a:rPr lang="en-GB" dirty="0"/>
              <a:t>I </a:t>
            </a:r>
            <a:r>
              <a:rPr lang="en-GB" b="1" dirty="0"/>
              <a:t>have seen</a:t>
            </a:r>
            <a:r>
              <a:rPr lang="en-GB" dirty="0"/>
              <a:t> that movie twenty times.</a:t>
            </a:r>
          </a:p>
          <a:p>
            <a:r>
              <a:rPr lang="en-GB" dirty="0"/>
              <a:t>I think I </a:t>
            </a:r>
            <a:r>
              <a:rPr lang="en-GB" b="1" dirty="0"/>
              <a:t>have met</a:t>
            </a:r>
            <a:r>
              <a:rPr lang="en-GB" dirty="0"/>
              <a:t> him once before.</a:t>
            </a:r>
          </a:p>
          <a:p>
            <a:endParaRPr lang="en-GB"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1820" y="4931274"/>
            <a:ext cx="4442180" cy="14554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122248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p:cTn id="7"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8"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9" dur="500"/>
                                        <p:tgtEl>
                                          <p:spTgt spid="3">
                                            <p:txEl>
                                              <p:pRg st="3" end="3"/>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5" end="5"/>
                                            </p:txEl>
                                          </p:spTgt>
                                        </p:tgtEl>
                                        <p:attrNameLst>
                                          <p:attrName>style.visibility</p:attrName>
                                        </p:attrNameLst>
                                      </p:cBhvr>
                                      <p:to>
                                        <p:strVal val="visible"/>
                                      </p:to>
                                    </p:set>
                                    <p:anim calcmode="lin" valueType="num">
                                      <p:cBhvr>
                                        <p:cTn id="14"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1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7.1</a:t>
            </a:r>
          </a:p>
        </p:txBody>
      </p:sp>
      <p:sp>
        <p:nvSpPr>
          <p:cNvPr id="3" name="Content Placeholder 2"/>
          <p:cNvSpPr>
            <a:spLocks noGrp="1"/>
          </p:cNvSpPr>
          <p:nvPr>
            <p:ph idx="1"/>
          </p:nvPr>
        </p:nvSpPr>
        <p:spPr/>
        <p:txBody>
          <a:bodyPr/>
          <a:lstStyle/>
          <a:p>
            <a:pPr marL="0" indent="0">
              <a:buNone/>
            </a:pPr>
            <a:r>
              <a:rPr lang="en-GB" dirty="0"/>
              <a:t>Tom </a:t>
            </a:r>
            <a:r>
              <a:rPr lang="en-GB" dirty="0">
                <a:solidFill>
                  <a:srgbClr val="FF0000"/>
                </a:solidFill>
              </a:rPr>
              <a:t>has lost </a:t>
            </a:r>
            <a:r>
              <a:rPr lang="en-GB" dirty="0"/>
              <a:t>his key.</a:t>
            </a:r>
          </a:p>
          <a:p>
            <a:pPr marL="0" indent="0">
              <a:buNone/>
            </a:pPr>
            <a:r>
              <a:rPr lang="en-GB" dirty="0"/>
              <a:t>Lisa </a:t>
            </a:r>
            <a:r>
              <a:rPr lang="en-GB" dirty="0">
                <a:solidFill>
                  <a:srgbClr val="FF0000"/>
                </a:solidFill>
              </a:rPr>
              <a:t>has broken</a:t>
            </a:r>
            <a:r>
              <a:rPr lang="en-GB" dirty="0"/>
              <a:t> her leg.</a:t>
            </a:r>
          </a:p>
          <a:p>
            <a:pPr marL="0" indent="0">
              <a:buNone/>
            </a:pPr>
            <a:r>
              <a:rPr lang="en-GB" dirty="0"/>
              <a:t>The bus fare </a:t>
            </a:r>
            <a:r>
              <a:rPr lang="en-GB" dirty="0">
                <a:solidFill>
                  <a:srgbClr val="FF0000"/>
                </a:solidFill>
              </a:rPr>
              <a:t>has gone up</a:t>
            </a:r>
            <a:r>
              <a:rPr lang="en-GB" dirty="0"/>
              <a:t>.</a:t>
            </a:r>
          </a:p>
          <a:p>
            <a:pPr marL="0" indent="0">
              <a:buNone/>
            </a:pPr>
            <a:r>
              <a:rPr lang="en-GB" dirty="0"/>
              <a:t>Her English </a:t>
            </a:r>
            <a:r>
              <a:rPr lang="en-GB" dirty="0">
                <a:solidFill>
                  <a:srgbClr val="FF0000"/>
                </a:solidFill>
              </a:rPr>
              <a:t>has improved</a:t>
            </a:r>
            <a:r>
              <a:rPr lang="en-GB" dirty="0"/>
              <a:t>.</a:t>
            </a:r>
          </a:p>
          <a:p>
            <a:pPr marL="0" indent="0">
              <a:buNone/>
            </a:pPr>
            <a:r>
              <a:rPr lang="en-GB" dirty="0"/>
              <a:t>Dan </a:t>
            </a:r>
            <a:r>
              <a:rPr lang="en-GB" dirty="0">
                <a:solidFill>
                  <a:srgbClr val="FF0000"/>
                </a:solidFill>
              </a:rPr>
              <a:t>has grown </a:t>
            </a:r>
            <a:r>
              <a:rPr lang="en-GB" dirty="0"/>
              <a:t>a beard.</a:t>
            </a:r>
          </a:p>
          <a:p>
            <a:pPr marL="0" indent="0">
              <a:buNone/>
            </a:pPr>
            <a:r>
              <a:rPr lang="en-GB" dirty="0"/>
              <a:t>The letter </a:t>
            </a:r>
            <a:r>
              <a:rPr lang="en-GB" dirty="0">
                <a:solidFill>
                  <a:srgbClr val="FF0000"/>
                </a:solidFill>
              </a:rPr>
              <a:t>has arrived</a:t>
            </a:r>
            <a:r>
              <a:rPr lang="en-GB" dirty="0"/>
              <a:t>.</a:t>
            </a:r>
          </a:p>
          <a:p>
            <a:pPr marL="0" indent="0">
              <a:buNone/>
            </a:pPr>
            <a:r>
              <a:rPr lang="en-GB" dirty="0"/>
              <a:t>The temperature </a:t>
            </a:r>
            <a:r>
              <a:rPr lang="en-GB" dirty="0">
                <a:solidFill>
                  <a:srgbClr val="FF0000"/>
                </a:solidFill>
              </a:rPr>
              <a:t>has fallen</a:t>
            </a:r>
            <a:r>
              <a:rPr lang="en-GB" dirty="0"/>
              <a:t>.</a:t>
            </a:r>
          </a:p>
        </p:txBody>
      </p:sp>
    </p:spTree>
    <p:custDataLst>
      <p:tags r:id="rId1"/>
    </p:custDataLst>
    <p:extLst>
      <p:ext uri="{BB962C8B-B14F-4D97-AF65-F5344CB8AC3E}">
        <p14:creationId xmlns:p14="http://schemas.microsoft.com/office/powerpoint/2010/main" val="2772463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7.2</a:t>
            </a:r>
          </a:p>
        </p:txBody>
      </p:sp>
      <p:sp>
        <p:nvSpPr>
          <p:cNvPr id="3" name="Content Placeholder 2"/>
          <p:cNvSpPr>
            <a:spLocks noGrp="1"/>
          </p:cNvSpPr>
          <p:nvPr>
            <p:ph idx="1"/>
          </p:nvPr>
        </p:nvSpPr>
        <p:spPr/>
        <p:txBody>
          <a:bodyPr/>
          <a:lstStyle/>
          <a:p>
            <a:pPr marL="0" indent="0">
              <a:buNone/>
            </a:pPr>
            <a:r>
              <a:rPr lang="en-GB" dirty="0"/>
              <a:t>He’s gone to Italy.</a:t>
            </a:r>
          </a:p>
          <a:p>
            <a:pPr marL="0" indent="0">
              <a:buNone/>
            </a:pPr>
            <a:r>
              <a:rPr lang="en-GB" dirty="0"/>
              <a:t>I’ve just been to the shops.</a:t>
            </a:r>
          </a:p>
          <a:p>
            <a:pPr marL="0" indent="0">
              <a:buNone/>
            </a:pPr>
            <a:r>
              <a:rPr lang="en-GB" dirty="0"/>
              <a:t>She’s gone to the shop to get a newspaper.</a:t>
            </a:r>
          </a:p>
          <a:p>
            <a:pPr marL="0" indent="0">
              <a:buNone/>
            </a:pPr>
            <a:r>
              <a:rPr lang="en-GB" dirty="0"/>
              <a:t>Tom has gone out.</a:t>
            </a:r>
          </a:p>
          <a:p>
            <a:pPr marL="0" indent="0">
              <a:buNone/>
            </a:pPr>
            <a:r>
              <a:rPr lang="en-GB" dirty="0"/>
              <a:t>No, I’ve already been to the bank.</a:t>
            </a:r>
          </a:p>
          <a:p>
            <a:pPr marL="0" indent="0">
              <a:buNone/>
            </a:pPr>
            <a:endParaRPr lang="en-GB" dirty="0"/>
          </a:p>
        </p:txBody>
      </p:sp>
    </p:spTree>
    <p:custDataLst>
      <p:tags r:id="rId1"/>
    </p:custDataLst>
    <p:extLst>
      <p:ext uri="{BB962C8B-B14F-4D97-AF65-F5344CB8AC3E}">
        <p14:creationId xmlns:p14="http://schemas.microsoft.com/office/powerpoint/2010/main" val="4091054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7.3</a:t>
            </a:r>
          </a:p>
        </p:txBody>
      </p:sp>
      <p:sp>
        <p:nvSpPr>
          <p:cNvPr id="3" name="Content Placeholder 2"/>
          <p:cNvSpPr>
            <a:spLocks noGrp="1"/>
          </p:cNvSpPr>
          <p:nvPr>
            <p:ph idx="1"/>
          </p:nvPr>
        </p:nvSpPr>
        <p:spPr/>
        <p:txBody>
          <a:bodyPr/>
          <a:lstStyle/>
          <a:p>
            <a:pPr marL="0" indent="0">
              <a:buNone/>
            </a:pPr>
            <a:r>
              <a:rPr lang="en-GB" dirty="0"/>
              <a:t>No thanks. I’ve just had lunch.</a:t>
            </a:r>
          </a:p>
          <a:p>
            <a:pPr marL="0" indent="0">
              <a:buNone/>
            </a:pPr>
            <a:r>
              <a:rPr lang="en-GB" dirty="0"/>
              <a:t>Yes, I’ve just seen her.</a:t>
            </a:r>
          </a:p>
          <a:p>
            <a:pPr marL="0" indent="0">
              <a:buNone/>
            </a:pPr>
            <a:r>
              <a:rPr lang="en-GB" dirty="0"/>
              <a:t>He’s already left.</a:t>
            </a:r>
          </a:p>
          <a:p>
            <a:pPr marL="0" indent="0">
              <a:buNone/>
            </a:pPr>
            <a:r>
              <a:rPr lang="en-GB" dirty="0"/>
              <a:t>I haven’t read it yet.</a:t>
            </a:r>
          </a:p>
          <a:p>
            <a:pPr marL="0" indent="0">
              <a:buNone/>
            </a:pPr>
            <a:r>
              <a:rPr lang="en-GB" dirty="0"/>
              <a:t>No, she has already seen the film.</a:t>
            </a:r>
          </a:p>
          <a:p>
            <a:pPr marL="0" indent="0">
              <a:buNone/>
            </a:pPr>
            <a:r>
              <a:rPr lang="en-GB" dirty="0"/>
              <a:t>Yes, they have just arrived.</a:t>
            </a:r>
          </a:p>
          <a:p>
            <a:pPr marL="0" indent="0">
              <a:buNone/>
            </a:pPr>
            <a:r>
              <a:rPr lang="en-GB" dirty="0"/>
              <a:t>We haven’t told him yet.</a:t>
            </a:r>
          </a:p>
          <a:p>
            <a:pPr marL="0" indent="0">
              <a:buNone/>
            </a:pPr>
            <a:endParaRPr lang="en-GB" dirty="0"/>
          </a:p>
        </p:txBody>
      </p:sp>
    </p:spTree>
    <p:custDataLst>
      <p:tags r:id="rId1"/>
    </p:custDataLst>
    <p:extLst>
      <p:ext uri="{BB962C8B-B14F-4D97-AF65-F5344CB8AC3E}">
        <p14:creationId xmlns:p14="http://schemas.microsoft.com/office/powerpoint/2010/main" val="3150533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7.4</a:t>
            </a:r>
          </a:p>
        </p:txBody>
      </p:sp>
      <p:sp>
        <p:nvSpPr>
          <p:cNvPr id="3" name="Content Placeholder 2"/>
          <p:cNvSpPr>
            <a:spLocks noGrp="1"/>
          </p:cNvSpPr>
          <p:nvPr>
            <p:ph idx="1"/>
          </p:nvPr>
        </p:nvSpPr>
        <p:spPr/>
        <p:txBody>
          <a:bodyPr>
            <a:normAutofit fontScale="92500"/>
          </a:bodyPr>
          <a:lstStyle/>
          <a:p>
            <a:pPr marL="0" indent="0">
              <a:buNone/>
            </a:pPr>
            <a:r>
              <a:rPr lang="en-GB" dirty="0"/>
              <a:t>After lunch you got see a friend at her house. She says, ‘Would you like something to eat?’ </a:t>
            </a:r>
          </a:p>
          <a:p>
            <a:pPr marL="0" indent="0">
              <a:buNone/>
            </a:pPr>
            <a:r>
              <a:rPr lang="en-GB" dirty="0"/>
              <a:t>You say: No thank you. I’ve just had lunch.</a:t>
            </a:r>
          </a:p>
          <a:p>
            <a:pPr marL="0" indent="0">
              <a:buNone/>
            </a:pPr>
            <a:r>
              <a:rPr lang="en-GB" dirty="0"/>
              <a:t>I’m afraid he’s just gone out.</a:t>
            </a:r>
          </a:p>
          <a:p>
            <a:pPr marL="0" indent="0">
              <a:buNone/>
            </a:pPr>
            <a:r>
              <a:rPr lang="en-GB" dirty="0"/>
              <a:t>I haven’t finished yet.</a:t>
            </a:r>
          </a:p>
          <a:p>
            <a:pPr marL="0" indent="0">
              <a:buNone/>
            </a:pPr>
            <a:r>
              <a:rPr lang="en-GB" dirty="0"/>
              <a:t>I’ve already done it.</a:t>
            </a:r>
          </a:p>
          <a:p>
            <a:pPr marL="0" indent="0">
              <a:buNone/>
            </a:pPr>
            <a:r>
              <a:rPr lang="en-GB" dirty="0"/>
              <a:t>Have you found a place yet?</a:t>
            </a:r>
          </a:p>
          <a:p>
            <a:pPr marL="0" indent="0">
              <a:buNone/>
            </a:pPr>
            <a:r>
              <a:rPr lang="en-GB" dirty="0"/>
              <a:t>I haven’t decided yet.</a:t>
            </a:r>
          </a:p>
          <a:p>
            <a:pPr marL="0" indent="0">
              <a:buNone/>
            </a:pPr>
            <a:r>
              <a:rPr lang="en-GB" dirty="0"/>
              <a:t>No, </a:t>
            </a:r>
            <a:r>
              <a:rPr lang="en-GB"/>
              <a:t>she’s just come </a:t>
            </a:r>
            <a:r>
              <a:rPr lang="en-GB" dirty="0"/>
              <a:t>back.</a:t>
            </a:r>
          </a:p>
        </p:txBody>
      </p:sp>
    </p:spTree>
    <p:custDataLst>
      <p:tags r:id="rId1"/>
    </p:custDataLst>
    <p:extLst>
      <p:ext uri="{BB962C8B-B14F-4D97-AF65-F5344CB8AC3E}">
        <p14:creationId xmlns:p14="http://schemas.microsoft.com/office/powerpoint/2010/main" val="2693078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346920"/>
          </a:xfrm>
        </p:spPr>
        <p:txBody>
          <a:bodyPr>
            <a:normAutofit fontScale="47500" lnSpcReduction="20000"/>
          </a:bodyPr>
          <a:lstStyle/>
          <a:p>
            <a:pPr marL="0" indent="0">
              <a:buNone/>
            </a:pPr>
            <a:r>
              <a:rPr lang="en-GB" sz="3300" b="1" dirty="0"/>
              <a:t>Experience</a:t>
            </a:r>
          </a:p>
          <a:p>
            <a:endParaRPr lang="en-GB" sz="3300" dirty="0"/>
          </a:p>
          <a:p>
            <a:pPr marL="0" indent="0">
              <a:buNone/>
            </a:pPr>
            <a:r>
              <a:rPr lang="en-GB" sz="3300" dirty="0"/>
              <a:t>You can use the Present Perfect to describe your experience. </a:t>
            </a:r>
          </a:p>
          <a:p>
            <a:pPr marL="0" indent="0">
              <a:buNone/>
            </a:pPr>
            <a:r>
              <a:rPr lang="en-GB" sz="3300" dirty="0"/>
              <a:t>It is like saying, "I have the experience of..." </a:t>
            </a:r>
          </a:p>
          <a:p>
            <a:pPr marL="0" indent="0">
              <a:buNone/>
            </a:pPr>
            <a:r>
              <a:rPr lang="en-GB" sz="3300" dirty="0"/>
              <a:t>You can also use this tense to say that you have never had a certain experience. </a:t>
            </a:r>
          </a:p>
          <a:p>
            <a:pPr marL="0" indent="0">
              <a:buNone/>
            </a:pPr>
            <a:endParaRPr lang="en-GB" sz="3300" dirty="0">
              <a:solidFill>
                <a:srgbClr val="FF0000"/>
              </a:solidFill>
            </a:endParaRPr>
          </a:p>
          <a:p>
            <a:pPr marL="0" indent="0">
              <a:buNone/>
            </a:pPr>
            <a:r>
              <a:rPr lang="en-GB" sz="3300" dirty="0">
                <a:solidFill>
                  <a:srgbClr val="FF0000"/>
                </a:solidFill>
              </a:rPr>
              <a:t>The Present Perfect is NOT used to describe a specific event.</a:t>
            </a:r>
          </a:p>
          <a:p>
            <a:pPr marL="0" indent="0">
              <a:buNone/>
            </a:pPr>
            <a:endParaRPr lang="en-GB" sz="3300" dirty="0"/>
          </a:p>
          <a:p>
            <a:pPr marL="0" indent="0">
              <a:buNone/>
            </a:pPr>
            <a:r>
              <a:rPr lang="en-GB" sz="3300" dirty="0"/>
              <a:t>Examples:</a:t>
            </a:r>
          </a:p>
          <a:p>
            <a:r>
              <a:rPr lang="en-GB" sz="3300" dirty="0"/>
              <a:t>I </a:t>
            </a:r>
            <a:r>
              <a:rPr lang="en-GB" sz="3300" b="1" dirty="0"/>
              <a:t>have been</a:t>
            </a:r>
            <a:r>
              <a:rPr lang="en-GB" sz="3300" dirty="0"/>
              <a:t> to France.</a:t>
            </a:r>
          </a:p>
          <a:p>
            <a:br>
              <a:rPr lang="en-GB" sz="3300" dirty="0"/>
            </a:br>
            <a:r>
              <a:rPr lang="en-GB" sz="3300" i="1" dirty="0"/>
              <a:t>This sentence means that you have had the experience of being in France. Maybe you have been there once, or several times.</a:t>
            </a:r>
          </a:p>
          <a:p>
            <a:endParaRPr lang="en-GB" sz="3300" dirty="0"/>
          </a:p>
          <a:p>
            <a:r>
              <a:rPr lang="en-GB" sz="3300" dirty="0"/>
              <a:t>I </a:t>
            </a:r>
            <a:r>
              <a:rPr lang="en-GB" sz="3300" b="1" dirty="0"/>
              <a:t>have been</a:t>
            </a:r>
            <a:r>
              <a:rPr lang="en-GB" sz="3300" dirty="0"/>
              <a:t> to France three times.</a:t>
            </a:r>
          </a:p>
          <a:p>
            <a:br>
              <a:rPr lang="en-GB" sz="3300" dirty="0"/>
            </a:br>
            <a:r>
              <a:rPr lang="en-GB" sz="3300" i="1" dirty="0"/>
              <a:t>You can add the number of times at the end of the sentence.</a:t>
            </a:r>
          </a:p>
          <a:p>
            <a:endParaRPr lang="en-GB" sz="3300" dirty="0"/>
          </a:p>
          <a:p>
            <a:r>
              <a:rPr lang="en-GB" sz="3300" dirty="0"/>
              <a:t>I </a:t>
            </a:r>
            <a:r>
              <a:rPr lang="en-GB" sz="3300" b="1" dirty="0"/>
              <a:t>have</a:t>
            </a:r>
            <a:r>
              <a:rPr lang="en-GB" sz="3300" dirty="0"/>
              <a:t> never </a:t>
            </a:r>
            <a:r>
              <a:rPr lang="en-GB" sz="3300" b="1" dirty="0"/>
              <a:t>been</a:t>
            </a:r>
            <a:r>
              <a:rPr lang="en-GB" sz="3300" dirty="0"/>
              <a:t> to France.</a:t>
            </a:r>
          </a:p>
          <a:p>
            <a:br>
              <a:rPr lang="en-GB" sz="3300" dirty="0"/>
            </a:br>
            <a:r>
              <a:rPr lang="en-GB" sz="3300" i="1" dirty="0"/>
              <a:t>This sentence means that you have not had the experience of going to France.</a:t>
            </a:r>
            <a:endParaRPr lang="en-GB" sz="3300" dirty="0"/>
          </a:p>
          <a:p>
            <a:endParaRPr lang="en-GB" dirty="0"/>
          </a:p>
        </p:txBody>
      </p:sp>
    </p:spTree>
    <p:custDataLst>
      <p:tags r:id="rId1"/>
    </p:custDataLst>
    <p:extLst>
      <p:ext uri="{BB962C8B-B14F-4D97-AF65-F5344CB8AC3E}">
        <p14:creationId xmlns:p14="http://schemas.microsoft.com/office/powerpoint/2010/main" val="3606818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1000"/>
                                        <p:tgtEl>
                                          <p:spTgt spid="3">
                                            <p:txEl>
                                              <p:pRg st="4" end="4"/>
                                            </p:txEl>
                                          </p:spTgt>
                                        </p:tgtEl>
                                      </p:cBhvr>
                                    </p:animEffect>
                                    <p:anim calcmode="lin" valueType="num">
                                      <p:cBhvr>
                                        <p:cTn id="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nodeType="clickEffect">
                                  <p:stCondLst>
                                    <p:cond delay="0"/>
                                  </p:stCondLst>
                                  <p:childTnLst>
                                    <p:set>
                                      <p:cBhvr>
                                        <p:cTn id="13" dur="1" fill="hold">
                                          <p:stCondLst>
                                            <p:cond delay="0"/>
                                          </p:stCondLst>
                                        </p:cTn>
                                        <p:tgtEl>
                                          <p:spTgt spid="3">
                                            <p:txEl>
                                              <p:pRg st="6" end="6"/>
                                            </p:txEl>
                                          </p:spTgt>
                                        </p:tgtEl>
                                        <p:attrNameLst>
                                          <p:attrName>style.visibility</p:attrName>
                                        </p:attrNameLst>
                                      </p:cBhvr>
                                      <p:to>
                                        <p:strVal val="visible"/>
                                      </p:to>
                                    </p:set>
                                    <p:animEffect transition="in" filter="wipe(down)">
                                      <p:cBhvr>
                                        <p:cTn id="14" dur="580">
                                          <p:stCondLst>
                                            <p:cond delay="0"/>
                                          </p:stCondLst>
                                        </p:cTn>
                                        <p:tgtEl>
                                          <p:spTgt spid="3">
                                            <p:txEl>
                                              <p:pRg st="6" end="6"/>
                                            </p:txEl>
                                          </p:spTgt>
                                        </p:tgtEl>
                                      </p:cBhvr>
                                    </p:animEffect>
                                    <p:anim calcmode="lin" valueType="num">
                                      <p:cBhvr>
                                        <p:cTn id="15"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20" dur="26">
                                          <p:stCondLst>
                                            <p:cond delay="650"/>
                                          </p:stCondLst>
                                        </p:cTn>
                                        <p:tgtEl>
                                          <p:spTgt spid="3">
                                            <p:txEl>
                                              <p:pRg st="6" end="6"/>
                                            </p:txEl>
                                          </p:spTgt>
                                        </p:tgtEl>
                                      </p:cBhvr>
                                      <p:to x="100000" y="60000"/>
                                    </p:animScale>
                                    <p:animScale>
                                      <p:cBhvr>
                                        <p:cTn id="21" dur="166" decel="50000">
                                          <p:stCondLst>
                                            <p:cond delay="676"/>
                                          </p:stCondLst>
                                        </p:cTn>
                                        <p:tgtEl>
                                          <p:spTgt spid="3">
                                            <p:txEl>
                                              <p:pRg st="6" end="6"/>
                                            </p:txEl>
                                          </p:spTgt>
                                        </p:tgtEl>
                                      </p:cBhvr>
                                      <p:to x="100000" y="100000"/>
                                    </p:animScale>
                                    <p:animScale>
                                      <p:cBhvr>
                                        <p:cTn id="22" dur="26">
                                          <p:stCondLst>
                                            <p:cond delay="1312"/>
                                          </p:stCondLst>
                                        </p:cTn>
                                        <p:tgtEl>
                                          <p:spTgt spid="3">
                                            <p:txEl>
                                              <p:pRg st="6" end="6"/>
                                            </p:txEl>
                                          </p:spTgt>
                                        </p:tgtEl>
                                      </p:cBhvr>
                                      <p:to x="100000" y="80000"/>
                                    </p:animScale>
                                    <p:animScale>
                                      <p:cBhvr>
                                        <p:cTn id="23" dur="166" decel="50000">
                                          <p:stCondLst>
                                            <p:cond delay="1338"/>
                                          </p:stCondLst>
                                        </p:cTn>
                                        <p:tgtEl>
                                          <p:spTgt spid="3">
                                            <p:txEl>
                                              <p:pRg st="6" end="6"/>
                                            </p:txEl>
                                          </p:spTgt>
                                        </p:tgtEl>
                                      </p:cBhvr>
                                      <p:to x="100000" y="100000"/>
                                    </p:animScale>
                                    <p:animScale>
                                      <p:cBhvr>
                                        <p:cTn id="24" dur="26">
                                          <p:stCondLst>
                                            <p:cond delay="1642"/>
                                          </p:stCondLst>
                                        </p:cTn>
                                        <p:tgtEl>
                                          <p:spTgt spid="3">
                                            <p:txEl>
                                              <p:pRg st="6" end="6"/>
                                            </p:txEl>
                                          </p:spTgt>
                                        </p:tgtEl>
                                      </p:cBhvr>
                                      <p:to x="100000" y="90000"/>
                                    </p:animScale>
                                    <p:animScale>
                                      <p:cBhvr>
                                        <p:cTn id="25" dur="166" decel="50000">
                                          <p:stCondLst>
                                            <p:cond delay="1668"/>
                                          </p:stCondLst>
                                        </p:cTn>
                                        <p:tgtEl>
                                          <p:spTgt spid="3">
                                            <p:txEl>
                                              <p:pRg st="6" end="6"/>
                                            </p:txEl>
                                          </p:spTgt>
                                        </p:tgtEl>
                                      </p:cBhvr>
                                      <p:to x="100000" y="100000"/>
                                    </p:animScale>
                                    <p:animScale>
                                      <p:cBhvr>
                                        <p:cTn id="26" dur="26">
                                          <p:stCondLst>
                                            <p:cond delay="1808"/>
                                          </p:stCondLst>
                                        </p:cTn>
                                        <p:tgtEl>
                                          <p:spTgt spid="3">
                                            <p:txEl>
                                              <p:pRg st="6" end="6"/>
                                            </p:txEl>
                                          </p:spTgt>
                                        </p:tgtEl>
                                      </p:cBhvr>
                                      <p:to x="100000" y="95000"/>
                                    </p:animScale>
                                    <p:animScale>
                                      <p:cBhvr>
                                        <p:cTn id="27" dur="166" decel="50000">
                                          <p:stCondLst>
                                            <p:cond delay="1834"/>
                                          </p:stCondLst>
                                        </p:cTn>
                                        <p:tgtEl>
                                          <p:spTgt spid="3">
                                            <p:txEl>
                                              <p:pRg st="6" end="6"/>
                                            </p:txEl>
                                          </p:spTgt>
                                        </p:tgtEl>
                                      </p:cBhvr>
                                      <p:to x="100000" y="100000"/>
                                    </p:animScale>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1000"/>
                                        <p:tgtEl>
                                          <p:spTgt spid="3">
                                            <p:txEl>
                                              <p:pRg st="8" end="8"/>
                                            </p:txEl>
                                          </p:spTgt>
                                        </p:tgtEl>
                                      </p:cBhvr>
                                    </p:animEffect>
                                    <p:anim calcmode="lin" valueType="num">
                                      <p:cBhvr>
                                        <p:cTn id="3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8" end="8"/>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1000"/>
                                        <p:tgtEl>
                                          <p:spTgt spid="3">
                                            <p:txEl>
                                              <p:pRg st="9" end="9"/>
                                            </p:txEl>
                                          </p:spTgt>
                                        </p:tgtEl>
                                      </p:cBhvr>
                                    </p:animEffect>
                                    <p:anim calcmode="lin" valueType="num">
                                      <p:cBhvr>
                                        <p:cTn id="38"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9" end="9"/>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1000"/>
                                        <p:tgtEl>
                                          <p:spTgt spid="3">
                                            <p:txEl>
                                              <p:pRg st="10" end="10"/>
                                            </p:txEl>
                                          </p:spTgt>
                                        </p:tgtEl>
                                      </p:cBhvr>
                                    </p:animEffect>
                                    <p:anim calcmode="lin" valueType="num">
                                      <p:cBhvr>
                                        <p:cTn id="43"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12" end="12"/>
                                            </p:txEl>
                                          </p:spTgt>
                                        </p:tgtEl>
                                        <p:attrNameLst>
                                          <p:attrName>style.visibility</p:attrName>
                                        </p:attrNameLst>
                                      </p:cBhvr>
                                      <p:to>
                                        <p:strVal val="visible"/>
                                      </p:to>
                                    </p:set>
                                    <p:animEffect transition="in" filter="fade">
                                      <p:cBhvr>
                                        <p:cTn id="49" dur="1000"/>
                                        <p:tgtEl>
                                          <p:spTgt spid="3">
                                            <p:txEl>
                                              <p:pRg st="12" end="12"/>
                                            </p:txEl>
                                          </p:spTgt>
                                        </p:tgtEl>
                                      </p:cBhvr>
                                    </p:animEffect>
                                    <p:anim calcmode="lin" valueType="num">
                                      <p:cBhvr>
                                        <p:cTn id="50"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12" end="12"/>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3">
                                            <p:txEl>
                                              <p:pRg st="13" end="13"/>
                                            </p:txEl>
                                          </p:spTgt>
                                        </p:tgtEl>
                                        <p:attrNameLst>
                                          <p:attrName>style.visibility</p:attrName>
                                        </p:attrNameLst>
                                      </p:cBhvr>
                                      <p:to>
                                        <p:strVal val="visible"/>
                                      </p:to>
                                    </p:set>
                                    <p:animEffect transition="in" filter="fade">
                                      <p:cBhvr>
                                        <p:cTn id="54" dur="1000"/>
                                        <p:tgtEl>
                                          <p:spTgt spid="3">
                                            <p:txEl>
                                              <p:pRg st="13" end="13"/>
                                            </p:txEl>
                                          </p:spTgt>
                                        </p:tgtEl>
                                      </p:cBhvr>
                                    </p:animEffect>
                                    <p:anim calcmode="lin" valueType="num">
                                      <p:cBhvr>
                                        <p:cTn id="55"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3">
                                            <p:txEl>
                                              <p:pRg st="15" end="15"/>
                                            </p:txEl>
                                          </p:spTgt>
                                        </p:tgtEl>
                                        <p:attrNameLst>
                                          <p:attrName>style.visibility</p:attrName>
                                        </p:attrNameLst>
                                      </p:cBhvr>
                                      <p:to>
                                        <p:strVal val="visible"/>
                                      </p:to>
                                    </p:set>
                                    <p:animEffect transition="in" filter="fade">
                                      <p:cBhvr>
                                        <p:cTn id="61" dur="1000"/>
                                        <p:tgtEl>
                                          <p:spTgt spid="3">
                                            <p:txEl>
                                              <p:pRg st="15" end="15"/>
                                            </p:txEl>
                                          </p:spTgt>
                                        </p:tgtEl>
                                      </p:cBhvr>
                                    </p:animEffect>
                                    <p:anim calcmode="lin" valueType="num">
                                      <p:cBhvr>
                                        <p:cTn id="62" dur="1000" fill="hold"/>
                                        <p:tgtEl>
                                          <p:spTgt spid="3">
                                            <p:txEl>
                                              <p:pRg st="15" end="15"/>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15" end="15"/>
                                            </p:txEl>
                                          </p:spTgt>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3">
                                            <p:txEl>
                                              <p:pRg st="16" end="16"/>
                                            </p:txEl>
                                          </p:spTgt>
                                        </p:tgtEl>
                                        <p:attrNameLst>
                                          <p:attrName>style.visibility</p:attrName>
                                        </p:attrNameLst>
                                      </p:cBhvr>
                                      <p:to>
                                        <p:strVal val="visible"/>
                                      </p:to>
                                    </p:set>
                                    <p:animEffect transition="in" filter="fade">
                                      <p:cBhvr>
                                        <p:cTn id="66" dur="1000"/>
                                        <p:tgtEl>
                                          <p:spTgt spid="3">
                                            <p:txEl>
                                              <p:pRg st="16" end="16"/>
                                            </p:txEl>
                                          </p:spTgt>
                                        </p:tgtEl>
                                      </p:cBhvr>
                                    </p:animEffect>
                                    <p:anim calcmode="lin" valueType="num">
                                      <p:cBhvr>
                                        <p:cTn id="67" dur="1000" fill="hold"/>
                                        <p:tgtEl>
                                          <p:spTgt spid="3">
                                            <p:txEl>
                                              <p:pRg st="16" end="16"/>
                                            </p:txEl>
                                          </p:spTgt>
                                        </p:tgtEl>
                                        <p:attrNameLst>
                                          <p:attrName>ppt_x</p:attrName>
                                        </p:attrNameLst>
                                      </p:cBhvr>
                                      <p:tavLst>
                                        <p:tav tm="0">
                                          <p:val>
                                            <p:strVal val="#ppt_x"/>
                                          </p:val>
                                        </p:tav>
                                        <p:tav tm="100000">
                                          <p:val>
                                            <p:strVal val="#ppt_x"/>
                                          </p:val>
                                        </p:tav>
                                      </p:tavLst>
                                    </p:anim>
                                    <p:anim calcmode="lin" valueType="num">
                                      <p:cBhvr>
                                        <p:cTn id="68" dur="1000" fill="hold"/>
                                        <p:tgtEl>
                                          <p:spTgt spid="3">
                                            <p:txEl>
                                              <p:pRg st="16" end="1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Exercise</a:t>
            </a:r>
          </a:p>
        </p:txBody>
      </p:sp>
      <p:sp>
        <p:nvSpPr>
          <p:cNvPr id="3" name="Content Placeholder 2"/>
          <p:cNvSpPr>
            <a:spLocks noGrp="1"/>
          </p:cNvSpPr>
          <p:nvPr>
            <p:ph idx="1"/>
          </p:nvPr>
        </p:nvSpPr>
        <p:spPr>
          <a:xfrm>
            <a:off x="502920" y="530352"/>
            <a:ext cx="8183880" cy="4698848"/>
          </a:xfrm>
        </p:spPr>
        <p:txBody>
          <a:bodyPr>
            <a:normAutofit lnSpcReduction="10000"/>
          </a:bodyPr>
          <a:lstStyle/>
          <a:p>
            <a:pPr marL="0" indent="0">
              <a:buNone/>
            </a:pPr>
            <a:r>
              <a:rPr lang="en-GB" b="1" dirty="0"/>
              <a:t>Write 3 true statements about yourself.</a:t>
            </a:r>
          </a:p>
          <a:p>
            <a:pPr marL="0" indent="0">
              <a:buNone/>
            </a:pPr>
            <a:endParaRPr lang="en-GB" dirty="0"/>
          </a:p>
          <a:p>
            <a:pPr marL="0" indent="0">
              <a:buNone/>
            </a:pPr>
            <a:r>
              <a:rPr lang="en-GB" dirty="0"/>
              <a:t>What have you done in your life?</a:t>
            </a:r>
          </a:p>
          <a:p>
            <a:pPr marL="0" indent="0">
              <a:buNone/>
            </a:pPr>
            <a:endParaRPr lang="en-GB" dirty="0"/>
          </a:p>
          <a:p>
            <a:pPr marL="0" indent="0">
              <a:buNone/>
            </a:pPr>
            <a:endParaRPr lang="en-GB" dirty="0"/>
          </a:p>
          <a:p>
            <a:pPr marL="0" indent="0">
              <a:buNone/>
            </a:pPr>
            <a:r>
              <a:rPr lang="en-GB" dirty="0"/>
              <a:t>What have you done already (i.e. before coming to class)?</a:t>
            </a:r>
          </a:p>
          <a:p>
            <a:pPr marL="0" indent="0">
              <a:buNone/>
            </a:pPr>
            <a:endParaRPr lang="en-GB" dirty="0"/>
          </a:p>
          <a:p>
            <a:pPr marL="0" indent="0">
              <a:buNone/>
            </a:pPr>
            <a:endParaRPr lang="en-GB" dirty="0"/>
          </a:p>
          <a:p>
            <a:pPr marL="0" indent="0">
              <a:buNone/>
            </a:pPr>
            <a:r>
              <a:rPr lang="en-GB" dirty="0"/>
              <a:t>What have you </a:t>
            </a:r>
            <a:r>
              <a:rPr lang="en-GB" i="1" dirty="0"/>
              <a:t>never</a:t>
            </a:r>
            <a:r>
              <a:rPr lang="en-GB" dirty="0"/>
              <a:t> done?</a:t>
            </a:r>
          </a:p>
        </p:txBody>
      </p:sp>
    </p:spTree>
    <p:custDataLst>
      <p:tags r:id="rId1"/>
    </p:custDataLst>
    <p:extLst>
      <p:ext uri="{BB962C8B-B14F-4D97-AF65-F5344CB8AC3E}">
        <p14:creationId xmlns:p14="http://schemas.microsoft.com/office/powerpoint/2010/main" val="15192353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8" y="260648"/>
            <a:ext cx="8183880" cy="6139008"/>
          </a:xfrm>
        </p:spPr>
        <p:txBody>
          <a:bodyPr>
            <a:noAutofit/>
          </a:bodyPr>
          <a:lstStyle/>
          <a:p>
            <a:pPr marL="0" indent="0">
              <a:buNone/>
            </a:pPr>
            <a:r>
              <a:rPr lang="en-GB" sz="4400" b="1" dirty="0"/>
              <a:t>Write 3 things about yourself – use present perfect.</a:t>
            </a:r>
          </a:p>
          <a:p>
            <a:pPr marL="0" indent="0">
              <a:buNone/>
            </a:pPr>
            <a:endParaRPr lang="en-GB" sz="4800" b="1" dirty="0"/>
          </a:p>
          <a:p>
            <a:pPr marL="0" indent="0">
              <a:buNone/>
            </a:pPr>
            <a:r>
              <a:rPr lang="en-GB" sz="4800" b="1" dirty="0"/>
              <a:t>I have…</a:t>
            </a:r>
          </a:p>
          <a:p>
            <a:pPr marL="0" indent="0">
              <a:buNone/>
            </a:pPr>
            <a:r>
              <a:rPr lang="en-GB" sz="4800" b="1" dirty="0"/>
              <a:t>I have never…</a:t>
            </a:r>
            <a:endParaRPr lang="en-GB" sz="4800" dirty="0"/>
          </a:p>
          <a:p>
            <a:pPr marL="0" indent="0">
              <a:buNone/>
            </a:pPr>
            <a:endParaRPr lang="en-GB" sz="4800" b="1" dirty="0"/>
          </a:p>
          <a:p>
            <a:pPr marL="0" indent="0">
              <a:buNone/>
            </a:pPr>
            <a:r>
              <a:rPr lang="en-GB" sz="4400" b="1" dirty="0"/>
              <a:t>Make 2 true, and 1 false.</a:t>
            </a:r>
          </a:p>
        </p:txBody>
      </p:sp>
    </p:spTree>
    <p:custDataLst>
      <p:tags r:id="rId1"/>
    </p:custDataLst>
    <p:extLst>
      <p:ext uri="{BB962C8B-B14F-4D97-AF65-F5344CB8AC3E}">
        <p14:creationId xmlns:p14="http://schemas.microsoft.com/office/powerpoint/2010/main" val="19422209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346920"/>
          </a:xfrm>
        </p:spPr>
        <p:txBody>
          <a:bodyPr>
            <a:normAutofit fontScale="70000" lnSpcReduction="20000"/>
          </a:bodyPr>
          <a:lstStyle/>
          <a:p>
            <a:pPr marL="0" indent="0">
              <a:buNone/>
            </a:pPr>
            <a:r>
              <a:rPr lang="en-GB" b="1" dirty="0"/>
              <a:t>Change Over Time</a:t>
            </a:r>
          </a:p>
          <a:p>
            <a:pPr marL="0" indent="0">
              <a:buNone/>
            </a:pPr>
            <a:endParaRPr lang="en-GB" dirty="0"/>
          </a:p>
          <a:p>
            <a:pPr marL="0" indent="0">
              <a:buNone/>
            </a:pPr>
            <a:r>
              <a:rPr lang="en-GB" dirty="0"/>
              <a:t>We often use the Present Perfect to talk about change that has happened over a period of time.</a:t>
            </a:r>
          </a:p>
          <a:p>
            <a:pPr marL="0" indent="0">
              <a:buNone/>
            </a:pPr>
            <a:endParaRPr lang="en-GB" dirty="0"/>
          </a:p>
          <a:p>
            <a:pPr marL="0" indent="0">
              <a:buNone/>
            </a:pPr>
            <a:r>
              <a:rPr lang="en-GB" dirty="0"/>
              <a:t>Examples:</a:t>
            </a:r>
          </a:p>
          <a:p>
            <a:pPr marL="0" indent="0">
              <a:buNone/>
            </a:pPr>
            <a:endParaRPr lang="en-GB" dirty="0"/>
          </a:p>
          <a:p>
            <a:pPr marL="0" indent="0">
              <a:buNone/>
            </a:pPr>
            <a:r>
              <a:rPr lang="en-GB" dirty="0"/>
              <a:t>You </a:t>
            </a:r>
            <a:r>
              <a:rPr lang="en-GB" b="1" dirty="0"/>
              <a:t>have grown</a:t>
            </a:r>
            <a:r>
              <a:rPr lang="en-GB" dirty="0"/>
              <a:t> since the last time I saw you.</a:t>
            </a:r>
          </a:p>
          <a:p>
            <a:pPr marL="0" indent="0">
              <a:buNone/>
            </a:pPr>
            <a:endParaRPr lang="en-GB" dirty="0"/>
          </a:p>
          <a:p>
            <a:pPr marL="0" indent="0">
              <a:buNone/>
            </a:pPr>
            <a:r>
              <a:rPr lang="en-GB" dirty="0"/>
              <a:t>The government </a:t>
            </a:r>
            <a:r>
              <a:rPr lang="en-GB" b="1" dirty="0"/>
              <a:t>has become</a:t>
            </a:r>
            <a:r>
              <a:rPr lang="en-GB" dirty="0"/>
              <a:t> more interested in arts education.</a:t>
            </a:r>
          </a:p>
          <a:p>
            <a:pPr marL="0" indent="0">
              <a:buNone/>
            </a:pPr>
            <a:endParaRPr lang="en-GB" dirty="0"/>
          </a:p>
          <a:p>
            <a:pPr marL="0" indent="0">
              <a:buNone/>
            </a:pPr>
            <a:r>
              <a:rPr lang="en-GB" dirty="0"/>
              <a:t>Japanese </a:t>
            </a:r>
            <a:r>
              <a:rPr lang="en-GB" b="1" dirty="0"/>
              <a:t>has become</a:t>
            </a:r>
            <a:r>
              <a:rPr lang="en-GB" dirty="0"/>
              <a:t> one of the most popular courses at the university since the Asian studies program was established.</a:t>
            </a:r>
          </a:p>
          <a:p>
            <a:pPr marL="0" indent="0">
              <a:buNone/>
            </a:pPr>
            <a:endParaRPr lang="en-GB" dirty="0"/>
          </a:p>
          <a:p>
            <a:pPr marL="0" indent="0">
              <a:buNone/>
            </a:pPr>
            <a:r>
              <a:rPr lang="en-GB" dirty="0"/>
              <a:t>My English </a:t>
            </a:r>
            <a:r>
              <a:rPr lang="en-GB" b="1" dirty="0"/>
              <a:t>has</a:t>
            </a:r>
            <a:r>
              <a:rPr lang="en-GB" dirty="0"/>
              <a:t> really </a:t>
            </a:r>
            <a:r>
              <a:rPr lang="en-GB" b="1" dirty="0"/>
              <a:t>improved</a:t>
            </a:r>
            <a:r>
              <a:rPr lang="en-GB" dirty="0"/>
              <a:t> since I moved to Australia.</a:t>
            </a:r>
          </a:p>
          <a:p>
            <a:pPr marL="0" indent="0">
              <a:buNone/>
            </a:pPr>
            <a:endParaRPr lang="en-GB" dirty="0"/>
          </a:p>
        </p:txBody>
      </p:sp>
    </p:spTree>
    <p:custDataLst>
      <p:tags r:id="rId1"/>
    </p:custDataLst>
    <p:extLst>
      <p:ext uri="{BB962C8B-B14F-4D97-AF65-F5344CB8AC3E}">
        <p14:creationId xmlns:p14="http://schemas.microsoft.com/office/powerpoint/2010/main" val="2394273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418928"/>
          </a:xfrm>
        </p:spPr>
        <p:txBody>
          <a:bodyPr>
            <a:normAutofit fontScale="85000" lnSpcReduction="20000"/>
          </a:bodyPr>
          <a:lstStyle/>
          <a:p>
            <a:pPr marL="0" indent="0">
              <a:buNone/>
            </a:pPr>
            <a:r>
              <a:rPr lang="en-GB" b="1" dirty="0"/>
              <a:t>Accomplishments</a:t>
            </a:r>
          </a:p>
          <a:p>
            <a:pPr marL="0" indent="0">
              <a:buNone/>
            </a:pPr>
            <a:endParaRPr lang="en-GB" dirty="0"/>
          </a:p>
          <a:p>
            <a:pPr marL="0" indent="0">
              <a:buNone/>
            </a:pPr>
            <a:r>
              <a:rPr lang="en-GB" dirty="0"/>
              <a:t>We often use the Present Perfect to list the accomplishments of individuals and humanity. You cannot mention a specific time.</a:t>
            </a:r>
          </a:p>
          <a:p>
            <a:pPr marL="0" indent="0">
              <a:buNone/>
            </a:pPr>
            <a:endParaRPr lang="en-GB" dirty="0"/>
          </a:p>
          <a:p>
            <a:pPr marL="0" indent="0">
              <a:buNone/>
            </a:pPr>
            <a:r>
              <a:rPr lang="en-GB" dirty="0"/>
              <a:t>Examples:</a:t>
            </a:r>
          </a:p>
          <a:p>
            <a:pPr marL="0" indent="0">
              <a:buNone/>
            </a:pPr>
            <a:endParaRPr lang="en-GB" dirty="0"/>
          </a:p>
          <a:p>
            <a:pPr marL="0" indent="0">
              <a:buNone/>
            </a:pPr>
            <a:r>
              <a:rPr lang="en-GB" dirty="0"/>
              <a:t>Man </a:t>
            </a:r>
            <a:r>
              <a:rPr lang="en-GB" b="1" dirty="0"/>
              <a:t>has walked</a:t>
            </a:r>
            <a:r>
              <a:rPr lang="en-GB" dirty="0"/>
              <a:t> on the Moon.</a:t>
            </a:r>
          </a:p>
          <a:p>
            <a:pPr marL="0" indent="0">
              <a:buNone/>
            </a:pPr>
            <a:endParaRPr lang="en-GB" dirty="0"/>
          </a:p>
          <a:p>
            <a:pPr marL="0" indent="0">
              <a:buNone/>
            </a:pPr>
            <a:r>
              <a:rPr lang="en-GB" dirty="0"/>
              <a:t>Our son </a:t>
            </a:r>
            <a:r>
              <a:rPr lang="en-GB" b="1" dirty="0"/>
              <a:t>has learned</a:t>
            </a:r>
            <a:r>
              <a:rPr lang="en-GB" dirty="0"/>
              <a:t> how to read.</a:t>
            </a:r>
          </a:p>
          <a:p>
            <a:pPr marL="0" indent="0">
              <a:buNone/>
            </a:pPr>
            <a:endParaRPr lang="en-GB" dirty="0"/>
          </a:p>
          <a:p>
            <a:pPr marL="0" indent="0">
              <a:buNone/>
            </a:pPr>
            <a:r>
              <a:rPr lang="en-GB" dirty="0"/>
              <a:t>Doctors </a:t>
            </a:r>
            <a:r>
              <a:rPr lang="en-GB" b="1" dirty="0"/>
              <a:t>have cured</a:t>
            </a:r>
            <a:r>
              <a:rPr lang="en-GB" dirty="0"/>
              <a:t> many deadly diseases.</a:t>
            </a:r>
          </a:p>
          <a:p>
            <a:pPr marL="0" indent="0">
              <a:buNone/>
            </a:pPr>
            <a:endParaRPr lang="en-GB" dirty="0"/>
          </a:p>
          <a:p>
            <a:pPr marL="0" indent="0">
              <a:buNone/>
            </a:pPr>
            <a:r>
              <a:rPr lang="en-GB" dirty="0"/>
              <a:t>Scientists </a:t>
            </a:r>
            <a:r>
              <a:rPr lang="en-GB" b="1" dirty="0"/>
              <a:t>have split</a:t>
            </a:r>
            <a:r>
              <a:rPr lang="en-GB" dirty="0"/>
              <a:t> the atom.</a:t>
            </a:r>
          </a:p>
          <a:p>
            <a:pPr marL="0" indent="0">
              <a:buNone/>
            </a:pPr>
            <a:endParaRPr lang="en-GB" dirty="0"/>
          </a:p>
        </p:txBody>
      </p:sp>
    </p:spTree>
    <p:custDataLst>
      <p:tags r:id="rId1"/>
    </p:custDataLst>
    <p:extLst>
      <p:ext uri="{BB962C8B-B14F-4D97-AF65-F5344CB8AC3E}">
        <p14:creationId xmlns:p14="http://schemas.microsoft.com/office/powerpoint/2010/main" val="36435951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346920"/>
          </a:xfrm>
        </p:spPr>
        <p:txBody>
          <a:bodyPr>
            <a:normAutofit fontScale="77500" lnSpcReduction="20000"/>
          </a:bodyPr>
          <a:lstStyle/>
          <a:p>
            <a:pPr marL="0" indent="0">
              <a:buNone/>
            </a:pPr>
            <a:r>
              <a:rPr lang="en-GB" b="1" dirty="0"/>
              <a:t>An Uncompleted Action You Are Expecting</a:t>
            </a:r>
          </a:p>
          <a:p>
            <a:endParaRPr lang="en-GB" dirty="0"/>
          </a:p>
          <a:p>
            <a:pPr marL="0" indent="0">
              <a:buNone/>
            </a:pPr>
            <a:r>
              <a:rPr lang="en-GB" dirty="0"/>
              <a:t>We often use the Present Perfect to say that an action which we expected has not happened. Using the Present Perfect suggests that we are still waiting for the action to happen. </a:t>
            </a:r>
          </a:p>
          <a:p>
            <a:pPr marL="0" indent="0">
              <a:buNone/>
            </a:pPr>
            <a:endParaRPr lang="en-GB" dirty="0"/>
          </a:p>
          <a:p>
            <a:pPr marL="0" indent="0">
              <a:buNone/>
            </a:pPr>
            <a:r>
              <a:rPr lang="en-GB" dirty="0"/>
              <a:t>Examples:</a:t>
            </a:r>
          </a:p>
          <a:p>
            <a:pPr marL="0" indent="0">
              <a:buNone/>
            </a:pPr>
            <a:endParaRPr lang="en-GB" dirty="0"/>
          </a:p>
          <a:p>
            <a:pPr marL="0" indent="0">
              <a:buNone/>
            </a:pPr>
            <a:r>
              <a:rPr lang="en-GB" dirty="0"/>
              <a:t>James </a:t>
            </a:r>
            <a:r>
              <a:rPr lang="en-GB" b="1" dirty="0"/>
              <a:t>has not finished</a:t>
            </a:r>
            <a:r>
              <a:rPr lang="en-GB" dirty="0"/>
              <a:t> his homework yet.</a:t>
            </a:r>
          </a:p>
          <a:p>
            <a:pPr marL="0" indent="0">
              <a:buNone/>
            </a:pPr>
            <a:endParaRPr lang="en-GB" dirty="0"/>
          </a:p>
          <a:p>
            <a:pPr marL="0" indent="0">
              <a:buNone/>
            </a:pPr>
            <a:r>
              <a:rPr lang="en-GB" dirty="0"/>
              <a:t>Susan </a:t>
            </a:r>
            <a:r>
              <a:rPr lang="en-GB" b="1" dirty="0"/>
              <a:t>hasn't mastered</a:t>
            </a:r>
            <a:r>
              <a:rPr lang="en-GB" dirty="0"/>
              <a:t> Japanese, but she can communicate.</a:t>
            </a:r>
          </a:p>
          <a:p>
            <a:pPr marL="0" indent="0">
              <a:buNone/>
            </a:pPr>
            <a:endParaRPr lang="en-GB" dirty="0"/>
          </a:p>
          <a:p>
            <a:pPr marL="0" indent="0">
              <a:buNone/>
            </a:pPr>
            <a:r>
              <a:rPr lang="en-GB" dirty="0"/>
              <a:t>Bill </a:t>
            </a:r>
            <a:r>
              <a:rPr lang="en-GB" b="1" dirty="0"/>
              <a:t>has</a:t>
            </a:r>
            <a:r>
              <a:rPr lang="en-GB" dirty="0"/>
              <a:t> still </a:t>
            </a:r>
            <a:r>
              <a:rPr lang="en-GB" b="1" dirty="0"/>
              <a:t>not arrived</a:t>
            </a:r>
            <a:r>
              <a:rPr lang="en-GB" dirty="0"/>
              <a:t>.</a:t>
            </a:r>
          </a:p>
          <a:p>
            <a:pPr marL="0" indent="0">
              <a:buNone/>
            </a:pPr>
            <a:endParaRPr lang="en-GB" dirty="0"/>
          </a:p>
          <a:p>
            <a:pPr marL="0" indent="0">
              <a:buNone/>
            </a:pPr>
            <a:r>
              <a:rPr lang="en-GB" dirty="0"/>
              <a:t>The rain </a:t>
            </a:r>
            <a:r>
              <a:rPr lang="en-GB" b="1" dirty="0"/>
              <a:t>hasn't stopped</a:t>
            </a:r>
            <a:r>
              <a:rPr lang="en-GB" dirty="0"/>
              <a:t>.</a:t>
            </a:r>
          </a:p>
          <a:p>
            <a:pPr marL="0" indent="0">
              <a:buNone/>
            </a:pPr>
            <a:endParaRPr lang="en-GB" dirty="0"/>
          </a:p>
        </p:txBody>
      </p:sp>
    </p:spTree>
    <p:custDataLst>
      <p:tags r:id="rId1"/>
    </p:custDataLst>
    <p:extLst>
      <p:ext uri="{BB962C8B-B14F-4D97-AF65-F5344CB8AC3E}">
        <p14:creationId xmlns:p14="http://schemas.microsoft.com/office/powerpoint/2010/main" val="24813578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418928"/>
          </a:xfrm>
        </p:spPr>
        <p:txBody>
          <a:bodyPr>
            <a:normAutofit fontScale="70000" lnSpcReduction="20000"/>
          </a:bodyPr>
          <a:lstStyle/>
          <a:p>
            <a:pPr marL="0" indent="0">
              <a:buNone/>
            </a:pPr>
            <a:r>
              <a:rPr lang="en-GB" b="1" dirty="0"/>
              <a:t>Multiple Actions at Different Times</a:t>
            </a:r>
          </a:p>
          <a:p>
            <a:pPr marL="0" indent="0">
              <a:buNone/>
            </a:pPr>
            <a:endParaRPr lang="en-GB" dirty="0"/>
          </a:p>
          <a:p>
            <a:pPr marL="0" indent="0">
              <a:buNone/>
            </a:pPr>
            <a:r>
              <a:rPr lang="en-GB" dirty="0"/>
              <a:t>We also use the Present Perfect to talk about several different actions which have occurred in the past at different times. Present Perfect suggests the process is not complete and more actions are possible.</a:t>
            </a:r>
          </a:p>
          <a:p>
            <a:pPr marL="0" indent="0">
              <a:buNone/>
            </a:pPr>
            <a:endParaRPr lang="en-GB" dirty="0"/>
          </a:p>
          <a:p>
            <a:pPr marL="0" indent="0">
              <a:buNone/>
            </a:pPr>
            <a:r>
              <a:rPr lang="en-GB" dirty="0"/>
              <a:t>Examples:</a:t>
            </a:r>
          </a:p>
          <a:p>
            <a:pPr marL="0" indent="0">
              <a:buNone/>
            </a:pPr>
            <a:endParaRPr lang="en-GB" dirty="0"/>
          </a:p>
          <a:p>
            <a:pPr marL="0" indent="0">
              <a:buNone/>
            </a:pPr>
            <a:r>
              <a:rPr lang="en-GB" dirty="0"/>
              <a:t>The army </a:t>
            </a:r>
            <a:r>
              <a:rPr lang="en-GB" b="1" dirty="0"/>
              <a:t>has attacked</a:t>
            </a:r>
            <a:r>
              <a:rPr lang="en-GB" dirty="0"/>
              <a:t> that city five times.</a:t>
            </a:r>
          </a:p>
          <a:p>
            <a:pPr marL="0" indent="0">
              <a:buNone/>
            </a:pPr>
            <a:endParaRPr lang="en-GB" dirty="0"/>
          </a:p>
          <a:p>
            <a:pPr marL="0" indent="0">
              <a:buNone/>
            </a:pPr>
            <a:r>
              <a:rPr lang="en-GB" dirty="0"/>
              <a:t>I </a:t>
            </a:r>
            <a:r>
              <a:rPr lang="en-GB" b="1" dirty="0"/>
              <a:t>have had</a:t>
            </a:r>
            <a:r>
              <a:rPr lang="en-GB" dirty="0"/>
              <a:t> four quizzes and five tests so far this semester.</a:t>
            </a:r>
          </a:p>
          <a:p>
            <a:pPr marL="0" indent="0">
              <a:buNone/>
            </a:pPr>
            <a:endParaRPr lang="en-GB" dirty="0"/>
          </a:p>
          <a:p>
            <a:pPr marL="0" indent="0">
              <a:buNone/>
            </a:pPr>
            <a:r>
              <a:rPr lang="en-GB" dirty="0"/>
              <a:t>We </a:t>
            </a:r>
            <a:r>
              <a:rPr lang="en-GB" b="1" dirty="0"/>
              <a:t>have had</a:t>
            </a:r>
            <a:r>
              <a:rPr lang="en-GB" dirty="0"/>
              <a:t> many major problems while working on this project.</a:t>
            </a:r>
          </a:p>
          <a:p>
            <a:pPr marL="0" indent="0">
              <a:buNone/>
            </a:pPr>
            <a:endParaRPr lang="en-GB" dirty="0"/>
          </a:p>
          <a:p>
            <a:pPr marL="0" indent="0">
              <a:buNone/>
            </a:pPr>
            <a:r>
              <a:rPr lang="en-GB" dirty="0"/>
              <a:t>She </a:t>
            </a:r>
            <a:r>
              <a:rPr lang="en-GB" b="1" dirty="0"/>
              <a:t>has talked</a:t>
            </a:r>
            <a:r>
              <a:rPr lang="en-GB" dirty="0"/>
              <a:t> to several specialists about her problem, but nobody knows why she is sick.</a:t>
            </a:r>
          </a:p>
          <a:p>
            <a:pPr marL="0" indent="0">
              <a:buNone/>
            </a:pPr>
            <a:endParaRPr lang="en-GB" dirty="0"/>
          </a:p>
        </p:txBody>
      </p:sp>
    </p:spTree>
    <p:custDataLst>
      <p:tags r:id="rId1"/>
    </p:custDataLst>
    <p:extLst>
      <p:ext uri="{BB962C8B-B14F-4D97-AF65-F5344CB8AC3E}">
        <p14:creationId xmlns:p14="http://schemas.microsoft.com/office/powerpoint/2010/main" val="19414815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1"/>
            <a:ext cx="8183880" cy="4842865"/>
          </a:xfrm>
        </p:spPr>
        <p:txBody>
          <a:bodyPr>
            <a:normAutofit fontScale="55000" lnSpcReduction="20000"/>
          </a:bodyPr>
          <a:lstStyle/>
          <a:p>
            <a:pPr marL="0" indent="0">
              <a:buNone/>
            </a:pPr>
            <a:r>
              <a:rPr lang="en-GB" sz="2900" b="1" dirty="0"/>
              <a:t>Duration From the Past Until Now (Non-Continuous Verbs)</a:t>
            </a:r>
          </a:p>
          <a:p>
            <a:pPr marL="0" indent="0">
              <a:buNone/>
            </a:pPr>
            <a:endParaRPr lang="en-GB" sz="2900" dirty="0"/>
          </a:p>
          <a:p>
            <a:pPr marL="0" indent="0">
              <a:buNone/>
            </a:pPr>
            <a:r>
              <a:rPr lang="en-GB" sz="2900" dirty="0"/>
              <a:t>With non-continuous verbs, we use the Present Perfect to show that something started in the past and has continued up until now. </a:t>
            </a:r>
          </a:p>
          <a:p>
            <a:pPr marL="0" indent="0">
              <a:buNone/>
            </a:pPr>
            <a:endParaRPr lang="en-GB" sz="2900" dirty="0"/>
          </a:p>
          <a:p>
            <a:pPr marL="0" indent="0">
              <a:buNone/>
            </a:pPr>
            <a:r>
              <a:rPr lang="en-GB" sz="2900" dirty="0"/>
              <a:t>"For five minutes," "for two weeks," and "since Tuesday" are all durations which </a:t>
            </a:r>
            <a:r>
              <a:rPr lang="en-GB" sz="2900" b="1" dirty="0">
                <a:solidFill>
                  <a:srgbClr val="00B050"/>
                </a:solidFill>
              </a:rPr>
              <a:t>can</a:t>
            </a:r>
            <a:r>
              <a:rPr lang="en-GB" sz="2900" dirty="0"/>
              <a:t> be used with the Present Perfect.</a:t>
            </a:r>
          </a:p>
          <a:p>
            <a:pPr marL="0" indent="0">
              <a:buNone/>
            </a:pPr>
            <a:endParaRPr lang="en-GB" sz="2900" dirty="0"/>
          </a:p>
          <a:p>
            <a:pPr marL="0" indent="0">
              <a:buNone/>
            </a:pPr>
            <a:r>
              <a:rPr lang="en-GB" sz="2900" dirty="0"/>
              <a:t>Examples:</a:t>
            </a:r>
          </a:p>
          <a:p>
            <a:pPr marL="0" indent="0">
              <a:buNone/>
            </a:pPr>
            <a:endParaRPr lang="en-GB" sz="2900" dirty="0"/>
          </a:p>
          <a:p>
            <a:pPr marL="0" indent="0">
              <a:buNone/>
            </a:pPr>
            <a:r>
              <a:rPr lang="en-GB" sz="2900" dirty="0"/>
              <a:t>I </a:t>
            </a:r>
            <a:r>
              <a:rPr lang="en-GB" sz="2900" b="1" dirty="0"/>
              <a:t>have had</a:t>
            </a:r>
            <a:r>
              <a:rPr lang="en-GB" sz="2900" dirty="0"/>
              <a:t> a cold for two weeks.</a:t>
            </a:r>
          </a:p>
          <a:p>
            <a:pPr marL="0" indent="0">
              <a:buNone/>
            </a:pPr>
            <a:endParaRPr lang="en-GB" sz="2900" dirty="0"/>
          </a:p>
          <a:p>
            <a:pPr marL="0" indent="0">
              <a:buNone/>
            </a:pPr>
            <a:r>
              <a:rPr lang="en-GB" sz="2900" dirty="0"/>
              <a:t>She </a:t>
            </a:r>
            <a:r>
              <a:rPr lang="en-GB" sz="2900" b="1" dirty="0"/>
              <a:t>has been</a:t>
            </a:r>
            <a:r>
              <a:rPr lang="en-GB" sz="2900" dirty="0"/>
              <a:t> in England for six months.</a:t>
            </a:r>
          </a:p>
          <a:p>
            <a:pPr marL="0" indent="0">
              <a:buNone/>
            </a:pPr>
            <a:endParaRPr lang="en-GB" sz="2900" dirty="0"/>
          </a:p>
          <a:p>
            <a:pPr marL="0" indent="0">
              <a:buNone/>
            </a:pPr>
            <a:r>
              <a:rPr lang="en-GB" sz="2900" dirty="0"/>
              <a:t>Mary </a:t>
            </a:r>
            <a:r>
              <a:rPr lang="en-GB" sz="2900" b="1" dirty="0"/>
              <a:t>has loved</a:t>
            </a:r>
            <a:r>
              <a:rPr lang="en-GB" sz="2900" dirty="0"/>
              <a:t> chocolate since she was a little girl.</a:t>
            </a:r>
          </a:p>
          <a:p>
            <a:pPr marL="0" indent="0">
              <a:buNone/>
            </a:pPr>
            <a:endParaRPr lang="en-GB" sz="2900" dirty="0"/>
          </a:p>
          <a:p>
            <a:pPr marL="0" indent="0">
              <a:buNone/>
            </a:pPr>
            <a:r>
              <a:rPr lang="en-GB" sz="2900" dirty="0"/>
              <a:t>Although the above use of Present Perfect is normally limited to Non-Continuous Verbs and non-continuous uses of Mixed Verbs, the words "live," "work," "teach," and "study" are sometimes used in this way even though they are NOT Non-Continuous Verbs.</a:t>
            </a:r>
          </a:p>
          <a:p>
            <a:pPr marL="0" indent="0">
              <a:buNone/>
            </a:pPr>
            <a:endParaRPr lang="en-GB" dirty="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064" y="5157192"/>
            <a:ext cx="3408136" cy="9684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28220589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Present Perfect</a:t>
            </a:r>
          </a:p>
        </p:txBody>
      </p:sp>
      <p:sp>
        <p:nvSpPr>
          <p:cNvPr id="3" name="Content Placeholder 2"/>
          <p:cNvSpPr>
            <a:spLocks noGrp="1"/>
          </p:cNvSpPr>
          <p:nvPr>
            <p:ph idx="1"/>
          </p:nvPr>
        </p:nvSpPr>
        <p:spPr/>
        <p:txBody>
          <a:bodyPr>
            <a:normAutofit fontScale="62500" lnSpcReduction="20000"/>
          </a:bodyPr>
          <a:lstStyle/>
          <a:p>
            <a:pPr marL="0" indent="0">
              <a:buNone/>
            </a:pPr>
            <a:r>
              <a:rPr lang="en-GB" dirty="0"/>
              <a:t>I read the book.</a:t>
            </a:r>
          </a:p>
          <a:p>
            <a:pPr marL="0" indent="0">
              <a:buNone/>
            </a:pPr>
            <a:r>
              <a:rPr lang="en-GB" dirty="0"/>
              <a:t>	I have read the book.</a:t>
            </a:r>
          </a:p>
          <a:p>
            <a:pPr marL="0" indent="0">
              <a:buNone/>
            </a:pPr>
            <a:r>
              <a:rPr lang="en-GB" dirty="0"/>
              <a:t>You watch the film.</a:t>
            </a:r>
          </a:p>
          <a:p>
            <a:pPr marL="0" indent="0">
              <a:buNone/>
            </a:pPr>
            <a:r>
              <a:rPr lang="en-GB" dirty="0"/>
              <a:t>	You have watched the film.</a:t>
            </a:r>
          </a:p>
          <a:p>
            <a:pPr marL="0" indent="0">
              <a:buNone/>
            </a:pPr>
            <a:r>
              <a:rPr lang="en-GB" dirty="0"/>
              <a:t>They had breakfast already.</a:t>
            </a:r>
          </a:p>
          <a:p>
            <a:pPr marL="0" indent="0">
              <a:buNone/>
            </a:pPr>
            <a:r>
              <a:rPr lang="en-GB" dirty="0"/>
              <a:t>	They have already had breakfast.</a:t>
            </a:r>
          </a:p>
          <a:p>
            <a:pPr marL="0" indent="0">
              <a:buNone/>
            </a:pPr>
            <a:r>
              <a:rPr lang="en-GB" dirty="0"/>
              <a:t>He goes to school.</a:t>
            </a:r>
          </a:p>
          <a:p>
            <a:pPr marL="0" indent="0">
              <a:buNone/>
            </a:pPr>
            <a:r>
              <a:rPr lang="en-GB" dirty="0"/>
              <a:t>	He has gone to school.</a:t>
            </a:r>
          </a:p>
          <a:p>
            <a:pPr marL="0" indent="0">
              <a:buNone/>
            </a:pPr>
            <a:r>
              <a:rPr lang="en-GB" dirty="0"/>
              <a:t>She waits for a letter to arrive.</a:t>
            </a:r>
          </a:p>
          <a:p>
            <a:pPr marL="0" indent="0">
              <a:buNone/>
            </a:pPr>
            <a:r>
              <a:rPr lang="en-GB" dirty="0"/>
              <a:t>	She has waited for a letter to arrive.</a:t>
            </a:r>
          </a:p>
          <a:p>
            <a:pPr marL="0" indent="0">
              <a:buNone/>
            </a:pPr>
            <a:endParaRPr lang="en-GB" dirty="0"/>
          </a:p>
          <a:p>
            <a:pPr marL="0" indent="0">
              <a:buNone/>
            </a:pPr>
            <a:r>
              <a:rPr lang="en-GB" dirty="0"/>
              <a:t>Come up with your own examples:</a:t>
            </a:r>
          </a:p>
          <a:p>
            <a:pPr marL="0" indent="0">
              <a:buNone/>
            </a:pPr>
            <a:r>
              <a:rPr lang="en-GB" dirty="0"/>
              <a:t>1)	We have been in the UK since last year.</a:t>
            </a:r>
          </a:p>
          <a:p>
            <a:pPr marL="0" indent="0">
              <a:buNone/>
            </a:pPr>
            <a:r>
              <a:rPr lang="en-GB" dirty="0"/>
              <a:t>2)	They have seen the Queen.</a:t>
            </a:r>
          </a:p>
          <a:p>
            <a:pPr marL="0" indent="0">
              <a:buNone/>
            </a:pPr>
            <a:r>
              <a:rPr lang="en-GB" dirty="0"/>
              <a:t>3)	She has played football.</a:t>
            </a:r>
          </a:p>
        </p:txBody>
      </p:sp>
    </p:spTree>
    <p:custDataLst>
      <p:tags r:id="rId1"/>
    </p:custDataLst>
    <p:extLst>
      <p:ext uri="{BB962C8B-B14F-4D97-AF65-F5344CB8AC3E}">
        <p14:creationId xmlns:p14="http://schemas.microsoft.com/office/powerpoint/2010/main" val="23144356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418928"/>
          </a:xfrm>
        </p:spPr>
        <p:txBody>
          <a:bodyPr>
            <a:normAutofit fontScale="77500" lnSpcReduction="20000"/>
          </a:bodyPr>
          <a:lstStyle/>
          <a:p>
            <a:pPr marL="0" indent="0">
              <a:buNone/>
            </a:pPr>
            <a:r>
              <a:rPr lang="en-GB" b="1" dirty="0"/>
              <a:t>ADVERB PLACEMENT</a:t>
            </a:r>
          </a:p>
          <a:p>
            <a:endParaRPr lang="en-GB" dirty="0"/>
          </a:p>
          <a:p>
            <a:pPr marL="0" indent="0">
              <a:buNone/>
            </a:pPr>
            <a:r>
              <a:rPr lang="en-GB" dirty="0"/>
              <a:t>The examples below show the placement for grammar adverbs such as: always, only, never, ever, still, just, etc.</a:t>
            </a:r>
          </a:p>
          <a:p>
            <a:endParaRPr lang="en-GB" dirty="0"/>
          </a:p>
          <a:p>
            <a:pPr marL="0" indent="0">
              <a:buNone/>
            </a:pPr>
            <a:r>
              <a:rPr lang="en-GB" dirty="0"/>
              <a:t>Examples:</a:t>
            </a:r>
          </a:p>
          <a:p>
            <a:pPr marL="0" indent="0">
              <a:buNone/>
            </a:pPr>
            <a:endParaRPr lang="en-GB" dirty="0"/>
          </a:p>
          <a:p>
            <a:pPr marL="0" indent="0">
              <a:buNone/>
            </a:pPr>
            <a:r>
              <a:rPr lang="en-GB" dirty="0"/>
              <a:t>You have </a:t>
            </a:r>
            <a:r>
              <a:rPr lang="en-GB" b="1" dirty="0"/>
              <a:t>only</a:t>
            </a:r>
            <a:r>
              <a:rPr lang="en-GB" dirty="0"/>
              <a:t> seen that movie one time.</a:t>
            </a:r>
          </a:p>
          <a:p>
            <a:pPr marL="0" indent="0">
              <a:buNone/>
            </a:pPr>
            <a:r>
              <a:rPr lang="en-GB" dirty="0"/>
              <a:t>Have you </a:t>
            </a:r>
            <a:r>
              <a:rPr lang="en-GB" b="1" dirty="0"/>
              <a:t>only</a:t>
            </a:r>
            <a:r>
              <a:rPr lang="en-GB" dirty="0"/>
              <a:t> seen that movie one time?</a:t>
            </a:r>
          </a:p>
          <a:p>
            <a:endParaRPr lang="en-GB" b="1" dirty="0"/>
          </a:p>
          <a:p>
            <a:pPr marL="0" indent="0">
              <a:buNone/>
            </a:pPr>
            <a:r>
              <a:rPr lang="en-GB" b="1" dirty="0"/>
              <a:t>ACTIVE / PASSIVE</a:t>
            </a:r>
          </a:p>
          <a:p>
            <a:pPr marL="0" indent="0">
              <a:buNone/>
            </a:pPr>
            <a:endParaRPr lang="en-GB" dirty="0"/>
          </a:p>
          <a:p>
            <a:pPr marL="0" indent="0">
              <a:buNone/>
            </a:pPr>
            <a:r>
              <a:rPr lang="en-GB" dirty="0"/>
              <a:t>Examples:</a:t>
            </a:r>
          </a:p>
          <a:p>
            <a:pPr marL="0" indent="0">
              <a:buNone/>
            </a:pPr>
            <a:endParaRPr lang="en-GB" dirty="0"/>
          </a:p>
          <a:p>
            <a:pPr marL="0" indent="0">
              <a:buNone/>
            </a:pPr>
            <a:r>
              <a:rPr lang="en-GB" dirty="0"/>
              <a:t>Many tourists </a:t>
            </a:r>
            <a:r>
              <a:rPr lang="en-GB" b="1" dirty="0"/>
              <a:t>have visited</a:t>
            </a:r>
            <a:r>
              <a:rPr lang="en-GB" dirty="0"/>
              <a:t> that castle. </a:t>
            </a:r>
            <a:r>
              <a:rPr lang="en-GB" i="1" dirty="0"/>
              <a:t>Active</a:t>
            </a:r>
            <a:endParaRPr lang="en-GB" dirty="0"/>
          </a:p>
          <a:p>
            <a:pPr marL="0" indent="0">
              <a:buNone/>
            </a:pPr>
            <a:r>
              <a:rPr lang="en-GB" dirty="0"/>
              <a:t>That castle </a:t>
            </a:r>
            <a:r>
              <a:rPr lang="en-GB" b="1" dirty="0"/>
              <a:t>has been visited</a:t>
            </a:r>
            <a:r>
              <a:rPr lang="en-GB" dirty="0"/>
              <a:t> by many tourists. </a:t>
            </a:r>
            <a:r>
              <a:rPr lang="en-GB" i="1" dirty="0"/>
              <a:t>Passive</a:t>
            </a:r>
            <a:endParaRPr lang="en-GB" dirty="0"/>
          </a:p>
          <a:p>
            <a:endParaRPr lang="en-GB" dirty="0"/>
          </a:p>
        </p:txBody>
      </p:sp>
    </p:spTree>
    <p:custDataLst>
      <p:tags r:id="rId1"/>
    </p:custDataLst>
    <p:extLst>
      <p:ext uri="{BB962C8B-B14F-4D97-AF65-F5344CB8AC3E}">
        <p14:creationId xmlns:p14="http://schemas.microsoft.com/office/powerpoint/2010/main" val="19897339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5373216"/>
            <a:ext cx="8183880" cy="661824"/>
          </a:xfrm>
        </p:spPr>
        <p:txBody>
          <a:bodyPr/>
          <a:lstStyle/>
          <a:p>
            <a:r>
              <a:rPr lang="en-GB" dirty="0"/>
              <a:t>Present perfect</a:t>
            </a:r>
          </a:p>
        </p:txBody>
      </p:sp>
      <p:sp>
        <p:nvSpPr>
          <p:cNvPr id="3" name="Content Placeholder 2"/>
          <p:cNvSpPr>
            <a:spLocks noGrp="1"/>
          </p:cNvSpPr>
          <p:nvPr>
            <p:ph idx="1"/>
          </p:nvPr>
        </p:nvSpPr>
        <p:spPr>
          <a:xfrm>
            <a:off x="502920" y="530352"/>
            <a:ext cx="8183880" cy="4914872"/>
          </a:xfrm>
        </p:spPr>
        <p:txBody>
          <a:bodyPr>
            <a:normAutofit fontScale="55000" lnSpcReduction="20000"/>
          </a:bodyPr>
          <a:lstStyle/>
          <a:p>
            <a:pPr marL="0" indent="0">
              <a:buNone/>
            </a:pPr>
            <a:r>
              <a:rPr lang="en-GB" dirty="0"/>
              <a:t>The </a:t>
            </a:r>
            <a:r>
              <a:rPr lang="en-GB" b="1" dirty="0"/>
              <a:t>present perfect </a:t>
            </a:r>
            <a:r>
              <a:rPr lang="en-GB" dirty="0"/>
              <a:t>is formed from the present tense of the verb </a:t>
            </a:r>
            <a:r>
              <a:rPr lang="en-GB" b="1" i="1" dirty="0"/>
              <a:t>have</a:t>
            </a:r>
            <a:r>
              <a:rPr lang="en-GB" dirty="0"/>
              <a:t> and the </a:t>
            </a:r>
            <a:r>
              <a:rPr lang="en-GB" b="1" dirty="0"/>
              <a:t>past participle</a:t>
            </a:r>
            <a:r>
              <a:rPr lang="en-GB" dirty="0"/>
              <a:t> of a verb:</a:t>
            </a:r>
          </a:p>
          <a:p>
            <a:pPr marL="0" indent="0">
              <a:buNone/>
            </a:pPr>
            <a:endParaRPr lang="en-GB" dirty="0"/>
          </a:p>
          <a:p>
            <a:pPr marL="0" indent="0">
              <a:buNone/>
            </a:pPr>
            <a:r>
              <a:rPr lang="en-GB" dirty="0"/>
              <a:t>The present perfect </a:t>
            </a:r>
            <a:r>
              <a:rPr lang="en-GB" b="1" dirty="0"/>
              <a:t>continuous </a:t>
            </a:r>
            <a:r>
              <a:rPr lang="en-GB" dirty="0"/>
              <a:t>is formed with </a:t>
            </a:r>
            <a:r>
              <a:rPr lang="en-GB" b="1" i="1" dirty="0"/>
              <a:t>have/has been </a:t>
            </a:r>
            <a:r>
              <a:rPr lang="en-GB" dirty="0"/>
              <a:t>and the </a:t>
            </a:r>
            <a:r>
              <a:rPr lang="en-GB" b="1" i="1" dirty="0"/>
              <a:t>-</a:t>
            </a:r>
            <a:r>
              <a:rPr lang="en-GB" b="1" i="1" dirty="0" err="1"/>
              <a:t>ing</a:t>
            </a:r>
            <a:r>
              <a:rPr lang="en-GB" dirty="0"/>
              <a:t> form of the verb:</a:t>
            </a:r>
          </a:p>
          <a:p>
            <a:pPr marL="0" indent="0">
              <a:buNone/>
            </a:pPr>
            <a:endParaRPr lang="en-GB" b="1" dirty="0"/>
          </a:p>
          <a:p>
            <a:pPr marL="0" indent="0">
              <a:buNone/>
            </a:pPr>
            <a:r>
              <a:rPr lang="en-GB" dirty="0"/>
              <a:t>We use the present perfect tense:</a:t>
            </a:r>
          </a:p>
          <a:p>
            <a:pPr marL="0" indent="0">
              <a:buNone/>
            </a:pPr>
            <a:endParaRPr lang="en-GB" dirty="0"/>
          </a:p>
          <a:p>
            <a:pPr marL="0" indent="0">
              <a:buNone/>
            </a:pPr>
            <a:r>
              <a:rPr lang="en-GB" dirty="0"/>
              <a:t>For something that started in the </a:t>
            </a:r>
            <a:r>
              <a:rPr lang="en-GB" b="1" dirty="0"/>
              <a:t>past </a:t>
            </a:r>
            <a:r>
              <a:rPr lang="en-GB" dirty="0"/>
              <a:t>and </a:t>
            </a:r>
            <a:r>
              <a:rPr lang="en-GB" b="1" dirty="0"/>
              <a:t>continues </a:t>
            </a:r>
            <a:r>
              <a:rPr lang="en-GB" dirty="0"/>
              <a:t>in the </a:t>
            </a:r>
            <a:r>
              <a:rPr lang="en-GB" b="1" dirty="0"/>
              <a:t>present</a:t>
            </a:r>
            <a:r>
              <a:rPr lang="en-GB" dirty="0"/>
              <a:t>:</a:t>
            </a:r>
          </a:p>
          <a:p>
            <a:r>
              <a:rPr lang="en-GB" dirty="0"/>
              <a:t>They</a:t>
            </a:r>
            <a:r>
              <a:rPr lang="en-GB" b="1" dirty="0"/>
              <a:t>’ve been married</a:t>
            </a:r>
            <a:r>
              <a:rPr lang="en-GB" dirty="0"/>
              <a:t> </a:t>
            </a:r>
            <a:r>
              <a:rPr lang="en-GB" u="sng" dirty="0"/>
              <a:t>for nearly fifty years</a:t>
            </a:r>
            <a:r>
              <a:rPr lang="en-GB" dirty="0"/>
              <a:t>.</a:t>
            </a:r>
            <a:br>
              <a:rPr lang="en-GB" dirty="0"/>
            </a:br>
            <a:r>
              <a:rPr lang="en-GB" dirty="0"/>
              <a:t>She </a:t>
            </a:r>
            <a:r>
              <a:rPr lang="en-GB" b="1" dirty="0"/>
              <a:t>has lived</a:t>
            </a:r>
            <a:r>
              <a:rPr lang="en-GB" dirty="0"/>
              <a:t> in Liverpool </a:t>
            </a:r>
            <a:r>
              <a:rPr lang="en-GB" u="sng" dirty="0"/>
              <a:t>all her life</a:t>
            </a:r>
            <a:r>
              <a:rPr lang="en-GB" dirty="0"/>
              <a:t>.</a:t>
            </a:r>
          </a:p>
          <a:p>
            <a:pPr marL="0" indent="0">
              <a:buNone/>
            </a:pPr>
            <a:endParaRPr lang="en-GB" b="1" dirty="0"/>
          </a:p>
          <a:p>
            <a:pPr marL="0" indent="0">
              <a:buNone/>
            </a:pPr>
            <a:r>
              <a:rPr lang="en-GB" dirty="0"/>
              <a:t>We normally use the present perfect continuous for this:</a:t>
            </a:r>
          </a:p>
          <a:p>
            <a:pPr marL="0" indent="0">
              <a:buNone/>
            </a:pPr>
            <a:endParaRPr lang="en-GB" dirty="0"/>
          </a:p>
          <a:p>
            <a:r>
              <a:rPr lang="en-GB" dirty="0"/>
              <a:t>She </a:t>
            </a:r>
            <a:r>
              <a:rPr lang="en-GB" b="1" dirty="0"/>
              <a:t>has been living</a:t>
            </a:r>
            <a:r>
              <a:rPr lang="en-GB" dirty="0"/>
              <a:t> in Liverpool all her life.</a:t>
            </a:r>
            <a:br>
              <a:rPr lang="en-GB" dirty="0"/>
            </a:br>
            <a:r>
              <a:rPr lang="en-GB" dirty="0"/>
              <a:t>It</a:t>
            </a:r>
            <a:r>
              <a:rPr lang="en-GB" b="1" dirty="0"/>
              <a:t>’s been raining</a:t>
            </a:r>
            <a:r>
              <a:rPr lang="en-GB" dirty="0"/>
              <a:t> for hours.</a:t>
            </a:r>
          </a:p>
          <a:p>
            <a:endParaRPr lang="en-GB" dirty="0"/>
          </a:p>
          <a:p>
            <a:pPr marL="0" indent="0">
              <a:buNone/>
            </a:pPr>
            <a:r>
              <a:rPr lang="en-GB" dirty="0"/>
              <a:t>For something we have done </a:t>
            </a:r>
            <a:r>
              <a:rPr lang="en-GB" b="1" dirty="0"/>
              <a:t>several times</a:t>
            </a:r>
            <a:r>
              <a:rPr lang="en-GB" dirty="0"/>
              <a:t> in the </a:t>
            </a:r>
            <a:r>
              <a:rPr lang="en-GB" b="1" dirty="0"/>
              <a:t>past</a:t>
            </a:r>
            <a:r>
              <a:rPr lang="en-GB" dirty="0"/>
              <a:t> and </a:t>
            </a:r>
            <a:r>
              <a:rPr lang="en-GB" b="1" dirty="0"/>
              <a:t>continue</a:t>
            </a:r>
            <a:r>
              <a:rPr lang="en-GB" dirty="0"/>
              <a:t> to do:</a:t>
            </a:r>
          </a:p>
          <a:p>
            <a:pPr marL="0" indent="0">
              <a:buNone/>
            </a:pPr>
            <a:endParaRPr lang="en-GB" dirty="0"/>
          </a:p>
          <a:p>
            <a:r>
              <a:rPr lang="en-GB" dirty="0"/>
              <a:t>I</a:t>
            </a:r>
            <a:r>
              <a:rPr lang="en-GB" b="1" dirty="0"/>
              <a:t>’ve played</a:t>
            </a:r>
            <a:r>
              <a:rPr lang="en-GB" dirty="0"/>
              <a:t> the guitar ever since I was a teenager.</a:t>
            </a:r>
            <a:br>
              <a:rPr lang="en-GB" dirty="0"/>
            </a:br>
            <a:r>
              <a:rPr lang="en-GB" dirty="0"/>
              <a:t>He </a:t>
            </a:r>
            <a:r>
              <a:rPr lang="en-GB" b="1" dirty="0"/>
              <a:t>has written</a:t>
            </a:r>
            <a:r>
              <a:rPr lang="en-GB" dirty="0"/>
              <a:t> three books and he is working on another one.</a:t>
            </a:r>
            <a:br>
              <a:rPr lang="en-GB" dirty="0"/>
            </a:br>
            <a:r>
              <a:rPr lang="en-GB" dirty="0"/>
              <a:t>I</a:t>
            </a:r>
            <a:r>
              <a:rPr lang="en-GB" b="1" dirty="0"/>
              <a:t>’ve been watching</a:t>
            </a:r>
            <a:r>
              <a:rPr lang="en-GB" dirty="0"/>
              <a:t> that programme every week.</a:t>
            </a:r>
          </a:p>
          <a:p>
            <a:pPr marL="0" indent="0">
              <a:buNone/>
            </a:pPr>
            <a:endParaRPr lang="en-GB" dirty="0"/>
          </a:p>
        </p:txBody>
      </p:sp>
    </p:spTree>
    <p:custDataLst>
      <p:tags r:id="rId1"/>
    </p:custDataLst>
    <p:extLst>
      <p:ext uri="{BB962C8B-B14F-4D97-AF65-F5344CB8AC3E}">
        <p14:creationId xmlns:p14="http://schemas.microsoft.com/office/powerpoint/2010/main" val="40061429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418928"/>
          </a:xfrm>
        </p:spPr>
        <p:txBody>
          <a:bodyPr>
            <a:noAutofit/>
          </a:bodyPr>
          <a:lstStyle/>
          <a:p>
            <a:pPr marL="0" indent="0">
              <a:buNone/>
            </a:pPr>
            <a:r>
              <a:rPr lang="en-GB" sz="1600" dirty="0"/>
              <a:t>We often use a clause with since to show when something started in the past: </a:t>
            </a:r>
          </a:p>
          <a:p>
            <a:pPr marL="0" indent="0">
              <a:buNone/>
            </a:pPr>
            <a:endParaRPr lang="en-GB" sz="1600" dirty="0"/>
          </a:p>
          <a:p>
            <a:pPr marL="0" indent="0">
              <a:buNone/>
            </a:pPr>
            <a:r>
              <a:rPr lang="en-GB" sz="1600" dirty="0"/>
              <a:t>They’ve been staying with us since last week. </a:t>
            </a:r>
          </a:p>
          <a:p>
            <a:pPr marL="0" indent="0">
              <a:buNone/>
            </a:pPr>
            <a:r>
              <a:rPr lang="en-GB" sz="1600" dirty="0"/>
              <a:t>I have worked here since I left school. </a:t>
            </a:r>
          </a:p>
          <a:p>
            <a:pPr marL="0" indent="0">
              <a:buNone/>
            </a:pPr>
            <a:r>
              <a:rPr lang="en-GB" sz="1600" dirty="0"/>
              <a:t>I’ve been watching that programme every week since it started. </a:t>
            </a:r>
          </a:p>
          <a:p>
            <a:pPr marL="0" indent="0">
              <a:buNone/>
            </a:pPr>
            <a:endParaRPr lang="en-GB" sz="1600" dirty="0"/>
          </a:p>
          <a:p>
            <a:pPr marL="0" indent="0">
              <a:buNone/>
            </a:pPr>
            <a:r>
              <a:rPr lang="en-GB" sz="1600" dirty="0"/>
              <a:t>When we are talking about our experience up to the present: </a:t>
            </a:r>
          </a:p>
          <a:p>
            <a:pPr marL="0" indent="0">
              <a:buNone/>
            </a:pPr>
            <a:r>
              <a:rPr lang="en-GB" sz="1600" dirty="0"/>
              <a:t>We often use the adverb ever to talk about experience up to the present: </a:t>
            </a:r>
          </a:p>
          <a:p>
            <a:pPr marL="0" indent="0">
              <a:buNone/>
            </a:pPr>
            <a:r>
              <a:rPr lang="en-GB" sz="1600" dirty="0"/>
              <a:t>My last birthday was the worst day I have ever had. </a:t>
            </a:r>
          </a:p>
          <a:p>
            <a:pPr marL="0" indent="0">
              <a:buNone/>
            </a:pPr>
            <a:endParaRPr lang="en-GB" sz="1600" dirty="0"/>
          </a:p>
          <a:p>
            <a:pPr marL="0" indent="0">
              <a:buNone/>
            </a:pPr>
            <a:r>
              <a:rPr lang="en-GB" sz="1600" dirty="0"/>
              <a:t>And we use ‘never’ for the negative form: </a:t>
            </a:r>
          </a:p>
          <a:p>
            <a:pPr marL="0" indent="0">
              <a:buNone/>
            </a:pPr>
            <a:r>
              <a:rPr lang="en-GB" sz="1600" dirty="0"/>
              <a:t>Have you ever met George? Yes, but I’ve never met his wife. </a:t>
            </a:r>
          </a:p>
          <a:p>
            <a:pPr marL="0" indent="0">
              <a:buNone/>
            </a:pPr>
            <a:endParaRPr lang="en-GB" sz="1600" dirty="0"/>
          </a:p>
          <a:p>
            <a:pPr marL="0" indent="0">
              <a:buNone/>
            </a:pPr>
            <a:r>
              <a:rPr lang="en-GB" sz="1600" dirty="0"/>
              <a:t>For something that happened in the past but is important at the time of speaking:</a:t>
            </a:r>
          </a:p>
          <a:p>
            <a:pPr marL="0" indent="0">
              <a:buNone/>
            </a:pPr>
            <a:r>
              <a:rPr lang="en-GB" sz="1600" dirty="0"/>
              <a:t>I can’t get in the house. I’ve lost my keys. Teresa isn’t at home. I think she has gone shopping. I’m tired out. I’ve been working all day.</a:t>
            </a:r>
            <a:endParaRPr lang="en-GB" sz="1600" i="1" dirty="0"/>
          </a:p>
        </p:txBody>
      </p:sp>
    </p:spTree>
    <p:custDataLst>
      <p:tags r:id="rId1"/>
    </p:custDataLst>
    <p:extLst>
      <p:ext uri="{BB962C8B-B14F-4D97-AF65-F5344CB8AC3E}">
        <p14:creationId xmlns:p14="http://schemas.microsoft.com/office/powerpoint/2010/main" val="14099858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418928"/>
          </a:xfrm>
        </p:spPr>
        <p:txBody>
          <a:bodyPr>
            <a:normAutofit fontScale="55000" lnSpcReduction="20000"/>
          </a:bodyPr>
          <a:lstStyle/>
          <a:p>
            <a:pPr marL="0" indent="0">
              <a:buNone/>
            </a:pPr>
            <a:r>
              <a:rPr lang="en-GB" dirty="0"/>
              <a:t>We use the present perfect of </a:t>
            </a:r>
            <a:r>
              <a:rPr lang="en-GB" b="1" i="1" dirty="0"/>
              <a:t>be</a:t>
            </a:r>
            <a:r>
              <a:rPr lang="en-GB" dirty="0"/>
              <a:t> when someone has </a:t>
            </a:r>
            <a:r>
              <a:rPr lang="en-GB" b="1" dirty="0"/>
              <a:t>gone </a:t>
            </a:r>
            <a:r>
              <a:rPr lang="en-GB" dirty="0"/>
              <a:t>to a place and </a:t>
            </a:r>
            <a:r>
              <a:rPr lang="en-GB" b="1" dirty="0"/>
              <a:t>returned</a:t>
            </a:r>
            <a:r>
              <a:rPr lang="en-GB" dirty="0"/>
              <a:t>:</a:t>
            </a:r>
          </a:p>
          <a:p>
            <a:r>
              <a:rPr lang="en-GB" dirty="0"/>
              <a:t>A: Where </a:t>
            </a:r>
            <a:r>
              <a:rPr lang="en-GB" b="1" dirty="0"/>
              <a:t>have you been</a:t>
            </a:r>
            <a:r>
              <a:rPr lang="en-GB" dirty="0"/>
              <a:t>?</a:t>
            </a:r>
            <a:br>
              <a:rPr lang="en-GB" dirty="0"/>
            </a:br>
            <a:r>
              <a:rPr lang="en-GB" dirty="0"/>
              <a:t>B: I’ve </a:t>
            </a:r>
            <a:r>
              <a:rPr lang="en-GB" b="1" dirty="0"/>
              <a:t>just been out to the supermarket</a:t>
            </a:r>
            <a:r>
              <a:rPr lang="en-GB" dirty="0"/>
              <a:t>.</a:t>
            </a:r>
          </a:p>
          <a:p>
            <a:endParaRPr lang="en-GB" dirty="0"/>
          </a:p>
          <a:p>
            <a:r>
              <a:rPr lang="en-GB" dirty="0"/>
              <a:t>A: </a:t>
            </a:r>
            <a:r>
              <a:rPr lang="en-GB" b="1" dirty="0"/>
              <a:t>Have you ever been to </a:t>
            </a:r>
            <a:r>
              <a:rPr lang="en-GB" dirty="0"/>
              <a:t>San Francisco?</a:t>
            </a:r>
            <a:br>
              <a:rPr lang="en-GB" dirty="0"/>
            </a:br>
            <a:r>
              <a:rPr lang="en-GB" dirty="0"/>
              <a:t>B: No, but </a:t>
            </a:r>
            <a:r>
              <a:rPr lang="en-GB" b="1" dirty="0"/>
              <a:t>I’ve been</a:t>
            </a:r>
            <a:r>
              <a:rPr lang="en-GB" dirty="0"/>
              <a:t> to Los Angeles.</a:t>
            </a:r>
          </a:p>
          <a:p>
            <a:pPr marL="0" indent="0">
              <a:buNone/>
            </a:pPr>
            <a:endParaRPr lang="en-GB" dirty="0"/>
          </a:p>
          <a:p>
            <a:pPr marL="0" indent="0">
              <a:buNone/>
            </a:pPr>
            <a:r>
              <a:rPr lang="en-GB" dirty="0"/>
              <a:t>But when someone </a:t>
            </a:r>
            <a:r>
              <a:rPr lang="en-GB" b="1" dirty="0"/>
              <a:t>has not returned </a:t>
            </a:r>
            <a:r>
              <a:rPr lang="en-GB" dirty="0"/>
              <a:t>we use </a:t>
            </a:r>
            <a:r>
              <a:rPr lang="en-GB" b="1" i="1" dirty="0"/>
              <a:t>have/has gone</a:t>
            </a:r>
            <a:r>
              <a:rPr lang="en-GB" dirty="0"/>
              <a:t>:</a:t>
            </a:r>
          </a:p>
          <a:p>
            <a:r>
              <a:rPr lang="en-GB" dirty="0"/>
              <a:t>A: Where is Maria? I haven’t seen her for weeks. </a:t>
            </a:r>
            <a:br>
              <a:rPr lang="en-GB" dirty="0"/>
            </a:br>
            <a:r>
              <a:rPr lang="en-GB" dirty="0"/>
              <a:t>B: </a:t>
            </a:r>
            <a:r>
              <a:rPr lang="en-GB" b="1" dirty="0"/>
              <a:t>She's gone to </a:t>
            </a:r>
            <a:r>
              <a:rPr lang="en-GB" dirty="0"/>
              <a:t>Paris for a week. </a:t>
            </a:r>
            <a:r>
              <a:rPr lang="en-GB" u="sng" dirty="0"/>
              <a:t>She’ll be back tomorrow</a:t>
            </a:r>
            <a:r>
              <a:rPr lang="en-GB" dirty="0"/>
              <a:t>.</a:t>
            </a:r>
          </a:p>
          <a:p>
            <a:pPr marL="0" indent="0">
              <a:buNone/>
            </a:pPr>
            <a:endParaRPr lang="en-GB" dirty="0"/>
          </a:p>
          <a:p>
            <a:pPr marL="0" indent="0">
              <a:buNone/>
            </a:pPr>
            <a:r>
              <a:rPr lang="en-GB" dirty="0"/>
              <a:t>We often use the present perfect with </a:t>
            </a:r>
            <a:r>
              <a:rPr lang="en-GB" b="1" dirty="0"/>
              <a:t>time adverbials </a:t>
            </a:r>
            <a:r>
              <a:rPr lang="en-GB" dirty="0"/>
              <a:t>which refer to the </a:t>
            </a:r>
            <a:r>
              <a:rPr lang="en-GB" b="1" dirty="0"/>
              <a:t>recent past</a:t>
            </a:r>
            <a:r>
              <a:rPr lang="en-GB" dirty="0"/>
              <a:t>:</a:t>
            </a:r>
          </a:p>
          <a:p>
            <a:r>
              <a:rPr lang="en-GB" b="1" i="1" dirty="0"/>
              <a:t>just; only just; recently</a:t>
            </a:r>
            <a:r>
              <a:rPr lang="en-GB" dirty="0"/>
              <a:t>;</a:t>
            </a:r>
          </a:p>
          <a:p>
            <a:r>
              <a:rPr lang="en-GB" dirty="0"/>
              <a:t>Scientists </a:t>
            </a:r>
            <a:r>
              <a:rPr lang="en-GB" b="1" dirty="0"/>
              <a:t>have </a:t>
            </a:r>
            <a:r>
              <a:rPr lang="en-GB" b="1" u="sng" dirty="0"/>
              <a:t>recently</a:t>
            </a:r>
            <a:r>
              <a:rPr lang="en-GB" b="1" dirty="0"/>
              <a:t> discovered</a:t>
            </a:r>
            <a:r>
              <a:rPr lang="en-GB" dirty="0"/>
              <a:t> a new breed of monkey. </a:t>
            </a:r>
            <a:br>
              <a:rPr lang="en-GB" dirty="0"/>
            </a:br>
            <a:r>
              <a:rPr lang="en-GB" dirty="0"/>
              <a:t>We </a:t>
            </a:r>
            <a:r>
              <a:rPr lang="en-GB" b="1" dirty="0"/>
              <a:t>have </a:t>
            </a:r>
            <a:r>
              <a:rPr lang="en-GB" b="1" u="sng" dirty="0"/>
              <a:t>just</a:t>
            </a:r>
            <a:r>
              <a:rPr lang="en-GB" b="1" dirty="0"/>
              <a:t> got</a:t>
            </a:r>
            <a:r>
              <a:rPr lang="en-GB" dirty="0"/>
              <a:t> back from our holidays.</a:t>
            </a:r>
          </a:p>
          <a:p>
            <a:pPr marL="0" indent="0">
              <a:buNone/>
            </a:pPr>
            <a:endParaRPr lang="en-GB" dirty="0"/>
          </a:p>
          <a:p>
            <a:pPr marL="0" indent="0">
              <a:buNone/>
            </a:pPr>
            <a:r>
              <a:rPr lang="en-GB" dirty="0"/>
              <a:t>or adverbials which </a:t>
            </a:r>
            <a:r>
              <a:rPr lang="en-GB" b="1" dirty="0"/>
              <a:t>include the present</a:t>
            </a:r>
            <a:r>
              <a:rPr lang="en-GB" dirty="0"/>
              <a:t>:</a:t>
            </a:r>
          </a:p>
          <a:p>
            <a:r>
              <a:rPr lang="en-GB" b="1" i="1" dirty="0"/>
              <a:t>ever </a:t>
            </a:r>
            <a:r>
              <a:rPr lang="en-GB" dirty="0"/>
              <a:t>(in questions); </a:t>
            </a:r>
            <a:r>
              <a:rPr lang="en-GB" b="1" i="1" dirty="0"/>
              <a:t>so far</a:t>
            </a:r>
            <a:r>
              <a:rPr lang="en-GB" dirty="0"/>
              <a:t>; </a:t>
            </a:r>
            <a:r>
              <a:rPr lang="en-GB" b="1" i="1" dirty="0"/>
              <a:t>until now</a:t>
            </a:r>
            <a:r>
              <a:rPr lang="en-GB" dirty="0"/>
              <a:t>; </a:t>
            </a:r>
            <a:r>
              <a:rPr lang="en-GB" b="1" i="1" dirty="0"/>
              <a:t>up to now</a:t>
            </a:r>
            <a:r>
              <a:rPr lang="en-GB" dirty="0"/>
              <a:t>; </a:t>
            </a:r>
            <a:r>
              <a:rPr lang="en-GB" b="1" i="1" dirty="0"/>
              <a:t>yet</a:t>
            </a:r>
            <a:r>
              <a:rPr lang="en-GB" dirty="0"/>
              <a:t> (in questions and negatives)</a:t>
            </a:r>
          </a:p>
          <a:p>
            <a:r>
              <a:rPr lang="en-GB" b="1" dirty="0"/>
              <a:t>Have you </a:t>
            </a:r>
            <a:r>
              <a:rPr lang="en-GB" u="sng" dirty="0"/>
              <a:t>ever</a:t>
            </a:r>
            <a:r>
              <a:rPr lang="en-GB" b="1" dirty="0"/>
              <a:t> seen</a:t>
            </a:r>
            <a:r>
              <a:rPr lang="en-GB" dirty="0"/>
              <a:t> a ghost?</a:t>
            </a:r>
            <a:br>
              <a:rPr lang="en-GB" dirty="0"/>
            </a:br>
            <a:r>
              <a:rPr lang="en-GB" b="1" dirty="0"/>
              <a:t>Where have you been</a:t>
            </a:r>
            <a:r>
              <a:rPr lang="en-GB" dirty="0"/>
              <a:t> </a:t>
            </a:r>
            <a:r>
              <a:rPr lang="en-GB" u="sng" dirty="0"/>
              <a:t>up to now</a:t>
            </a:r>
            <a:r>
              <a:rPr lang="en-GB" dirty="0"/>
              <a:t>?</a:t>
            </a:r>
            <a:br>
              <a:rPr lang="en-GB" dirty="0"/>
            </a:br>
            <a:r>
              <a:rPr lang="en-GB" b="1" dirty="0"/>
              <a:t>Have you finished</a:t>
            </a:r>
            <a:r>
              <a:rPr lang="en-GB" dirty="0"/>
              <a:t> your homework </a:t>
            </a:r>
            <a:r>
              <a:rPr lang="en-GB" u="sng" dirty="0"/>
              <a:t>yet</a:t>
            </a:r>
            <a:r>
              <a:rPr lang="en-GB" dirty="0"/>
              <a:t>?</a:t>
            </a:r>
            <a:br>
              <a:rPr lang="en-GB" dirty="0"/>
            </a:br>
            <a:r>
              <a:rPr lang="en-GB" dirty="0"/>
              <a:t>No, </a:t>
            </a:r>
            <a:r>
              <a:rPr lang="en-GB" u="sng" dirty="0"/>
              <a:t>so far</a:t>
            </a:r>
            <a:r>
              <a:rPr lang="en-GB" dirty="0"/>
              <a:t> I</a:t>
            </a:r>
            <a:r>
              <a:rPr lang="en-GB" b="1" dirty="0"/>
              <a:t>’ve</a:t>
            </a:r>
            <a:r>
              <a:rPr lang="en-GB" dirty="0"/>
              <a:t> only </a:t>
            </a:r>
            <a:r>
              <a:rPr lang="en-GB" b="1" dirty="0"/>
              <a:t>done</a:t>
            </a:r>
            <a:r>
              <a:rPr lang="en-GB" dirty="0"/>
              <a:t> my history.</a:t>
            </a:r>
          </a:p>
        </p:txBody>
      </p:sp>
    </p:spTree>
    <p:custDataLst>
      <p:tags r:id="rId1"/>
    </p:custDataLst>
    <p:extLst>
      <p:ext uri="{BB962C8B-B14F-4D97-AF65-F5344CB8AC3E}">
        <p14:creationId xmlns:p14="http://schemas.microsoft.com/office/powerpoint/2010/main" val="26160912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418928"/>
          </a:xfrm>
        </p:spPr>
        <p:txBody>
          <a:bodyPr>
            <a:normAutofit fontScale="77500" lnSpcReduction="20000"/>
          </a:bodyPr>
          <a:lstStyle/>
          <a:p>
            <a:pPr marL="0" indent="0">
              <a:buNone/>
            </a:pPr>
            <a:r>
              <a:rPr lang="en-GB" dirty="0"/>
              <a:t>WARNING: </a:t>
            </a:r>
          </a:p>
          <a:p>
            <a:pPr marL="0" indent="0">
              <a:buNone/>
            </a:pPr>
            <a:endParaRPr lang="en-GB" dirty="0"/>
          </a:p>
          <a:p>
            <a:pPr marL="0" indent="0">
              <a:buNone/>
            </a:pPr>
            <a:r>
              <a:rPr lang="en-GB" dirty="0"/>
              <a:t>We do not use the present perfect with an adverbial which refers to past time which is finished: </a:t>
            </a:r>
          </a:p>
          <a:p>
            <a:pPr marL="0" indent="0">
              <a:buNone/>
            </a:pPr>
            <a:endParaRPr lang="en-GB" dirty="0"/>
          </a:p>
          <a:p>
            <a:pPr marL="0" indent="0">
              <a:buNone/>
            </a:pPr>
            <a:r>
              <a:rPr lang="en-GB" dirty="0"/>
              <a:t>I have seen that film yesterday. We have just bought a new car last week.</a:t>
            </a:r>
          </a:p>
          <a:p>
            <a:pPr marL="0" indent="0">
              <a:buNone/>
            </a:pPr>
            <a:endParaRPr lang="en-GB" dirty="0"/>
          </a:p>
          <a:p>
            <a:pPr marL="0" indent="0">
              <a:buNone/>
            </a:pPr>
            <a:r>
              <a:rPr lang="en-GB" dirty="0"/>
              <a:t>When we were children we have been to California. </a:t>
            </a:r>
          </a:p>
          <a:p>
            <a:pPr marL="0" indent="0">
              <a:buNone/>
            </a:pPr>
            <a:endParaRPr lang="en-GB" dirty="0"/>
          </a:p>
          <a:p>
            <a:pPr marL="0" indent="0">
              <a:buNone/>
            </a:pPr>
            <a:r>
              <a:rPr lang="en-GB" dirty="0"/>
              <a:t>But we can use it to refer to a time which is not yet finished: </a:t>
            </a:r>
          </a:p>
          <a:p>
            <a:pPr marL="0" indent="0">
              <a:buNone/>
            </a:pPr>
            <a:endParaRPr lang="en-GB" dirty="0"/>
          </a:p>
          <a:p>
            <a:pPr marL="0" indent="0">
              <a:buNone/>
            </a:pPr>
            <a:r>
              <a:rPr lang="en-GB" dirty="0"/>
              <a:t>Have you seen Helen today? </a:t>
            </a:r>
          </a:p>
          <a:p>
            <a:pPr marL="0" indent="0">
              <a:buNone/>
            </a:pPr>
            <a:endParaRPr lang="en-GB" dirty="0"/>
          </a:p>
          <a:p>
            <a:pPr marL="0" indent="0">
              <a:buNone/>
            </a:pPr>
            <a:r>
              <a:rPr lang="en-GB" dirty="0"/>
              <a:t>We have bought a new car this week. </a:t>
            </a:r>
          </a:p>
        </p:txBody>
      </p:sp>
    </p:spTree>
    <p:custDataLst>
      <p:tags r:id="rId1"/>
    </p:custDataLst>
    <p:extLst>
      <p:ext uri="{BB962C8B-B14F-4D97-AF65-F5344CB8AC3E}">
        <p14:creationId xmlns:p14="http://schemas.microsoft.com/office/powerpoint/2010/main" val="18328265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Past perfect</a:t>
            </a:r>
          </a:p>
        </p:txBody>
      </p:sp>
      <p:sp>
        <p:nvSpPr>
          <p:cNvPr id="3" name="Content Placeholder 2"/>
          <p:cNvSpPr>
            <a:spLocks noGrp="1"/>
          </p:cNvSpPr>
          <p:nvPr>
            <p:ph idx="1"/>
          </p:nvPr>
        </p:nvSpPr>
        <p:spPr>
          <a:xfrm>
            <a:off x="502920" y="530352"/>
            <a:ext cx="8183880" cy="4842864"/>
          </a:xfrm>
        </p:spPr>
        <p:txBody>
          <a:bodyPr>
            <a:normAutofit fontScale="77500" lnSpcReduction="20000"/>
          </a:bodyPr>
          <a:lstStyle/>
          <a:p>
            <a:pPr marL="0" indent="0">
              <a:buNone/>
            </a:pPr>
            <a:r>
              <a:rPr lang="en-GB" dirty="0"/>
              <a:t>When we talk about something that happened in the past we sometimes want to refer back to something that happened before that time. We can use the </a:t>
            </a:r>
            <a:r>
              <a:rPr lang="en-GB" b="1" dirty="0"/>
              <a:t>past perfect </a:t>
            </a:r>
            <a:r>
              <a:rPr lang="en-GB" dirty="0"/>
              <a:t>tense (</a:t>
            </a:r>
            <a:r>
              <a:rPr lang="en-GB" b="1" dirty="0"/>
              <a:t>had + past participle</a:t>
            </a:r>
            <a:r>
              <a:rPr lang="en-GB" dirty="0"/>
              <a:t>) to do this.</a:t>
            </a:r>
          </a:p>
          <a:p>
            <a:pPr marL="0" indent="0">
              <a:buNone/>
            </a:pPr>
            <a:br>
              <a:rPr lang="en-GB" dirty="0"/>
            </a:br>
            <a:r>
              <a:rPr lang="en-GB" dirty="0"/>
              <a:t>Look at these two sentences.</a:t>
            </a:r>
          </a:p>
          <a:p>
            <a:pPr marL="0" indent="0">
              <a:buNone/>
            </a:pPr>
            <a:endParaRPr lang="en-GB" i="1" dirty="0"/>
          </a:p>
          <a:p>
            <a:pPr marL="0" indent="0">
              <a:buNone/>
            </a:pPr>
            <a:r>
              <a:rPr lang="en-GB" i="1" dirty="0"/>
              <a:t>John left the house at 7:30 yesterday morning.</a:t>
            </a:r>
            <a:endParaRPr lang="en-GB" dirty="0"/>
          </a:p>
          <a:p>
            <a:pPr marL="0" indent="0">
              <a:buNone/>
            </a:pPr>
            <a:r>
              <a:rPr lang="en-GB" i="1" dirty="0"/>
              <a:t>Mary rang John’s doorbell at 8:15 yesterday.</a:t>
            </a:r>
          </a:p>
          <a:p>
            <a:pPr marL="0" indent="0">
              <a:buNone/>
            </a:pPr>
            <a:endParaRPr lang="en-GB" dirty="0"/>
          </a:p>
          <a:p>
            <a:pPr marL="0" indent="0">
              <a:buNone/>
            </a:pPr>
            <a:r>
              <a:rPr lang="en-GB" dirty="0"/>
              <a:t>Both actions happened in the past so we use the </a:t>
            </a:r>
            <a:r>
              <a:rPr lang="en-GB" b="1" dirty="0"/>
              <a:t>past simple</a:t>
            </a:r>
            <a:r>
              <a:rPr lang="en-GB" dirty="0"/>
              <a:t> tense. But look at how we can combine the sentences.</a:t>
            </a:r>
          </a:p>
          <a:p>
            <a:pPr marL="0" indent="0">
              <a:buNone/>
            </a:pPr>
            <a:endParaRPr lang="en-GB" dirty="0"/>
          </a:p>
          <a:p>
            <a:pPr marL="0" indent="0">
              <a:buNone/>
            </a:pPr>
            <a:r>
              <a:rPr lang="en-GB" i="1" dirty="0"/>
              <a:t>Mary rang John’s doorbell at 8:15 yesterday but John had already left the house.</a:t>
            </a:r>
            <a:endParaRPr lang="en-GB" dirty="0"/>
          </a:p>
        </p:txBody>
      </p:sp>
    </p:spTree>
    <p:custDataLst>
      <p:tags r:id="rId1"/>
    </p:custDataLst>
    <p:extLst>
      <p:ext uri="{BB962C8B-B14F-4D97-AF65-F5344CB8AC3E}">
        <p14:creationId xmlns:p14="http://schemas.microsoft.com/office/powerpoint/2010/main" val="14774563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634952"/>
          </a:xfrm>
        </p:spPr>
        <p:txBody>
          <a:bodyPr>
            <a:normAutofit fontScale="70000" lnSpcReduction="20000"/>
          </a:bodyPr>
          <a:lstStyle/>
          <a:p>
            <a:pPr marL="0" indent="0">
              <a:buNone/>
            </a:pPr>
            <a:r>
              <a:rPr lang="en-GB" dirty="0"/>
              <a:t>We use the past perfect (had left) because the action happened before another action in the past (Mary rang the doorbell.) </a:t>
            </a:r>
          </a:p>
          <a:p>
            <a:pPr marL="0" indent="0">
              <a:buNone/>
            </a:pPr>
            <a:endParaRPr lang="en-GB" dirty="0"/>
          </a:p>
          <a:p>
            <a:pPr marL="0" indent="0">
              <a:buNone/>
            </a:pPr>
            <a:r>
              <a:rPr lang="en-GB" dirty="0"/>
              <a:t>Look at some more examples of the past perfect. </a:t>
            </a:r>
          </a:p>
          <a:p>
            <a:pPr marL="0" indent="0">
              <a:buNone/>
            </a:pPr>
            <a:endParaRPr lang="en-GB" dirty="0"/>
          </a:p>
          <a:p>
            <a:pPr marL="0" indent="0">
              <a:buNone/>
            </a:pPr>
            <a:r>
              <a:rPr lang="en-GB" dirty="0"/>
              <a:t>When Mrs Brown opened the washing machine she realised she had washed the cat. </a:t>
            </a:r>
          </a:p>
          <a:p>
            <a:pPr marL="0" indent="0">
              <a:buNone/>
            </a:pPr>
            <a:r>
              <a:rPr lang="en-GB" dirty="0"/>
              <a:t>I got a letter from Jim last week. We’d been at school together but we’d lost touch with each other. </a:t>
            </a:r>
          </a:p>
          <a:p>
            <a:pPr marL="0" indent="0">
              <a:buNone/>
            </a:pPr>
            <a:endParaRPr lang="en-GB" dirty="0"/>
          </a:p>
          <a:p>
            <a:pPr marL="0" indent="0">
              <a:buNone/>
            </a:pPr>
            <a:r>
              <a:rPr lang="en-GB" dirty="0"/>
              <a:t>The past perfect is used because they were at school before he received the letter. It refers to an earlier past. </a:t>
            </a:r>
          </a:p>
          <a:p>
            <a:pPr marL="0" indent="0">
              <a:buNone/>
            </a:pPr>
            <a:r>
              <a:rPr lang="en-GB" dirty="0"/>
              <a:t>Look at these 2 sentences. </a:t>
            </a:r>
          </a:p>
          <a:p>
            <a:pPr marL="0" indent="0">
              <a:buNone/>
            </a:pPr>
            <a:r>
              <a:rPr lang="en-GB" dirty="0"/>
              <a:t>James had cooked breakfast when we got up. </a:t>
            </a:r>
          </a:p>
          <a:p>
            <a:pPr marL="0" indent="0">
              <a:buNone/>
            </a:pPr>
            <a:r>
              <a:rPr lang="en-GB" dirty="0"/>
              <a:t>James cooked breakfast when we got up. </a:t>
            </a:r>
          </a:p>
          <a:p>
            <a:pPr marL="0" indent="0">
              <a:buNone/>
            </a:pPr>
            <a:endParaRPr lang="en-GB" dirty="0"/>
          </a:p>
          <a:p>
            <a:pPr marL="0" indent="0">
              <a:buNone/>
            </a:pPr>
            <a:r>
              <a:rPr lang="en-GB" dirty="0"/>
              <a:t>In the first sentence, the past perfect tells us that James cooked breakfast before we got up. In the second sentence, first we got up and then James cooked breakfast.</a:t>
            </a:r>
          </a:p>
        </p:txBody>
      </p:sp>
    </p:spTree>
    <p:custDataLst>
      <p:tags r:id="rId1"/>
    </p:custDataLst>
    <p:extLst>
      <p:ext uri="{BB962C8B-B14F-4D97-AF65-F5344CB8AC3E}">
        <p14:creationId xmlns:p14="http://schemas.microsoft.com/office/powerpoint/2010/main" val="27385079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Past perfect continuous</a:t>
            </a:r>
          </a:p>
        </p:txBody>
      </p:sp>
      <p:sp>
        <p:nvSpPr>
          <p:cNvPr id="3" name="Content Placeholder 2"/>
          <p:cNvSpPr>
            <a:spLocks noGrp="1"/>
          </p:cNvSpPr>
          <p:nvPr>
            <p:ph idx="1"/>
          </p:nvPr>
        </p:nvSpPr>
        <p:spPr>
          <a:xfrm>
            <a:off x="502920" y="530352"/>
            <a:ext cx="8183880" cy="4626840"/>
          </a:xfrm>
        </p:spPr>
        <p:txBody>
          <a:bodyPr>
            <a:normAutofit fontScale="62500" lnSpcReduction="20000"/>
          </a:bodyPr>
          <a:lstStyle/>
          <a:p>
            <a:pPr marL="0" indent="0">
              <a:buNone/>
            </a:pPr>
            <a:r>
              <a:rPr lang="en-GB" dirty="0"/>
              <a:t>Past perfect continuous </a:t>
            </a:r>
          </a:p>
          <a:p>
            <a:pPr marL="0" indent="0">
              <a:buNone/>
            </a:pPr>
            <a:endParaRPr lang="en-GB" dirty="0"/>
          </a:p>
          <a:p>
            <a:pPr marL="0" indent="0">
              <a:buNone/>
            </a:pPr>
            <a:r>
              <a:rPr lang="en-GB" dirty="0"/>
              <a:t>The past perfect can also be used in the continuous. I realised I had been working too hard so I decided to have a holiday. </a:t>
            </a:r>
          </a:p>
          <a:p>
            <a:pPr marL="0" indent="0">
              <a:buNone/>
            </a:pPr>
            <a:endParaRPr lang="en-GB" dirty="0"/>
          </a:p>
          <a:p>
            <a:pPr marL="0" indent="0">
              <a:buNone/>
            </a:pPr>
            <a:r>
              <a:rPr lang="en-GB" dirty="0"/>
              <a:t>By the time Jane arrived we had been waiting for 3 hours. </a:t>
            </a:r>
          </a:p>
          <a:p>
            <a:pPr marL="0" indent="0">
              <a:buNone/>
            </a:pPr>
            <a:endParaRPr lang="en-GB" dirty="0"/>
          </a:p>
          <a:p>
            <a:pPr marL="0" indent="0">
              <a:buNone/>
            </a:pPr>
            <a:r>
              <a:rPr lang="en-GB" dirty="0"/>
              <a:t>NOTE The most common mistake with the past perfect is to overuse it or to use it simply because we are talking about a time in the distant past. </a:t>
            </a:r>
          </a:p>
          <a:p>
            <a:pPr marL="0" indent="0">
              <a:buNone/>
            </a:pPr>
            <a:endParaRPr lang="en-GB" dirty="0"/>
          </a:p>
          <a:p>
            <a:pPr marL="0" indent="0">
              <a:buNone/>
            </a:pPr>
            <a:r>
              <a:rPr lang="en-GB" dirty="0"/>
              <a:t>The Romans had spoken Latin.</a:t>
            </a:r>
          </a:p>
          <a:p>
            <a:pPr marL="0" indent="0">
              <a:buNone/>
            </a:pPr>
            <a:endParaRPr lang="en-GB" dirty="0"/>
          </a:p>
          <a:p>
            <a:pPr marL="0" indent="0">
              <a:buNone/>
            </a:pPr>
            <a:r>
              <a:rPr lang="en-GB" dirty="0"/>
              <a:t>Remember that we only use the past perfect when we want to refer to a past that is earlier than another time in the narrative. </a:t>
            </a:r>
          </a:p>
        </p:txBody>
      </p:sp>
    </p:spTree>
    <p:custDataLst>
      <p:tags r:id="rId1"/>
    </p:custDataLst>
    <p:extLst>
      <p:ext uri="{BB962C8B-B14F-4D97-AF65-F5344CB8AC3E}">
        <p14:creationId xmlns:p14="http://schemas.microsoft.com/office/powerpoint/2010/main" val="31751873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Future perfect</a:t>
            </a:r>
          </a:p>
        </p:txBody>
      </p:sp>
      <p:sp>
        <p:nvSpPr>
          <p:cNvPr id="3" name="Content Placeholder 2"/>
          <p:cNvSpPr>
            <a:spLocks noGrp="1"/>
          </p:cNvSpPr>
          <p:nvPr>
            <p:ph idx="1"/>
          </p:nvPr>
        </p:nvSpPr>
        <p:spPr>
          <a:xfrm>
            <a:off x="502920" y="530352"/>
            <a:ext cx="8183880" cy="4842864"/>
          </a:xfrm>
        </p:spPr>
        <p:txBody>
          <a:bodyPr>
            <a:normAutofit fontScale="85000" lnSpcReduction="20000"/>
          </a:bodyPr>
          <a:lstStyle/>
          <a:p>
            <a:pPr marL="0" indent="0">
              <a:buNone/>
            </a:pPr>
            <a:r>
              <a:rPr lang="en-GB" dirty="0"/>
              <a:t>Future Perfect has two different forms: </a:t>
            </a:r>
          </a:p>
          <a:p>
            <a:pPr marL="0" indent="0">
              <a:buNone/>
            </a:pPr>
            <a:r>
              <a:rPr lang="en-GB" dirty="0"/>
              <a:t>"</a:t>
            </a:r>
            <a:r>
              <a:rPr lang="en-GB" sz="2400" i="1" dirty="0"/>
              <a:t>will have done</a:t>
            </a:r>
            <a:r>
              <a:rPr lang="en-GB" dirty="0"/>
              <a:t>" and "</a:t>
            </a:r>
            <a:r>
              <a:rPr lang="en-GB" sz="2400" i="1" dirty="0"/>
              <a:t>be going to have done.“</a:t>
            </a:r>
          </a:p>
          <a:p>
            <a:pPr marL="0" indent="0">
              <a:buNone/>
            </a:pPr>
            <a:endParaRPr lang="en-GB" sz="2400" i="1" dirty="0"/>
          </a:p>
          <a:p>
            <a:pPr marL="0" indent="0">
              <a:buNone/>
            </a:pPr>
            <a:r>
              <a:rPr lang="en-GB" sz="2400" b="1" dirty="0"/>
              <a:t>FORM Future Perfect with "Be Going To"</a:t>
            </a:r>
          </a:p>
          <a:p>
            <a:r>
              <a:rPr lang="en-GB" sz="2400" dirty="0"/>
              <a:t>[am/is/are + going to have + past participle]</a:t>
            </a:r>
          </a:p>
          <a:p>
            <a:endParaRPr lang="en-GB" sz="2400" dirty="0"/>
          </a:p>
          <a:p>
            <a:pPr marL="0" indent="0">
              <a:buNone/>
            </a:pPr>
            <a:r>
              <a:rPr lang="en-GB" sz="2400" dirty="0"/>
              <a:t>Examples:</a:t>
            </a:r>
          </a:p>
          <a:p>
            <a:r>
              <a:rPr lang="en-GB" sz="2400" dirty="0"/>
              <a:t>You </a:t>
            </a:r>
            <a:r>
              <a:rPr lang="en-GB" sz="2400" b="1" dirty="0"/>
              <a:t>are going to have perfected</a:t>
            </a:r>
            <a:r>
              <a:rPr lang="en-GB" sz="2400" dirty="0"/>
              <a:t> your English by the time you come back from the U.S.</a:t>
            </a:r>
          </a:p>
          <a:p>
            <a:r>
              <a:rPr lang="en-GB" sz="2400" b="1" dirty="0"/>
              <a:t>Are</a:t>
            </a:r>
            <a:r>
              <a:rPr lang="en-GB" sz="2400" dirty="0"/>
              <a:t> you </a:t>
            </a:r>
            <a:r>
              <a:rPr lang="en-GB" sz="2400" b="1" dirty="0"/>
              <a:t>going to have perfected</a:t>
            </a:r>
            <a:r>
              <a:rPr lang="en-GB" sz="2400" dirty="0"/>
              <a:t> your English by the time you come back from the U.S.?</a:t>
            </a:r>
          </a:p>
          <a:p>
            <a:r>
              <a:rPr lang="en-GB" sz="2400" dirty="0"/>
              <a:t>You </a:t>
            </a:r>
            <a:r>
              <a:rPr lang="en-GB" sz="2400" b="1" dirty="0"/>
              <a:t>are not going to have perfected</a:t>
            </a:r>
            <a:r>
              <a:rPr lang="en-GB" sz="2400" dirty="0"/>
              <a:t> your English by the time you come back from the U.S.</a:t>
            </a:r>
          </a:p>
          <a:p>
            <a:pPr marL="0" indent="0">
              <a:buNone/>
            </a:pPr>
            <a:endParaRPr lang="en-GB" sz="2400" dirty="0"/>
          </a:p>
          <a:p>
            <a:pPr marL="0" indent="0">
              <a:buNone/>
            </a:pPr>
            <a:r>
              <a:rPr lang="en-GB" sz="2400" dirty="0"/>
              <a:t>NOTE: It is possible to use either "will" or "be going to" to create the Future Perfect with little or no difference in meaning.</a:t>
            </a:r>
          </a:p>
          <a:p>
            <a:pPr marL="0" indent="0">
              <a:buNone/>
            </a:pPr>
            <a:endParaRPr lang="en-GB" sz="2400" i="1" dirty="0"/>
          </a:p>
        </p:txBody>
      </p:sp>
    </p:spTree>
    <p:custDataLst>
      <p:tags r:id="rId1"/>
    </p:custDataLst>
    <p:extLst>
      <p:ext uri="{BB962C8B-B14F-4D97-AF65-F5344CB8AC3E}">
        <p14:creationId xmlns:p14="http://schemas.microsoft.com/office/powerpoint/2010/main" val="37382179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6944" y="5517232"/>
            <a:ext cx="3414808" cy="10256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p:cNvSpPr>
            <a:spLocks noGrp="1"/>
          </p:cNvSpPr>
          <p:nvPr>
            <p:ph idx="1"/>
          </p:nvPr>
        </p:nvSpPr>
        <p:spPr>
          <a:xfrm>
            <a:off x="502920" y="530352"/>
            <a:ext cx="8183880" cy="5346920"/>
          </a:xfrm>
        </p:spPr>
        <p:txBody>
          <a:bodyPr>
            <a:normAutofit fontScale="55000" lnSpcReduction="20000"/>
          </a:bodyPr>
          <a:lstStyle/>
          <a:p>
            <a:pPr marL="0" indent="0">
              <a:buNone/>
            </a:pPr>
            <a:r>
              <a:rPr lang="en-GB" b="1" dirty="0"/>
              <a:t>Completed Action Before Something in the Future</a:t>
            </a:r>
          </a:p>
          <a:p>
            <a:pPr marL="0" indent="0">
              <a:buNone/>
            </a:pPr>
            <a:endParaRPr lang="en-GB" dirty="0"/>
          </a:p>
          <a:p>
            <a:pPr marL="0" indent="0">
              <a:buNone/>
            </a:pPr>
            <a:r>
              <a:rPr lang="en-GB" dirty="0"/>
              <a:t>The Future Perfect expresses the idea that something will occur before another action in the future. It can also show that something will happen before a specific time in the future.</a:t>
            </a:r>
          </a:p>
          <a:p>
            <a:pPr marL="0" indent="0">
              <a:buNone/>
            </a:pPr>
            <a:endParaRPr lang="en-GB" dirty="0"/>
          </a:p>
          <a:p>
            <a:pPr marL="0" indent="0">
              <a:buNone/>
            </a:pPr>
            <a:r>
              <a:rPr lang="en-GB" dirty="0"/>
              <a:t>Examples:</a:t>
            </a:r>
          </a:p>
          <a:p>
            <a:r>
              <a:rPr lang="en-GB" dirty="0"/>
              <a:t>By next November, I </a:t>
            </a:r>
            <a:r>
              <a:rPr lang="en-GB" b="1" dirty="0"/>
              <a:t>will have received</a:t>
            </a:r>
            <a:r>
              <a:rPr lang="en-GB" dirty="0"/>
              <a:t> my promotion.</a:t>
            </a:r>
          </a:p>
          <a:p>
            <a:r>
              <a:rPr lang="en-GB" dirty="0"/>
              <a:t>By the time he </a:t>
            </a:r>
            <a:r>
              <a:rPr lang="en-GB" i="1" dirty="0"/>
              <a:t>gets</a:t>
            </a:r>
            <a:r>
              <a:rPr lang="en-GB" dirty="0"/>
              <a:t> home, she </a:t>
            </a:r>
            <a:r>
              <a:rPr lang="en-GB" b="1" dirty="0"/>
              <a:t>is going to have cleaned</a:t>
            </a:r>
            <a:r>
              <a:rPr lang="en-GB" dirty="0"/>
              <a:t> the entire house.</a:t>
            </a:r>
          </a:p>
          <a:p>
            <a:r>
              <a:rPr lang="en-GB" dirty="0"/>
              <a:t>I </a:t>
            </a:r>
            <a:r>
              <a:rPr lang="en-GB" b="1" dirty="0"/>
              <a:t>am not going to have finished</a:t>
            </a:r>
            <a:r>
              <a:rPr lang="en-GB" dirty="0"/>
              <a:t> this test by 3 o'clock.</a:t>
            </a:r>
          </a:p>
          <a:p>
            <a:r>
              <a:rPr lang="en-GB" b="1" dirty="0"/>
              <a:t>Will</a:t>
            </a:r>
            <a:r>
              <a:rPr lang="en-GB" dirty="0"/>
              <a:t> she </a:t>
            </a:r>
            <a:r>
              <a:rPr lang="en-GB" b="1" dirty="0"/>
              <a:t>have learned</a:t>
            </a:r>
            <a:r>
              <a:rPr lang="en-GB" dirty="0"/>
              <a:t> enough Chinese to communicate before she </a:t>
            </a:r>
            <a:r>
              <a:rPr lang="en-GB" i="1" dirty="0"/>
              <a:t>moves</a:t>
            </a:r>
            <a:r>
              <a:rPr lang="en-GB" dirty="0"/>
              <a:t> to Beijing?</a:t>
            </a:r>
          </a:p>
          <a:p>
            <a:r>
              <a:rPr lang="en-GB" dirty="0"/>
              <a:t>Sam </a:t>
            </a:r>
            <a:r>
              <a:rPr lang="en-GB" b="1" dirty="0"/>
              <a:t>is</a:t>
            </a:r>
            <a:r>
              <a:rPr lang="en-GB" dirty="0"/>
              <a:t> probably </a:t>
            </a:r>
            <a:r>
              <a:rPr lang="en-GB" b="1" dirty="0"/>
              <a:t>going to have completed</a:t>
            </a:r>
            <a:r>
              <a:rPr lang="en-GB" dirty="0"/>
              <a:t> the proposal by the time he </a:t>
            </a:r>
            <a:r>
              <a:rPr lang="en-GB" i="1" dirty="0"/>
              <a:t>leaves</a:t>
            </a:r>
            <a:r>
              <a:rPr lang="en-GB" dirty="0"/>
              <a:t> this afternoon.</a:t>
            </a:r>
          </a:p>
          <a:p>
            <a:r>
              <a:rPr lang="en-GB" dirty="0"/>
              <a:t>By the time I </a:t>
            </a:r>
            <a:r>
              <a:rPr lang="en-GB" i="1" dirty="0"/>
              <a:t>finish</a:t>
            </a:r>
            <a:r>
              <a:rPr lang="en-GB" dirty="0"/>
              <a:t> this course, I </a:t>
            </a:r>
            <a:r>
              <a:rPr lang="en-GB" b="1" dirty="0"/>
              <a:t>will have taken</a:t>
            </a:r>
            <a:r>
              <a:rPr lang="en-GB" dirty="0"/>
              <a:t> ten tests. </a:t>
            </a:r>
          </a:p>
          <a:p>
            <a:r>
              <a:rPr lang="en-GB" dirty="0"/>
              <a:t>How many countries </a:t>
            </a:r>
            <a:r>
              <a:rPr lang="en-GB" b="1" dirty="0"/>
              <a:t>are</a:t>
            </a:r>
            <a:r>
              <a:rPr lang="en-GB" dirty="0"/>
              <a:t> you </a:t>
            </a:r>
            <a:r>
              <a:rPr lang="en-GB" b="1" dirty="0"/>
              <a:t>going to have visited</a:t>
            </a:r>
            <a:r>
              <a:rPr lang="en-GB" dirty="0"/>
              <a:t> by the time you </a:t>
            </a:r>
            <a:r>
              <a:rPr lang="en-GB" i="1" dirty="0"/>
              <a:t>turn</a:t>
            </a:r>
            <a:r>
              <a:rPr lang="en-GB" dirty="0"/>
              <a:t> 50?</a:t>
            </a:r>
          </a:p>
          <a:p>
            <a:pPr marL="0" indent="0">
              <a:buNone/>
            </a:pPr>
            <a:endParaRPr lang="en-GB" dirty="0"/>
          </a:p>
          <a:p>
            <a:pPr marL="0" indent="0">
              <a:buNone/>
            </a:pPr>
            <a:r>
              <a:rPr lang="en-GB" dirty="0"/>
              <a:t>Notice in the examples above that the reference points (</a:t>
            </a:r>
            <a:r>
              <a:rPr lang="en-GB" i="1" dirty="0"/>
              <a:t>marked in italics</a:t>
            </a:r>
            <a:r>
              <a:rPr lang="en-GB" dirty="0"/>
              <a:t>) are in Simple Present rather than Simple Future. </a:t>
            </a:r>
          </a:p>
          <a:p>
            <a:pPr marL="0" indent="0">
              <a:buNone/>
            </a:pPr>
            <a:r>
              <a:rPr lang="en-GB" dirty="0"/>
              <a:t>This is because the interruptions are in time clauses, and you cannot use future tenses in time clauses.</a:t>
            </a:r>
          </a:p>
          <a:p>
            <a:pPr marL="0" indent="0">
              <a:buNone/>
            </a:pPr>
            <a:endParaRPr lang="en-GB" dirty="0"/>
          </a:p>
        </p:txBody>
      </p:sp>
    </p:spTree>
    <p:custDataLst>
      <p:tags r:id="rId1"/>
    </p:custDataLst>
    <p:extLst>
      <p:ext uri="{BB962C8B-B14F-4D97-AF65-F5344CB8AC3E}">
        <p14:creationId xmlns:p14="http://schemas.microsoft.com/office/powerpoint/2010/main" val="28983963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502920" y="404664"/>
            <a:ext cx="8173536" cy="5472608"/>
          </a:xfrm>
        </p:spPr>
        <p:txBody>
          <a:bodyPr>
            <a:normAutofit fontScale="55000" lnSpcReduction="20000"/>
          </a:bodyPr>
          <a:lstStyle/>
          <a:p>
            <a:pPr marL="0" indent="0">
              <a:buNone/>
            </a:pPr>
            <a:r>
              <a:rPr lang="en-GB" b="1" dirty="0"/>
              <a:t>Duration Before Something in the Future (Non-Continuous Verbs)</a:t>
            </a:r>
          </a:p>
          <a:p>
            <a:pPr marL="0" indent="0">
              <a:buNone/>
            </a:pPr>
            <a:endParaRPr lang="en-GB" dirty="0"/>
          </a:p>
          <a:p>
            <a:pPr marL="0" indent="0">
              <a:buNone/>
            </a:pPr>
            <a:r>
              <a:rPr lang="en-GB" dirty="0"/>
              <a:t>With Non-Continuous Verbs, we use the Future Perfect to show that something will continue up until another action in the future.</a:t>
            </a:r>
          </a:p>
          <a:p>
            <a:pPr marL="0" indent="0">
              <a:buNone/>
            </a:pPr>
            <a:endParaRPr lang="en-GB" dirty="0"/>
          </a:p>
          <a:p>
            <a:pPr marL="0" indent="0">
              <a:buNone/>
            </a:pPr>
            <a:r>
              <a:rPr lang="en-GB" dirty="0"/>
              <a:t>Examples:</a:t>
            </a:r>
          </a:p>
          <a:p>
            <a:r>
              <a:rPr lang="en-GB" dirty="0"/>
              <a:t>I </a:t>
            </a:r>
            <a:r>
              <a:rPr lang="en-GB" b="1" dirty="0"/>
              <a:t>will have been</a:t>
            </a:r>
            <a:r>
              <a:rPr lang="en-GB" dirty="0"/>
              <a:t> in London for six months by the time I leave.</a:t>
            </a:r>
          </a:p>
          <a:p>
            <a:r>
              <a:rPr lang="en-GB" dirty="0"/>
              <a:t>By Monday, Susan </a:t>
            </a:r>
            <a:r>
              <a:rPr lang="en-GB" b="1" dirty="0"/>
              <a:t>is going to have had</a:t>
            </a:r>
            <a:r>
              <a:rPr lang="en-GB" dirty="0"/>
              <a:t> my book for a week.</a:t>
            </a:r>
          </a:p>
          <a:p>
            <a:pPr marL="0" indent="0">
              <a:buNone/>
            </a:pPr>
            <a:endParaRPr lang="en-GB" dirty="0"/>
          </a:p>
          <a:p>
            <a:pPr marL="0" indent="0">
              <a:buNone/>
            </a:pPr>
            <a:r>
              <a:rPr lang="en-GB" dirty="0"/>
              <a:t>Although the above use of Future Perfect is normally limited to Non-Continuous Verbs and non-continuous uses of Mixed Verbs, the words "live," "work," "teach," and "study" are sometimes used in this way even though they are NOT Non-Continuous Verbs.</a:t>
            </a:r>
          </a:p>
          <a:p>
            <a:pPr marL="0" indent="0">
              <a:buNone/>
            </a:pPr>
            <a:endParaRPr lang="en-GB" b="1" dirty="0"/>
          </a:p>
          <a:p>
            <a:pPr marL="0" indent="0">
              <a:buNone/>
            </a:pPr>
            <a:r>
              <a:rPr lang="en-GB" b="1" dirty="0"/>
              <a:t>REMEMBER No Future in Time Clauses</a:t>
            </a:r>
          </a:p>
          <a:p>
            <a:pPr marL="0" indent="0">
              <a:buNone/>
            </a:pPr>
            <a:endParaRPr lang="en-GB" dirty="0"/>
          </a:p>
          <a:p>
            <a:pPr marL="0" indent="0">
              <a:buNone/>
            </a:pPr>
            <a:r>
              <a:rPr lang="en-GB" dirty="0"/>
              <a:t>Like all future forms, the Future Perfect cannot be used in clauses beginning with time expressions such as: when, while, before, after, by the time, as soon as, if, unless, etc. Instead of Future Perfect, </a:t>
            </a:r>
            <a:r>
              <a:rPr lang="en-GB" dirty="0">
                <a:hlinkClick r:id="rId3" action="ppaction://hlinkfile"/>
              </a:rPr>
              <a:t>Present Perfect</a:t>
            </a:r>
            <a:r>
              <a:rPr lang="en-GB" dirty="0"/>
              <a:t> is used. </a:t>
            </a:r>
          </a:p>
          <a:p>
            <a:pPr marL="0" indent="0">
              <a:buNone/>
            </a:pPr>
            <a:endParaRPr lang="en-GB" dirty="0"/>
          </a:p>
          <a:p>
            <a:pPr marL="0" indent="0">
              <a:buNone/>
            </a:pPr>
            <a:r>
              <a:rPr lang="en-GB" dirty="0"/>
              <a:t>Examples:</a:t>
            </a:r>
          </a:p>
          <a:p>
            <a:r>
              <a:rPr lang="en-GB" b="1" dirty="0">
                <a:solidFill>
                  <a:srgbClr val="FF0000"/>
                </a:solidFill>
              </a:rPr>
              <a:t>I am going to see a movie when I will have finished my homework. </a:t>
            </a:r>
            <a:r>
              <a:rPr lang="en-GB" b="1" i="1" dirty="0">
                <a:solidFill>
                  <a:srgbClr val="FF0000"/>
                </a:solidFill>
              </a:rPr>
              <a:t>Not Correct</a:t>
            </a:r>
            <a:endParaRPr lang="en-GB" b="1" dirty="0">
              <a:solidFill>
                <a:srgbClr val="FF0000"/>
              </a:solidFill>
            </a:endParaRPr>
          </a:p>
          <a:p>
            <a:r>
              <a:rPr lang="en-GB" b="1" dirty="0">
                <a:solidFill>
                  <a:srgbClr val="00B050"/>
                </a:solidFill>
              </a:rPr>
              <a:t>I am going to see a movie when I have finished my homework. </a:t>
            </a:r>
            <a:r>
              <a:rPr lang="en-GB" b="1" i="1" dirty="0">
                <a:solidFill>
                  <a:srgbClr val="00B050"/>
                </a:solidFill>
              </a:rPr>
              <a:t>Correct</a:t>
            </a:r>
            <a:endParaRPr lang="en-GB" b="1" dirty="0">
              <a:solidFill>
                <a:srgbClr val="00B050"/>
              </a:solidFill>
            </a:endParaRPr>
          </a:p>
          <a:p>
            <a:pPr marL="0" indent="0">
              <a:buNone/>
            </a:pPr>
            <a:endParaRPr lang="en-GB" dirty="0"/>
          </a:p>
        </p:txBody>
      </p:sp>
    </p:spTree>
    <p:custDataLst>
      <p:tags r:id="rId1"/>
    </p:custDataLst>
    <p:extLst>
      <p:ext uri="{BB962C8B-B14F-4D97-AF65-F5344CB8AC3E}">
        <p14:creationId xmlns:p14="http://schemas.microsoft.com/office/powerpoint/2010/main" val="12393458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2.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3.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4.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5.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6.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7.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8.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9.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10.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11.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12.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13.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14.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15.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16.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17.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18.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19.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20.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21.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22.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23.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24.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25.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26.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27.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ags/tag28.xml><?xml version="1.0" encoding="utf-8"?>
<p:tagLst xmlns:a="http://schemas.openxmlformats.org/drawingml/2006/main" xmlns:r="http://schemas.openxmlformats.org/officeDocument/2006/relationships" xmlns:p="http://schemas.openxmlformats.org/presentationml/2006/main">
  <p:tag name="POINTS" val="0"/>
  <p:tag name="TIME" val="15"/>
  <p:tag name="QUESTION"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spect">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spect">
      <a:fillStyleLst>
        <a:solidFill>
          <a:schemeClr val="phClr"/>
        </a:solidFill>
        <a:gradFill rotWithShape="1">
          <a:gsLst>
            <a:gs pos="0">
              <a:schemeClr val="phClr">
                <a:tint val="65000"/>
                <a:satMod val="270000"/>
              </a:schemeClr>
            </a:gs>
            <a:gs pos="25000">
              <a:schemeClr val="phClr">
                <a:tint val="60000"/>
                <a:satMod val="300000"/>
              </a:schemeClr>
            </a:gs>
            <a:gs pos="100000">
              <a:schemeClr val="phClr">
                <a:tint val="29000"/>
                <a:satMod val="400000"/>
              </a:schemeClr>
            </a:gs>
          </a:gsLst>
          <a:lin ang="16200000" scaled="1"/>
        </a:gradFill>
        <a:gradFill rotWithShape="1">
          <a:gsLst>
            <a:gs pos="0">
              <a:schemeClr val="phClr">
                <a:shade val="45000"/>
                <a:satMod val="155000"/>
              </a:schemeClr>
            </a:gs>
            <a:gs pos="60000">
              <a:schemeClr val="phClr">
                <a:shade val="95000"/>
                <a:satMod val="150000"/>
              </a:schemeClr>
            </a:gs>
            <a:gs pos="100000">
              <a:schemeClr val="phClr">
                <a:tint val="87000"/>
                <a:satMod val="250000"/>
              </a:schemeClr>
            </a:gs>
          </a:gsLst>
          <a:lin ang="16200000" scaled="0"/>
        </a:gradFill>
      </a:fillStyleLst>
      <a:lnStyleLst>
        <a:ln w="9525" cap="flat" cmpd="sng" algn="ctr">
          <a:solidFill>
            <a:schemeClr val="phClr">
              <a:satMod val="150000"/>
            </a:schemeClr>
          </a:solidFill>
          <a:prstDash val="solid"/>
        </a:ln>
        <a:ln w="42500" cap="flat" cmpd="sng" algn="ctr">
          <a:solidFill>
            <a:schemeClr val="phClr"/>
          </a:solidFill>
          <a:prstDash val="solid"/>
        </a:ln>
        <a:ln w="38100" cap="flat" cmpd="sng" algn="ctr">
          <a:solidFill>
            <a:schemeClr val="phClr"/>
          </a:solidFill>
          <a:prstDash val="solid"/>
        </a:ln>
      </a:lnStyleLst>
      <a:effectStyleLst>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scene3d>
            <a:camera prst="orthographicFront" fov="0">
              <a:rot lat="0" lon="0" rev="0"/>
            </a:camera>
            <a:lightRig rig="contrasting" dir="t">
              <a:rot lat="0" lon="0" rev="12000000"/>
            </a:lightRig>
          </a:scene3d>
          <a:sp3d prstMaterial="powder">
            <a:bevelT h="50800"/>
          </a:sp3d>
        </a:effectStyle>
      </a:effectStyleLst>
      <a:bgFillStyleLst>
        <a:solidFill>
          <a:schemeClr val="phClr"/>
        </a:solidFill>
        <a:gradFill rotWithShape="1">
          <a:gsLst>
            <a:gs pos="0">
              <a:schemeClr val="phClr">
                <a:shade val="35000"/>
                <a:satMod val="150000"/>
              </a:schemeClr>
            </a:gs>
            <a:gs pos="45000">
              <a:schemeClr val="phClr">
                <a:shade val="68000"/>
                <a:satMod val="155000"/>
              </a:schemeClr>
            </a:gs>
            <a:gs pos="100000">
              <a:schemeClr val="phClr">
                <a:tint val="70000"/>
                <a:satMod val="175000"/>
              </a:schemeClr>
            </a:gs>
          </a:gsLst>
          <a:lin ang="16200000" scaled="0"/>
        </a:gradFill>
        <a:blipFill>
          <a:blip xmlns:r="http://schemas.openxmlformats.org/officeDocument/2006/relationships" r:embed="rId1">
            <a:duotone>
              <a:schemeClr val="phClr">
                <a:shade val="800"/>
                <a:satMod val="150000"/>
              </a:schemeClr>
              <a:schemeClr val="phClr">
                <a:tint val="80000"/>
                <a:satMod val="150000"/>
              </a:schemeClr>
            </a:duotone>
          </a:blip>
          <a:tile tx="0" ty="0" sx="75000" sy="7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794325352E032448D621CCF83E7CDF4" ma:contentTypeVersion="7" ma:contentTypeDescription="Create a new document." ma:contentTypeScope="" ma:versionID="ba3f5d81746a1d17f477876d09e42da9">
  <xsd:schema xmlns:xsd="http://www.w3.org/2001/XMLSchema" xmlns:xs="http://www.w3.org/2001/XMLSchema" xmlns:p="http://schemas.microsoft.com/office/2006/metadata/properties" xmlns:ns2="31635c7e-3a11-4128-b6ca-f17fd774e46d" targetNamespace="http://schemas.microsoft.com/office/2006/metadata/properties" ma:root="true" ma:fieldsID="53fdc2f79366fcea6d46fcbf154b677f" ns2:_="">
    <xsd:import namespace="31635c7e-3a11-4128-b6ca-f17fd774e46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635c7e-3a11-4128-b6ca-f17fd774e4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75A54D3-F9D1-463C-A1CD-C11C06C67189}">
  <ds:schemaRefs>
    <ds:schemaRef ds:uri="http://schemas.microsoft.com/office/2006/metadata/properties"/>
    <ds:schemaRef ds:uri="http://schemas.microsoft.com/office/infopath/2007/PartnerControls"/>
    <ds:schemaRef ds:uri="0b5197e8-b3d5-44fa-9c9e-08a78b475116"/>
    <ds:schemaRef ds:uri="1cf731c3-fdca-4a95-a92a-ea3b14523102"/>
  </ds:schemaRefs>
</ds:datastoreItem>
</file>

<file path=customXml/itemProps2.xml><?xml version="1.0" encoding="utf-8"?>
<ds:datastoreItem xmlns:ds="http://schemas.openxmlformats.org/officeDocument/2006/customXml" ds:itemID="{00A3282A-ABBB-469B-890C-3B4C754BB2B7}">
  <ds:schemaRefs>
    <ds:schemaRef ds:uri="http://schemas.microsoft.com/sharepoint/v3/contenttype/forms"/>
  </ds:schemaRefs>
</ds:datastoreItem>
</file>

<file path=customXml/itemProps3.xml><?xml version="1.0" encoding="utf-8"?>
<ds:datastoreItem xmlns:ds="http://schemas.openxmlformats.org/officeDocument/2006/customXml" ds:itemID="{93FA7EE5-986D-40EA-AFB4-1655003C18B1}"/>
</file>

<file path=docProps/app.xml><?xml version="1.0" encoding="utf-8"?>
<Properties xmlns="http://schemas.openxmlformats.org/officeDocument/2006/extended-properties" xmlns:vt="http://schemas.openxmlformats.org/officeDocument/2006/docPropsVTypes">
  <Template>Aspect</Template>
  <TotalTime>292</TotalTime>
  <Words>2128</Words>
  <Application>Microsoft Office PowerPoint</Application>
  <PresentationFormat>On-screen Show (4:3)</PresentationFormat>
  <Paragraphs>316</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Aspect</vt:lpstr>
      <vt:lpstr>Perfect Verbs</vt:lpstr>
      <vt:lpstr>Verbs… basic parts</vt:lpstr>
      <vt:lpstr>PowerPoint Presentation</vt:lpstr>
      <vt:lpstr>Present perfect</vt:lpstr>
      <vt:lpstr>7.1</vt:lpstr>
      <vt:lpstr>7.2</vt:lpstr>
      <vt:lpstr>7.3</vt:lpstr>
      <vt:lpstr>7.4</vt:lpstr>
      <vt:lpstr>PowerPoint Presentation</vt:lpstr>
      <vt:lpstr>Exercise</vt:lpstr>
      <vt:lpstr>PowerPoint Presentation</vt:lpstr>
      <vt:lpstr>PowerPoint Presentation</vt:lpstr>
      <vt:lpstr>PowerPoint Presentation</vt:lpstr>
      <vt:lpstr>PowerPoint Presentation</vt:lpstr>
      <vt:lpstr>PowerPoint Presentation</vt:lpstr>
      <vt:lpstr>PowerPoint Presentation</vt:lpstr>
      <vt:lpstr>Present Perfect</vt:lpstr>
      <vt:lpstr>PowerPoint Presentation</vt:lpstr>
      <vt:lpstr>Present perfect</vt:lpstr>
      <vt:lpstr>PowerPoint Presentation</vt:lpstr>
      <vt:lpstr>PowerPoint Presentation</vt:lpstr>
      <vt:lpstr>PowerPoint Presentation</vt:lpstr>
      <vt:lpstr>Past perfect</vt:lpstr>
      <vt:lpstr>PowerPoint Presentation</vt:lpstr>
      <vt:lpstr>Past perfect continuous</vt:lpstr>
      <vt:lpstr>Future perfect</vt:lpstr>
      <vt:lpstr>PowerPoint Presentation</vt:lpstr>
      <vt:lpstr>PowerPoint Presentation</vt:lpstr>
    </vt:vector>
  </TitlesOfParts>
  <Company>Cardiff and Vale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Perfect Verbs</dc:title>
  <dc:creator>Rio Judson</dc:creator>
  <cp:lastModifiedBy>Rio Judson</cp:lastModifiedBy>
  <cp:revision>27</cp:revision>
  <cp:lastPrinted>2015-03-25T11:32:44Z</cp:lastPrinted>
  <dcterms:created xsi:type="dcterms:W3CDTF">2015-03-18T12:09:04Z</dcterms:created>
  <dcterms:modified xsi:type="dcterms:W3CDTF">2025-09-23T07:28:55Z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0x0101006794325352E032448D621CCF83E7CDF4</vt:lpwstr>
  </property>
  <property fmtid="{D5CDD505-2E9C-101B-9397-08002B2CF9AE}" pid="3" name="TaxKeyword">
    <vt:lpwstr/>
  </property>
  <property fmtid="{D5CDD505-2E9C-101B-9397-08002B2CF9AE}" pid="4" name="MediaServiceImageTags">
    <vt:lpwstr/>
  </property>
  <property fmtid="{D5CDD505-2E9C-101B-9397-08002B2CF9AE}" pid="5" name="Order">
    <vt:r8>1058700</vt:r8>
  </property>
  <property fmtid="{D5CDD505-2E9C-101B-9397-08002B2CF9AE}" pid="6" name="xd_Signature">
    <vt:bool>false</vt:bool>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ies>
</file>