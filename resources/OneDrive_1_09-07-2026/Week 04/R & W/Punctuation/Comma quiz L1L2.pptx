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342" y="-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2DA265-8154-46BD-8112-B5772F189773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01E9C51F-AE7D-419F-807D-CCF2BD4C52CE}">
      <dgm:prSet custT="1"/>
      <dgm:spPr>
        <a:gradFill flip="none" rotWithShape="1">
          <a:gsLst>
            <a:gs pos="0">
              <a:srgbClr val="FFC000"/>
            </a:gs>
            <a:gs pos="31000">
              <a:srgbClr val="FFC305"/>
            </a:gs>
            <a:gs pos="73000">
              <a:srgbClr val="FFE182"/>
            </a:gs>
            <a:gs pos="100000">
              <a:srgbClr val="FFC000"/>
            </a:gs>
          </a:gsLst>
          <a:lin ang="2700000" scaled="1"/>
          <a:tileRect/>
        </a:gradFill>
      </dgm:spPr>
      <dgm:t>
        <a:bodyPr/>
        <a:lstStyle/>
        <a:p>
          <a:pPr marL="0" marR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GB" sz="1800" dirty="0" smtClean="0"/>
            <a:t>The game is multiple choice and based on colours. It’s kinaesthetic, suitable for adults (who have surprised me by how much most of them like these games) and fairly fast.</a:t>
          </a:r>
        </a:p>
        <a:p>
          <a:pPr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dirty="0" smtClean="0"/>
            <a:t/>
          </a:r>
          <a:br>
            <a:rPr lang="en-GB" sz="1800" dirty="0" smtClean="0"/>
          </a:br>
          <a:r>
            <a:rPr lang="en-GB" sz="1800" dirty="0" smtClean="0"/>
            <a:t>I use coloured hoops (as in </a:t>
          </a:r>
          <a:r>
            <a:rPr lang="en-GB" sz="1800" dirty="0" err="1" smtClean="0"/>
            <a:t>hoola</a:t>
          </a:r>
          <a:r>
            <a:rPr lang="en-GB" sz="1800" dirty="0" smtClean="0"/>
            <a:t> hoops) and bean bags. It can be team based or individual. Each player throws a beanbag into the hoop that corresponds with their chosen answer.  Alternatively,  students can hold up coloured cards or similar.</a:t>
          </a:r>
          <a:endParaRPr lang="en-GB" sz="1800" dirty="0"/>
        </a:p>
      </dgm:t>
    </dgm:pt>
    <dgm:pt modelId="{ACCF339C-EFD7-4618-9C97-50A29F67CE6A}" type="parTrans" cxnId="{4CFAC4AE-83B1-4563-8D8A-A03C3A7AB7C3}">
      <dgm:prSet/>
      <dgm:spPr/>
      <dgm:t>
        <a:bodyPr/>
        <a:lstStyle/>
        <a:p>
          <a:endParaRPr lang="en-GB"/>
        </a:p>
      </dgm:t>
    </dgm:pt>
    <dgm:pt modelId="{1169877C-854B-4C08-B26B-A43C1CD8065D}" type="sibTrans" cxnId="{4CFAC4AE-83B1-4563-8D8A-A03C3A7AB7C3}">
      <dgm:prSet/>
      <dgm:spPr/>
      <dgm:t>
        <a:bodyPr/>
        <a:lstStyle/>
        <a:p>
          <a:endParaRPr lang="en-GB"/>
        </a:p>
      </dgm:t>
    </dgm:pt>
    <dgm:pt modelId="{0CB36545-7EDA-4DCD-89AB-0480D6ED7BA1}" type="pres">
      <dgm:prSet presAssocID="{B92DA265-8154-46BD-8112-B5772F18977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A96342B2-A2FE-4995-9239-25D2ED5734D8}" type="pres">
      <dgm:prSet presAssocID="{01E9C51F-AE7D-419F-807D-CCF2BD4C52CE}" presName="parentText" presStyleLbl="node1" presStyleIdx="0" presStyleCnt="1" custLinFactNeighborX="493" custLinFactNeighborY="4153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GB"/>
        </a:p>
      </dgm:t>
    </dgm:pt>
  </dgm:ptLst>
  <dgm:cxnLst>
    <dgm:cxn modelId="{4CFAC4AE-83B1-4563-8D8A-A03C3A7AB7C3}" srcId="{B92DA265-8154-46BD-8112-B5772F189773}" destId="{01E9C51F-AE7D-419F-807D-CCF2BD4C52CE}" srcOrd="0" destOrd="0" parTransId="{ACCF339C-EFD7-4618-9C97-50A29F67CE6A}" sibTransId="{1169877C-854B-4C08-B26B-A43C1CD8065D}"/>
    <dgm:cxn modelId="{44BF5CD8-FC3B-4015-BCCC-84F1F17273F4}" type="presOf" srcId="{01E9C51F-AE7D-419F-807D-CCF2BD4C52CE}" destId="{A96342B2-A2FE-4995-9239-25D2ED5734D8}" srcOrd="0" destOrd="0" presId="urn:microsoft.com/office/officeart/2005/8/layout/vList2"/>
    <dgm:cxn modelId="{3055EAE0-B775-4773-9654-5DFFF98CEAB2}" type="presOf" srcId="{B92DA265-8154-46BD-8112-B5772F189773}" destId="{0CB36545-7EDA-4DCD-89AB-0480D6ED7BA1}" srcOrd="0" destOrd="0" presId="urn:microsoft.com/office/officeart/2005/8/layout/vList2"/>
    <dgm:cxn modelId="{00D6D558-ECD0-41D7-81F0-66B8EF2C12C0}" type="presParOf" srcId="{0CB36545-7EDA-4DCD-89AB-0480D6ED7BA1}" destId="{A96342B2-A2FE-4995-9239-25D2ED5734D8}" srcOrd="0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342B2-A2FE-4995-9239-25D2ED5734D8}">
      <dsp:nvSpPr>
        <dsp:cNvPr id="0" name=""/>
        <dsp:cNvSpPr/>
      </dsp:nvSpPr>
      <dsp:spPr>
        <a:xfrm>
          <a:off x="0" y="522"/>
          <a:ext cx="8434289" cy="1727669"/>
        </a:xfrm>
        <a:prstGeom prst="roundRect">
          <a:avLst/>
        </a:prstGeom>
        <a:gradFill flip="none" rotWithShape="1">
          <a:gsLst>
            <a:gs pos="0">
              <a:srgbClr val="FFC000"/>
            </a:gs>
            <a:gs pos="31000">
              <a:srgbClr val="FFC305"/>
            </a:gs>
            <a:gs pos="73000">
              <a:srgbClr val="FFE182"/>
            </a:gs>
            <a:gs pos="100000">
              <a:srgbClr val="FFC000"/>
            </a:gs>
          </a:gsLst>
          <a:lin ang="2700000" scaled="1"/>
          <a:tileRect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marR="0" lvl="0" indent="0" algn="l" defTabSz="914400" rtl="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GB" sz="1800" kern="1200" dirty="0" smtClean="0"/>
            <a:t>The game is multiple choice and based on colours. It’s kinaesthetic, suitable for adults (who have surprised me by how much most of them like these games) and fairly fast.</a:t>
          </a:r>
        </a:p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/>
          </a:r>
          <a:br>
            <a:rPr lang="en-GB" sz="1800" kern="1200" dirty="0" smtClean="0"/>
          </a:br>
          <a:r>
            <a:rPr lang="en-GB" sz="1800" kern="1200" dirty="0" smtClean="0"/>
            <a:t>I use coloured hoops (as in </a:t>
          </a:r>
          <a:r>
            <a:rPr lang="en-GB" sz="1800" kern="1200" dirty="0" err="1" smtClean="0"/>
            <a:t>hoola</a:t>
          </a:r>
          <a:r>
            <a:rPr lang="en-GB" sz="1800" kern="1200" dirty="0" smtClean="0"/>
            <a:t> hoops) and bean bags. It can be team based or individual. Each player throws a beanbag into the hoop that corresponds with their chosen answer.  Alternatively,  students can hold up coloured cards or similar.</a:t>
          </a:r>
          <a:endParaRPr lang="en-GB" sz="1800" kern="1200" dirty="0"/>
        </a:p>
      </dsp:txBody>
      <dsp:txXfrm>
        <a:off x="84338" y="84860"/>
        <a:ext cx="8265613" cy="1558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22691-745F-49CF-839B-DAB28FABEF60}" type="datetimeFigureOut">
              <a:rPr lang="en-GB" smtClean="0"/>
              <a:t>21/12/2011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9109C-BF4B-45DF-86A4-7704381D0D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06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>
                <a:latin typeface="Comic Sans MS" pitchFamily="66" charset="0"/>
              </a:rPr>
              <a:t>Dec 2011. </a:t>
            </a:r>
            <a:r>
              <a:rPr lang="en-GB" dirty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>
                <a:latin typeface="Calibri"/>
              </a:rPr>
              <a:t>by Dory Anderson, City College, Peterborough</a:t>
            </a:r>
            <a:r>
              <a:rPr lang="en-GB" dirty="0" smtClean="0"/>
              <a:t> </a:t>
            </a:r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Comic Sans MS" pitchFamily="66" charset="0"/>
              </a:rPr>
              <a:t>Dec 2011. 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>
                <a:latin typeface="+mn-lt"/>
              </a:rPr>
              <a:t>by Dory Anderson, City College, Peterborough</a:t>
            </a:r>
            <a:r>
              <a:rPr lang="en-GB" dirty="0" smtClean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49109C-BF4B-45DF-86A4-7704381D0D5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132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Comic Sans MS" pitchFamily="66" charset="0"/>
              </a:rPr>
              <a:t>Dec 2011. 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>
                <a:latin typeface="+mn-lt"/>
              </a:rPr>
              <a:t>by Dory Anderson, City College, Peterborough</a:t>
            </a:r>
            <a:r>
              <a:rPr lang="en-GB" dirty="0" smtClean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49109C-BF4B-45DF-86A4-7704381D0D5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91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Comic Sans MS" pitchFamily="66" charset="0"/>
              </a:rPr>
              <a:t>Dec 2011. 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>
                <a:latin typeface="+mn-lt"/>
              </a:rPr>
              <a:t>by Dory Anderson, City College, Peterborough</a:t>
            </a:r>
            <a:r>
              <a:rPr lang="en-GB" dirty="0" smtClean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49109C-BF4B-45DF-86A4-7704381D0D5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939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Comic Sans MS" pitchFamily="66" charset="0"/>
              </a:rPr>
              <a:t>Dec 2011. 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>
                <a:latin typeface="+mn-lt"/>
              </a:rPr>
              <a:t>by Dory Anderson, City College, Peterborough</a:t>
            </a:r>
            <a:r>
              <a:rPr lang="en-GB" dirty="0" smtClean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49109C-BF4B-45DF-86A4-7704381D0D5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976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Comic Sans MS" pitchFamily="66" charset="0"/>
              </a:rPr>
              <a:t>Dec 2011. 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>
                <a:latin typeface="+mn-lt"/>
              </a:rPr>
              <a:t>by Dory Anderson, City College, Peterborough</a:t>
            </a:r>
            <a:r>
              <a:rPr lang="en-GB" dirty="0" smtClean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49109C-BF4B-45DF-86A4-7704381D0D5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907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042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326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978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54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123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987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141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0793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669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738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93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627E0-B14F-4F8A-BA30-BCF4A88FACDA}" type="datetimeFigureOut">
              <a:rPr lang="en-US" smtClean="0"/>
              <a:pPr/>
              <a:t>12/21/2011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A2F8B-28DF-4A53-B903-B3F702942D3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FD5D0-52CB-4CEF-B15C-954212FF6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12/21/2011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7B336-CF3C-4BD7-AD6B-CE08F7EE63C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22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skillsworkshop.org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11" Type="http://schemas.openxmlformats.org/officeDocument/2006/relationships/hyperlink" Target="http://www.grammarbook.com/" TargetMode="Externa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://www.skillsworkshop.org/" TargetMode="External"/><Relationship Id="rId4" Type="http://schemas.openxmlformats.org/officeDocument/2006/relationships/diagramLayout" Target="../diagrams/layout1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323528" y="332656"/>
            <a:ext cx="5544616" cy="922337"/>
          </a:xfrm>
        </p:spPr>
        <p:txBody>
          <a:bodyPr>
            <a:normAutofit/>
          </a:bodyPr>
          <a:lstStyle/>
          <a:p>
            <a:pPr algn="l"/>
            <a:r>
              <a:rPr lang="en-GB" b="1" dirty="0" smtClean="0"/>
              <a:t>Comma Quiz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7391060"/>
              </p:ext>
            </p:extLst>
          </p:nvPr>
        </p:nvGraphicFramePr>
        <p:xfrm>
          <a:off x="457271" y="1484784"/>
          <a:ext cx="8434289" cy="172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1" descr="Description: swlogo">
            <a:hlinkClick r:id="rId8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7283" y="260648"/>
            <a:ext cx="1370767" cy="89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99592" y="3501008"/>
            <a:ext cx="7632848" cy="1440160"/>
          </a:xfrm>
          <a:prstGeom prst="rect">
            <a:avLst/>
          </a:prstGeom>
        </p:spPr>
        <p:txBody>
          <a:bodyPr/>
          <a:lstStyle/>
          <a:p>
            <a:r>
              <a:rPr lang="en-GB" sz="1400" b="1" dirty="0" smtClean="0">
                <a:solidFill>
                  <a:prstClr val="black"/>
                </a:solidFill>
              </a:rPr>
              <a:t>Adult Literacy curriculum links</a:t>
            </a:r>
            <a:endParaRPr lang="en-GB" sz="1400" dirty="0">
              <a:solidFill>
                <a:prstClr val="black"/>
              </a:solidFill>
            </a:endParaRPr>
          </a:p>
          <a:p>
            <a:r>
              <a:rPr lang="en-GB" sz="1400" dirty="0" err="1" smtClean="0">
                <a:solidFill>
                  <a:prstClr val="black"/>
                </a:solidFill>
              </a:rPr>
              <a:t>Ws</a:t>
            </a:r>
            <a:r>
              <a:rPr lang="en-GB" sz="1400" dirty="0" smtClean="0">
                <a:solidFill>
                  <a:prstClr val="black"/>
                </a:solidFill>
              </a:rPr>
              <a:t>/L1.3 Punctuate sentences properly, and use punctuation so that meaning is clear</a:t>
            </a:r>
            <a:br>
              <a:rPr lang="en-GB" sz="1400" dirty="0" smtClean="0">
                <a:solidFill>
                  <a:prstClr val="black"/>
                </a:solidFill>
              </a:rPr>
            </a:br>
            <a:r>
              <a:rPr lang="en-GB" sz="1400" dirty="0" err="1" smtClean="0">
                <a:solidFill>
                  <a:prstClr val="black"/>
                </a:solidFill>
              </a:rPr>
              <a:t>Ws</a:t>
            </a:r>
            <a:r>
              <a:rPr lang="en-GB" sz="1400" dirty="0" smtClean="0">
                <a:solidFill>
                  <a:prstClr val="black"/>
                </a:solidFill>
              </a:rPr>
              <a:t>/L2.4 Punctuate sentences correctly, and use punctuation correctly (e.g. commas, apostrophes, inverted commas)</a:t>
            </a:r>
            <a:endParaRPr lang="en-GB" sz="1400" dirty="0">
              <a:solidFill>
                <a:prstClr val="black"/>
              </a:solidFill>
            </a:endParaRPr>
          </a:p>
          <a:p>
            <a:r>
              <a:rPr lang="en-GB" sz="1400" b="1" dirty="0" smtClean="0">
                <a:solidFill>
                  <a:prstClr val="black"/>
                </a:solidFill>
              </a:rPr>
              <a:t>Ideal for underpinning Functional Skills English (FE)</a:t>
            </a:r>
            <a:endParaRPr lang="en-GB" sz="1400" dirty="0">
              <a:solidFill>
                <a:prstClr val="black"/>
              </a:solidFill>
            </a:endParaRPr>
          </a:p>
          <a:p>
            <a:r>
              <a:rPr lang="en-GB" sz="1400" dirty="0" smtClean="0">
                <a:solidFill>
                  <a:prstClr val="black"/>
                </a:solidFill>
              </a:rPr>
              <a:t>L1 FE Ensure written work includes generally accurate punctuation / spelling and that meaning is clear</a:t>
            </a:r>
            <a:br>
              <a:rPr lang="en-GB" sz="1400" dirty="0" smtClean="0">
                <a:solidFill>
                  <a:prstClr val="black"/>
                </a:solidFill>
              </a:rPr>
            </a:br>
            <a:r>
              <a:rPr lang="en-GB" sz="1400" dirty="0" smtClean="0">
                <a:solidFill>
                  <a:prstClr val="black"/>
                </a:solidFill>
              </a:rPr>
              <a:t>L2 FE Punctuate written text using commas, apostrophes and inverted commas accurately </a:t>
            </a:r>
            <a:endParaRPr lang="en-GB" sz="1400" dirty="0">
              <a:solidFill>
                <a:prstClr val="black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79512" y="5373216"/>
            <a:ext cx="8784976" cy="1224136"/>
          </a:xfrm>
          <a:prstGeom prst="roundRect">
            <a:avLst/>
          </a:prstGeom>
          <a:gradFill flip="none" rotWithShape="1">
            <a:gsLst>
              <a:gs pos="0">
                <a:srgbClr val="FFC000"/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/>
              </a:gs>
            </a:gsLst>
            <a:lin ang="10800000" scaled="1"/>
            <a:tileRect/>
          </a:gra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March 2011. Kindly contributed by Dory Anderson, City College, Peterborough.</a:t>
            </a:r>
          </a:p>
          <a:p>
            <a:r>
              <a:rPr lang="en-GB" dirty="0">
                <a:solidFill>
                  <a:prstClr val="black"/>
                </a:solidFill>
              </a:rPr>
              <a:t>Search for Dory on </a:t>
            </a:r>
            <a:r>
              <a:rPr lang="en-GB" dirty="0" smtClean="0">
                <a:solidFill>
                  <a:prstClr val="black"/>
                </a:solidFill>
                <a:hlinkClick r:id="rId10"/>
              </a:rPr>
              <a:t>www.skillsworkshop.org</a:t>
            </a:r>
            <a:endParaRPr lang="en-GB" dirty="0" smtClean="0">
              <a:solidFill>
                <a:prstClr val="black"/>
              </a:solidFill>
            </a:endParaRPr>
          </a:p>
          <a:p>
            <a:r>
              <a:rPr lang="en-GB" dirty="0" smtClean="0">
                <a:solidFill>
                  <a:prstClr val="black"/>
                </a:solidFill>
              </a:rPr>
              <a:t>Questions are inspired by and adapted from examples on </a:t>
            </a:r>
            <a:r>
              <a:rPr lang="en-GB" dirty="0">
                <a:hlinkClick r:id="rId11"/>
              </a:rPr>
              <a:t>http://www.grammarbook.com/</a:t>
            </a:r>
            <a:endParaRPr lang="en-GB" dirty="0" smtClean="0">
              <a:solidFill>
                <a:prstClr val="black"/>
              </a:solidFill>
            </a:endParaRPr>
          </a:p>
          <a:p>
            <a:r>
              <a:rPr lang="en-GB" dirty="0" smtClean="0">
                <a:solidFill>
                  <a:prstClr val="black"/>
                </a:solidFill>
              </a:rPr>
              <a:t>  </a:t>
            </a:r>
            <a:endParaRPr lang="en-GB" dirty="0">
              <a:solidFill>
                <a:prstClr val="black"/>
              </a:solidFill>
            </a:endParaRPr>
          </a:p>
          <a:p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Comma quiz L1/2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Which version is right?</a:t>
            </a:r>
          </a:p>
          <a:p>
            <a:r>
              <a:rPr lang="en-GB" sz="1900" dirty="0" smtClean="0"/>
              <a:t>(questions adapted from Blue Book of Grammar and Punctuation by Jane Straus)</a:t>
            </a:r>
            <a:endParaRPr lang="en-GB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FF0000"/>
                </a:solidFill>
              </a:rPr>
              <a:t>Girls, who have red hair, are very lucky.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00B0F0"/>
                </a:solidFill>
              </a:rPr>
              <a:t>Girls, who have red hair are very lucky.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00B050"/>
                </a:solidFill>
              </a:rPr>
              <a:t>Girls who have red hair, are very lucky.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FFFF00"/>
                </a:solidFill>
              </a:rPr>
              <a:t>Girls who have red hair are very lucky.</a:t>
            </a:r>
            <a:endParaRPr lang="en-GB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FF0000"/>
                </a:solidFill>
              </a:rPr>
              <a:t>He asked, where his hat was.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00B0F0"/>
                </a:solidFill>
              </a:rPr>
              <a:t>He asked where his hat was.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00B050"/>
                </a:solidFill>
              </a:rPr>
              <a:t>He asked where, his hat was.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FFFF00"/>
                </a:solidFill>
              </a:rPr>
              <a:t>He asked, where was his hat.</a:t>
            </a:r>
            <a:endParaRPr lang="en-GB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FF0000"/>
                </a:solidFill>
              </a:rPr>
              <a:t>They are, one might say true believers.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00B0F0"/>
                </a:solidFill>
              </a:rPr>
              <a:t>They are one might say, true believers.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00B050"/>
                </a:solidFill>
              </a:rPr>
              <a:t>They are, one might say, true believers.</a:t>
            </a:r>
          </a:p>
          <a:p>
            <a:pPr>
              <a:lnSpc>
                <a:spcPct val="150000"/>
              </a:lnSpc>
            </a:pPr>
            <a:r>
              <a:rPr lang="en-GB" sz="3600" b="1" dirty="0" smtClean="0">
                <a:solidFill>
                  <a:srgbClr val="FFFF00"/>
                </a:solidFill>
              </a:rPr>
              <a:t>They are one might say true believers.</a:t>
            </a:r>
            <a:endParaRPr lang="en-GB" sz="3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Rashid arrived in Peterborough hoping to get a good job.</a:t>
            </a:r>
          </a:p>
          <a:p>
            <a:r>
              <a:rPr lang="en-GB" dirty="0" smtClean="0">
                <a:solidFill>
                  <a:srgbClr val="00B0F0"/>
                </a:solidFill>
              </a:rPr>
              <a:t>Rashid arrived in Peterborough, hoping to get a good job.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Rashid, arrived in Peterborough, hoping to get a good job.</a:t>
            </a:r>
          </a:p>
          <a:p>
            <a:r>
              <a:rPr lang="en-GB" dirty="0" smtClean="0">
                <a:solidFill>
                  <a:srgbClr val="FFFF00"/>
                </a:solidFill>
              </a:rPr>
              <a:t>Rashid, arrived in Peterborough hoping to get a good job.</a:t>
            </a:r>
          </a:p>
          <a:p>
            <a:endParaRPr lang="en-GB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On July 20, 1969, astronauts landed on the moon for the first time.</a:t>
            </a:r>
          </a:p>
          <a:p>
            <a:r>
              <a:rPr lang="en-GB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On July 20 1969, astronauts landed, on the moon for the first time.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On July 20, 1969 astronauts landed on the moon for the first time.</a:t>
            </a:r>
          </a:p>
          <a:p>
            <a:r>
              <a:rPr lang="en-GB" dirty="0" smtClean="0">
                <a:solidFill>
                  <a:srgbClr val="FFFF00"/>
                </a:solidFill>
              </a:rPr>
              <a:t>On July 20 1969 astronauts landed, on the moon, for the first time.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I told you </a:t>
            </a:r>
            <a:r>
              <a:rPr lang="en-GB" dirty="0" err="1" smtClean="0">
                <a:solidFill>
                  <a:srgbClr val="FF0000"/>
                </a:solidFill>
              </a:rPr>
              <a:t>Adilah</a:t>
            </a:r>
            <a:r>
              <a:rPr lang="en-GB" dirty="0" smtClean="0">
                <a:solidFill>
                  <a:srgbClr val="FF0000"/>
                </a:solidFill>
              </a:rPr>
              <a:t> never to ask me that question again!</a:t>
            </a:r>
          </a:p>
          <a:p>
            <a:r>
              <a:rPr lang="en-GB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I told you </a:t>
            </a:r>
            <a:r>
              <a:rPr lang="en-GB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Adilah</a:t>
            </a:r>
            <a:r>
              <a:rPr lang="en-GB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never to ask me, that question again!</a:t>
            </a:r>
          </a:p>
          <a:p>
            <a:r>
              <a:rPr lang="en-GB" dirty="0" smtClean="0">
                <a:solidFill>
                  <a:srgbClr val="92D050"/>
                </a:solidFill>
              </a:rPr>
              <a:t>I told you, </a:t>
            </a:r>
            <a:r>
              <a:rPr lang="en-GB" dirty="0" err="1" smtClean="0">
                <a:solidFill>
                  <a:srgbClr val="92D050"/>
                </a:solidFill>
              </a:rPr>
              <a:t>Adilah</a:t>
            </a:r>
            <a:r>
              <a:rPr lang="en-GB" dirty="0" smtClean="0">
                <a:solidFill>
                  <a:srgbClr val="92D050"/>
                </a:solidFill>
              </a:rPr>
              <a:t>, never to ask me that question again!</a:t>
            </a:r>
          </a:p>
          <a:p>
            <a:r>
              <a:rPr lang="en-GB" dirty="0" smtClean="0">
                <a:solidFill>
                  <a:srgbClr val="FFFF00"/>
                </a:solidFill>
              </a:rPr>
              <a:t>I told, you </a:t>
            </a:r>
            <a:r>
              <a:rPr lang="en-GB" dirty="0" err="1" smtClean="0">
                <a:solidFill>
                  <a:srgbClr val="FFFF00"/>
                </a:solidFill>
              </a:rPr>
              <a:t>Adilah</a:t>
            </a:r>
            <a:r>
              <a:rPr lang="en-GB" dirty="0" smtClean="0">
                <a:solidFill>
                  <a:srgbClr val="FFFF00"/>
                </a:solidFill>
              </a:rPr>
              <a:t>, never to ask me that question again!</a:t>
            </a:r>
          </a:p>
          <a:p>
            <a:endParaRPr lang="en-GB" dirty="0" smtClean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FF0000"/>
                </a:solidFill>
              </a:rPr>
              <a:t>It is drizzling not pouring.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It is drizzling, not pouring.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00B050"/>
                </a:solidFill>
              </a:rPr>
              <a:t>It is drizzling not, pouring</a:t>
            </a:r>
            <a:r>
              <a:rPr lang="en-GB" sz="3600" dirty="0" smtClean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FFFF00"/>
                </a:solidFill>
              </a:rPr>
              <a:t>It, is drizzling not pouring.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FF0000"/>
                </a:solidFill>
              </a:rPr>
              <a:t>What a delicious appetising meal!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0070C0"/>
                </a:solidFill>
              </a:rPr>
              <a:t>What a delicious appetising, meal!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00B050"/>
                </a:solidFill>
              </a:rPr>
              <a:t>What </a:t>
            </a:r>
            <a:r>
              <a:rPr lang="en-GB" sz="3600" dirty="0" smtClean="0">
                <a:solidFill>
                  <a:srgbClr val="00B050"/>
                </a:solidFill>
              </a:rPr>
              <a:t>, a </a:t>
            </a:r>
            <a:r>
              <a:rPr lang="en-GB" sz="3600" dirty="0" smtClean="0">
                <a:solidFill>
                  <a:srgbClr val="00B050"/>
                </a:solidFill>
              </a:rPr>
              <a:t>delicious appetising meal!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FFFF00"/>
                </a:solidFill>
              </a:rPr>
              <a:t>What a delicious, appetising meal!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VERSION IS RIGHT?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FF0000"/>
                </a:solidFill>
              </a:rPr>
              <a:t>Yes, I can be ready in five minutes.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00B0F0"/>
                </a:solidFill>
              </a:rPr>
              <a:t>Yes I can be ready, in five minutes.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00B050"/>
                </a:solidFill>
              </a:rPr>
              <a:t>Yes I can, be ready in five minutes.</a:t>
            </a:r>
          </a:p>
          <a:p>
            <a:pPr>
              <a:lnSpc>
                <a:spcPct val="150000"/>
              </a:lnSpc>
            </a:pPr>
            <a:r>
              <a:rPr lang="en-GB" sz="3600" dirty="0" smtClean="0">
                <a:solidFill>
                  <a:srgbClr val="FFFF00"/>
                </a:solidFill>
              </a:rPr>
              <a:t>Yes I can be, ready in five minutes.</a:t>
            </a:r>
          </a:p>
          <a:p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70C605-D08D-4BC4-AD91-A5D6EE01E77A}"/>
</file>

<file path=customXml/itemProps2.xml><?xml version="1.0" encoding="utf-8"?>
<ds:datastoreItem xmlns:ds="http://schemas.openxmlformats.org/officeDocument/2006/customXml" ds:itemID="{2FF0FACF-39EC-4DFE-8869-69CB6310D1F3}"/>
</file>

<file path=customXml/itemProps3.xml><?xml version="1.0" encoding="utf-8"?>
<ds:datastoreItem xmlns:ds="http://schemas.openxmlformats.org/officeDocument/2006/customXml" ds:itemID="{1A2BC11C-90FE-419F-AEBC-C9AA6C80D916}"/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614</Words>
  <Application>Microsoft Office PowerPoint</Application>
  <PresentationFormat>On-screen Show (4:3)</PresentationFormat>
  <Paragraphs>70</Paragraphs>
  <Slides>11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1_Office Theme</vt:lpstr>
      <vt:lpstr>Comma Quiz</vt:lpstr>
      <vt:lpstr>Comma quiz L1/2</vt:lpstr>
      <vt:lpstr>WHICH VERSION IS RIGHT?</vt:lpstr>
      <vt:lpstr>WHICH VERSION IS RIGHT?</vt:lpstr>
      <vt:lpstr>WHICH VERSION IS RIGHT?</vt:lpstr>
      <vt:lpstr>WHICH VERSION IS RIGHT?</vt:lpstr>
      <vt:lpstr>WHICH VERSION IS RIGHT?</vt:lpstr>
      <vt:lpstr>WHICH VERSION IS RIGHT?</vt:lpstr>
      <vt:lpstr>WHICH VERSION IS RIGHT?</vt:lpstr>
      <vt:lpstr>WHICH VERSION IS RIGHT?</vt:lpstr>
      <vt:lpstr>WHICH VERSION IS RIGHT?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Comma quiz L1/2</dc:title>
  <dc:creator>Dory Anderson</dc:creator>
  <cp:lastModifiedBy>Maggie Harnew</cp:lastModifiedBy>
  <cp:revision>8</cp:revision>
  <dcterms:created xsi:type="dcterms:W3CDTF">2011-05-23T16:17:00Z</dcterms:created>
  <dcterms:modified xsi:type="dcterms:W3CDTF">2011-12-21T15:08:22Z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20167000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