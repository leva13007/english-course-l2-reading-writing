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64" d="100"/>
          <a:sy n="64" d="100"/>
        </p:scale>
        <p:origin x="9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7FB93-8A99-45C8-9486-F939BFAAF370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0F3EA40-FAEE-4EA6-A0F0-E4753162E512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587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7FB93-8A99-45C8-9486-F939BFAAF370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3EA40-FAEE-4EA6-A0F0-E4753162E512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646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7FB93-8A99-45C8-9486-F939BFAAF370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3EA40-FAEE-4EA6-A0F0-E4753162E512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346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7FB93-8A99-45C8-9486-F939BFAAF370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3EA40-FAEE-4EA6-A0F0-E4753162E512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365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7FB93-8A99-45C8-9486-F939BFAAF370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3EA40-FAEE-4EA6-A0F0-E4753162E512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097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7FB93-8A99-45C8-9486-F939BFAAF370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3EA40-FAEE-4EA6-A0F0-E4753162E512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579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7FB93-8A99-45C8-9486-F939BFAAF370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3EA40-FAEE-4EA6-A0F0-E4753162E5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301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7FB93-8A99-45C8-9486-F939BFAAF370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3EA40-FAEE-4EA6-A0F0-E4753162E512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524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E97FB93-8A99-45C8-9486-F939BFAAF370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3EA40-FAEE-4EA6-A0F0-E4753162E512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644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7FB93-8A99-45C8-9486-F939BFAAF370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3EA40-FAEE-4EA6-A0F0-E4753162E512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532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7FB93-8A99-45C8-9486-F939BFAAF370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3EA40-FAEE-4EA6-A0F0-E4753162E512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692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7FB93-8A99-45C8-9486-F939BFAAF370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0F3EA40-FAEE-4EA6-A0F0-E4753162E512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012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lumenlearning.com/suny-jeffersoncc-styleguide/chapter/comma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lumenlearning.com/suny-jeffersoncc-styleguide/chapter/comma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lumenlearning.com/suny-jeffersoncc-styleguide/chapter/comma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ixabay.com/de/vectors/zitat-marke-sprache-symbol-39627/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a.wikipedia.org/wiki/Fil:Purple_exclamation_mark.svg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lumenlearning.com/suny-jeffersoncc-styleguide/chapter/comma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urses.lumenlearning.com/suny-jeffersoncc-styleguide/chapter/commas/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svgsilh.com/image/160735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lumenlearning.com/suny-jeffersoncc-styleguide/chapter/comma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lumenlearning.com/suny-jeffersoncc-styleguide/chapter/comma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de/vectors/zitat-marke-sprache-symbol-39627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lumenlearning.com/suny-styleguide/chapter/colons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urses.lumenlearning.com/suny-jeffersoncc-styleguide/chapter/commas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1AE8D-38A8-B28F-5FA5-36C733B2DA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Punctuation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B4D6F-CF6C-9E26-E566-9ABEBFAD06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 punctuation in the correct places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How does the punctuation change the meaning of the sentence?</a:t>
            </a:r>
          </a:p>
        </p:txBody>
      </p:sp>
    </p:spTree>
    <p:extLst>
      <p:ext uri="{BB962C8B-B14F-4D97-AF65-F5344CB8AC3E}">
        <p14:creationId xmlns:p14="http://schemas.microsoft.com/office/powerpoint/2010/main" val="3880832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38A8A-B6F7-5A7F-4D79-903F61F6B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6589" y="2120663"/>
            <a:ext cx="9603275" cy="3450613"/>
          </a:xfrm>
        </p:spPr>
        <p:txBody>
          <a:bodyPr>
            <a:normAutofit/>
          </a:bodyPr>
          <a:lstStyle/>
          <a:p>
            <a:pPr algn="ctr"/>
            <a:r>
              <a:rPr lang="en-GB" sz="4000" dirty="0"/>
              <a:t>I  drank  two  beers</a:t>
            </a:r>
            <a:r>
              <a:rPr lang="en-GB" sz="4000" dirty="0">
                <a:solidFill>
                  <a:srgbClr val="FF0000"/>
                </a:solidFill>
              </a:rPr>
              <a:t>  </a:t>
            </a:r>
            <a:r>
              <a:rPr lang="en-GB" sz="4000" dirty="0"/>
              <a:t>coffee  and  gin  and lemonade.</a:t>
            </a:r>
          </a:p>
        </p:txBody>
      </p:sp>
      <p:pic>
        <p:nvPicPr>
          <p:cNvPr id="11" name="Picture 10" descr="A purple circle with a black background&#10;&#10;Description automatically generated">
            <a:extLst>
              <a:ext uri="{FF2B5EF4-FFF2-40B4-BE49-F238E27FC236}">
                <a16:creationId xmlns:a16="http://schemas.microsoft.com/office/drawing/2014/main" id="{7F498EDE-F72C-26A0-630B-72F28A47C5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200932" y="2535768"/>
            <a:ext cx="253031" cy="267393"/>
          </a:xfrm>
          <a:prstGeom prst="rect">
            <a:avLst/>
          </a:prstGeom>
        </p:spPr>
      </p:pic>
      <p:pic>
        <p:nvPicPr>
          <p:cNvPr id="13" name="Picture 12" descr="A purple circle with a black background&#10;&#10;Description automatically generated">
            <a:extLst>
              <a:ext uri="{FF2B5EF4-FFF2-40B4-BE49-F238E27FC236}">
                <a16:creationId xmlns:a16="http://schemas.microsoft.com/office/drawing/2014/main" id="{5A86ACAC-97E7-F58F-7FD4-CEA3832FB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702447" y="2535768"/>
            <a:ext cx="253031" cy="26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3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BBCD3-B9AC-1061-BDC5-F0368AD2B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E14C4-A2DA-864B-646C-D7ACDE029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dirty="0"/>
              <a:t>The  panda  eats  shoots  and  leaves</a:t>
            </a:r>
          </a:p>
        </p:txBody>
      </p:sp>
      <p:pic>
        <p:nvPicPr>
          <p:cNvPr id="4" name="Picture 3" descr="A purple circle with a black background&#10;&#10;Description automatically generated">
            <a:extLst>
              <a:ext uri="{FF2B5EF4-FFF2-40B4-BE49-F238E27FC236}">
                <a16:creationId xmlns:a16="http://schemas.microsoft.com/office/drawing/2014/main" id="{015A4CBF-70F7-ED94-1325-C2BA13197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00185" y="2417061"/>
            <a:ext cx="253031" cy="267393"/>
          </a:xfrm>
          <a:prstGeom prst="rect">
            <a:avLst/>
          </a:prstGeom>
        </p:spPr>
      </p:pic>
      <p:pic>
        <p:nvPicPr>
          <p:cNvPr id="5" name="Picture 4" descr="A purple circle with a black background&#10;&#10;Description automatically generated">
            <a:extLst>
              <a:ext uri="{FF2B5EF4-FFF2-40B4-BE49-F238E27FC236}">
                <a16:creationId xmlns:a16="http://schemas.microsoft.com/office/drawing/2014/main" id="{2E5D3941-0A8C-E162-62CF-92723A3C3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72467" y="2417062"/>
            <a:ext cx="253031" cy="2673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4F54F4-34F4-7679-348F-540C4592F4AE}"/>
              </a:ext>
            </a:extLst>
          </p:cNvPr>
          <p:cNvSpPr txBox="1"/>
          <p:nvPr/>
        </p:nvSpPr>
        <p:spPr>
          <a:xfrm>
            <a:off x="2889703" y="3745119"/>
            <a:ext cx="7330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How do the commas change the meaning?</a:t>
            </a:r>
          </a:p>
        </p:txBody>
      </p:sp>
    </p:spTree>
    <p:extLst>
      <p:ext uri="{BB962C8B-B14F-4D97-AF65-F5344CB8AC3E}">
        <p14:creationId xmlns:p14="http://schemas.microsoft.com/office/powerpoint/2010/main" val="96991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1782C-A5EE-B105-8DCE-FA3DBE449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7F07C-AB44-9094-6184-B73ADDA36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dirty="0"/>
              <a:t>Let’s  eat  grandma</a:t>
            </a:r>
          </a:p>
        </p:txBody>
      </p:sp>
      <p:pic>
        <p:nvPicPr>
          <p:cNvPr id="4" name="Picture 3" descr="A purple circle with a black background&#10;&#10;Description automatically generated">
            <a:extLst>
              <a:ext uri="{FF2B5EF4-FFF2-40B4-BE49-F238E27FC236}">
                <a16:creationId xmlns:a16="http://schemas.microsoft.com/office/drawing/2014/main" id="{569ABF70-F443-4312-CC38-B836836D6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298187" y="2453403"/>
            <a:ext cx="253031" cy="267393"/>
          </a:xfrm>
          <a:prstGeom prst="rect">
            <a:avLst/>
          </a:prstGeom>
        </p:spPr>
      </p:pic>
      <p:pic>
        <p:nvPicPr>
          <p:cNvPr id="9" name="Picture 8" descr="A blue and black semicolon symbol&#10;&#10;Description automatically generated">
            <a:extLst>
              <a:ext uri="{FF2B5EF4-FFF2-40B4-BE49-F238E27FC236}">
                <a16:creationId xmlns:a16="http://schemas.microsoft.com/office/drawing/2014/main" id="{A38A1A85-32A4-993C-06E4-75B4EC01A5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299733" y="2178434"/>
            <a:ext cx="425798" cy="280095"/>
          </a:xfrm>
          <a:prstGeom prst="rect">
            <a:avLst/>
          </a:prstGeom>
        </p:spPr>
      </p:pic>
      <p:pic>
        <p:nvPicPr>
          <p:cNvPr id="10" name="Picture 9" descr="A blue and black semicolon symbol&#10;&#10;Description automatically generated">
            <a:extLst>
              <a:ext uri="{FF2B5EF4-FFF2-40B4-BE49-F238E27FC236}">
                <a16:creationId xmlns:a16="http://schemas.microsoft.com/office/drawing/2014/main" id="{AE043AA7-2F68-7A55-6BD1-2CA1862510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rot="10800000" flipV="1">
            <a:off x="4053609" y="2166341"/>
            <a:ext cx="406121" cy="31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32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030D2-5978-50F0-B577-AD2B8C006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94CDB-AFD2-CC91-0730-47A170CC7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dirty="0"/>
              <a:t>Slow  children  playing</a:t>
            </a:r>
          </a:p>
        </p:txBody>
      </p:sp>
      <p:pic>
        <p:nvPicPr>
          <p:cNvPr id="5" name="Picture 4" descr="A purple exclamation mark&#10;&#10;Description automatically generated">
            <a:extLst>
              <a:ext uri="{FF2B5EF4-FFF2-40B4-BE49-F238E27FC236}">
                <a16:creationId xmlns:a16="http://schemas.microsoft.com/office/drawing/2014/main" id="{44A24436-4058-F952-DE8E-8F38F4992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945505" y="2228469"/>
            <a:ext cx="454771" cy="45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0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5F6C4-1F98-4CBE-3D47-1A9704128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FF9C9-00C0-F72F-0042-AD0696BA9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dirty="0"/>
              <a:t>I  love  my  parents  Princess  Anne  and  Ed Sheeran</a:t>
            </a:r>
          </a:p>
        </p:txBody>
      </p:sp>
      <p:pic>
        <p:nvPicPr>
          <p:cNvPr id="4" name="Picture 3" descr="A purple circle with a black background&#10;&#10;Description automatically generated">
            <a:extLst>
              <a:ext uri="{FF2B5EF4-FFF2-40B4-BE49-F238E27FC236}">
                <a16:creationId xmlns:a16="http://schemas.microsoft.com/office/drawing/2014/main" id="{E4C0F458-B669-02DE-3DA7-67D484DEF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836891" y="2453402"/>
            <a:ext cx="253031" cy="267393"/>
          </a:xfrm>
          <a:prstGeom prst="rect">
            <a:avLst/>
          </a:prstGeom>
        </p:spPr>
      </p:pic>
      <p:pic>
        <p:nvPicPr>
          <p:cNvPr id="5" name="Picture 4" descr="A purple circle with a black background&#10;&#10;Description automatically generated">
            <a:extLst>
              <a:ext uri="{FF2B5EF4-FFF2-40B4-BE49-F238E27FC236}">
                <a16:creationId xmlns:a16="http://schemas.microsoft.com/office/drawing/2014/main" id="{CC0DA80D-98EA-FFEB-78ED-190040173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073865" y="2453403"/>
            <a:ext cx="253031" cy="26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454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14AEB-555C-FF25-F072-AE2568AA2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E95DE-AE30-14E3-60A8-CEC21DB07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dirty="0"/>
              <a:t>A  woman  without  her  man  is  nothing.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2918651-671F-D291-8B65-FF576843FD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177908" y="2479249"/>
            <a:ext cx="129331" cy="134043"/>
          </a:xfrm>
          <a:prstGeom prst="rect">
            <a:avLst/>
          </a:prstGeom>
        </p:spPr>
      </p:pic>
      <p:pic>
        <p:nvPicPr>
          <p:cNvPr id="6" name="Picture 5" descr="A purple circle with a black background&#10;&#10;Description automatically generated">
            <a:extLst>
              <a:ext uri="{FF2B5EF4-FFF2-40B4-BE49-F238E27FC236}">
                <a16:creationId xmlns:a16="http://schemas.microsoft.com/office/drawing/2014/main" id="{56144CEC-FF5F-5D18-659F-F245E61AC3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 flipH="1">
            <a:off x="7033567" y="2453403"/>
            <a:ext cx="302602" cy="31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61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6E6A1-58DF-F0C2-CE57-0F8E3A8B1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03308-5263-3901-CE7F-D4A086BE9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dirty="0"/>
              <a:t>I  went  to  the  library  fell  asleep  and bought  some  bread  on  my  way  home</a:t>
            </a:r>
          </a:p>
        </p:txBody>
      </p:sp>
      <p:pic>
        <p:nvPicPr>
          <p:cNvPr id="4" name="Picture 3" descr="A purple circle with a black background&#10;&#10;Description automatically generated">
            <a:extLst>
              <a:ext uri="{FF2B5EF4-FFF2-40B4-BE49-F238E27FC236}">
                <a16:creationId xmlns:a16="http://schemas.microsoft.com/office/drawing/2014/main" id="{4ADE54A3-6068-3DC4-0B7E-2DDAF1547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17715" y="2468393"/>
            <a:ext cx="253031" cy="267393"/>
          </a:xfrm>
          <a:prstGeom prst="rect">
            <a:avLst/>
          </a:prstGeom>
        </p:spPr>
      </p:pic>
      <p:pic>
        <p:nvPicPr>
          <p:cNvPr id="5" name="Picture 4" descr="A purple circle with a black background&#10;&#10;Description automatically generated">
            <a:extLst>
              <a:ext uri="{FF2B5EF4-FFF2-40B4-BE49-F238E27FC236}">
                <a16:creationId xmlns:a16="http://schemas.microsoft.com/office/drawing/2014/main" id="{6B6209D1-B4DA-6265-9E54-D65BB1E4D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461112" y="2468392"/>
            <a:ext cx="253031" cy="26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00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7E597-52F5-7DD7-139E-5E396F399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ABE0B-691D-88B7-72B1-88E0877D1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dirty="0"/>
              <a:t>We  do  not  allow  smoking  pets  or children  under  five</a:t>
            </a:r>
          </a:p>
        </p:txBody>
      </p:sp>
      <p:pic>
        <p:nvPicPr>
          <p:cNvPr id="4" name="Picture 3" descr="A purple circle with a black background&#10;&#10;Description automatically generated">
            <a:extLst>
              <a:ext uri="{FF2B5EF4-FFF2-40B4-BE49-F238E27FC236}">
                <a16:creationId xmlns:a16="http://schemas.microsoft.com/office/drawing/2014/main" id="{99990BF2-27C9-5896-91B3-71960C76F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548099" y="2453402"/>
            <a:ext cx="253031" cy="267393"/>
          </a:xfrm>
          <a:prstGeom prst="rect">
            <a:avLst/>
          </a:prstGeom>
        </p:spPr>
      </p:pic>
      <p:pic>
        <p:nvPicPr>
          <p:cNvPr id="5" name="Picture 4" descr="A purple circle with a black background&#10;&#10;Description automatically generated">
            <a:extLst>
              <a:ext uri="{FF2B5EF4-FFF2-40B4-BE49-F238E27FC236}">
                <a16:creationId xmlns:a16="http://schemas.microsoft.com/office/drawing/2014/main" id="{C71C8DA0-0AC1-0BCB-3872-D519D84F1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294375" y="2453402"/>
            <a:ext cx="253031" cy="26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290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52B41-4AA1-0A58-54A4-B6E5485B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F5583-55A0-A6DA-745E-D1C514E98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dirty="0"/>
              <a:t>The  wizard  said  pay  no  attention  to  that  man  behind  the  curtain</a:t>
            </a:r>
          </a:p>
        </p:txBody>
      </p:sp>
      <p:pic>
        <p:nvPicPr>
          <p:cNvPr id="4" name="Picture 3" descr="A blue and black semicolon symbol&#10;&#10;Description automatically generated">
            <a:extLst>
              <a:ext uri="{FF2B5EF4-FFF2-40B4-BE49-F238E27FC236}">
                <a16:creationId xmlns:a16="http://schemas.microsoft.com/office/drawing/2014/main" id="{B45A9089-448E-D8F7-F756-3E812626F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10800000" flipV="1">
            <a:off x="1954986" y="2015732"/>
            <a:ext cx="406121" cy="3120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372723-92FE-B10F-50CC-7F9F5B2CDEE0}"/>
              </a:ext>
            </a:extLst>
          </p:cNvPr>
          <p:cNvSpPr txBox="1"/>
          <p:nvPr/>
        </p:nvSpPr>
        <p:spPr>
          <a:xfrm>
            <a:off x="2158046" y="4023034"/>
            <a:ext cx="8050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FF0000"/>
                </a:solidFill>
              </a:rPr>
              <a:t>Where does the direct speech end?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FF0000"/>
                </a:solidFill>
              </a:rPr>
              <a:t>Does ending the direct speech in a different place change the meaning?</a:t>
            </a:r>
          </a:p>
        </p:txBody>
      </p:sp>
    </p:spTree>
    <p:extLst>
      <p:ext uri="{BB962C8B-B14F-4D97-AF65-F5344CB8AC3E}">
        <p14:creationId xmlns:p14="http://schemas.microsoft.com/office/powerpoint/2010/main" val="125219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520B1-F0AD-AC28-D75B-519367440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6F854-C88D-84CC-F24D-784C356AD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4185" y="2015732"/>
            <a:ext cx="9810670" cy="3450613"/>
          </a:xfrm>
        </p:spPr>
        <p:txBody>
          <a:bodyPr>
            <a:normAutofit/>
          </a:bodyPr>
          <a:lstStyle/>
          <a:p>
            <a:pPr algn="ctr"/>
            <a:r>
              <a:rPr lang="en-GB" sz="4000" dirty="0"/>
              <a:t>The  old  lady  collected  all  sorts  of  things  silver  paper  hats  clocks  and tablecloths</a:t>
            </a:r>
          </a:p>
        </p:txBody>
      </p:sp>
      <p:pic>
        <p:nvPicPr>
          <p:cNvPr id="5" name="Picture 4" descr="A blue and black button&#10;&#10;Description automatically generated">
            <a:extLst>
              <a:ext uri="{FF2B5EF4-FFF2-40B4-BE49-F238E27FC236}">
                <a16:creationId xmlns:a16="http://schemas.microsoft.com/office/drawing/2014/main" id="{FA75ED5B-5E66-01F5-D83A-EAC69A617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856356" y="2296757"/>
            <a:ext cx="396996" cy="412715"/>
          </a:xfrm>
          <a:prstGeom prst="rect">
            <a:avLst/>
          </a:prstGeom>
        </p:spPr>
      </p:pic>
      <p:pic>
        <p:nvPicPr>
          <p:cNvPr id="9" name="Picture 8" descr="A purple circle with a black background&#10;&#10;Description automatically generated">
            <a:extLst>
              <a:ext uri="{FF2B5EF4-FFF2-40B4-BE49-F238E27FC236}">
                <a16:creationId xmlns:a16="http://schemas.microsoft.com/office/drawing/2014/main" id="{F3E316AC-9D39-49D2-B444-176E0B2B88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642019" y="3161607"/>
            <a:ext cx="253031" cy="2673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F855D2-2C78-B2F8-198A-756865658A65}"/>
              </a:ext>
            </a:extLst>
          </p:cNvPr>
          <p:cNvSpPr txBox="1"/>
          <p:nvPr/>
        </p:nvSpPr>
        <p:spPr>
          <a:xfrm>
            <a:off x="2050027" y="4454953"/>
            <a:ext cx="9345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-Can we change the meaning by adding more commas?</a:t>
            </a:r>
          </a:p>
        </p:txBody>
      </p:sp>
    </p:spTree>
    <p:extLst>
      <p:ext uri="{BB962C8B-B14F-4D97-AF65-F5344CB8AC3E}">
        <p14:creationId xmlns:p14="http://schemas.microsoft.com/office/powerpoint/2010/main" val="3683911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134A01E-B023-4C9D-B6C0-BDAF79BEBC66}"/>
</file>

<file path=customXml/itemProps2.xml><?xml version="1.0" encoding="utf-8"?>
<ds:datastoreItem xmlns:ds="http://schemas.openxmlformats.org/officeDocument/2006/customXml" ds:itemID="{AD4A1057-23C3-43BF-B99C-51929610A6FD}"/>
</file>

<file path=customXml/itemProps3.xml><?xml version="1.0" encoding="utf-8"?>
<ds:datastoreItem xmlns:ds="http://schemas.openxmlformats.org/officeDocument/2006/customXml" ds:itemID="{9AE2A65D-563F-42BE-BF01-B1CDCCA1FD2E}"/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75</TotalTime>
  <Words>148</Words>
  <Application>Microsoft Office PowerPoint</Application>
  <PresentationFormat>Widescreen</PresentationFormat>
  <Paragraphs>17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Gallery</vt:lpstr>
      <vt:lpstr>Punctuation Test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Ewan Haines-Davies</dc:creator>
  <cp:lastModifiedBy>Ewan Haines-Davies</cp:lastModifiedBy>
  <cp:revision>2</cp:revision>
  <dcterms:created xsi:type="dcterms:W3CDTF">2025-02-12T12:21:19Z</dcterms:created>
  <dcterms:modified xsi:type="dcterms:W3CDTF">2025-02-12T17:59:29Z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Order">
    <vt:r8>20257200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