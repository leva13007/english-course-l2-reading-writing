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8" d="100"/>
          <a:sy n="128" d="100"/>
        </p:scale>
        <p:origin x="-1050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62262-EF4E-406B-9F84-15108DD17609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B013E-245B-4A5C-B0CA-DE1A0198A0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405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8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056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3787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349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494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173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569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364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64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098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969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673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690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448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471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916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May 2016</a:t>
            </a:r>
          </a:p>
          <a:p>
            <a:pPr eaLnBrk="1" hangingPunct="1">
              <a:spcBef>
                <a:spcPct val="0"/>
              </a:spcBef>
            </a:pPr>
            <a:r>
              <a:rPr lang="en-GB" dirty="0" smtClean="0">
                <a:latin typeface="Comic Sans MS" pitchFamily="66" charset="0"/>
              </a:rPr>
              <a:t>Kindly contributed to </a:t>
            </a:r>
            <a:r>
              <a:rPr lang="en-US" dirty="0" smtClean="0">
                <a:solidFill>
                  <a:schemeClr val="accent2"/>
                </a:solidFill>
                <a:latin typeface="Comic Sans MS" pitchFamily="66" charset="0"/>
              </a:rPr>
              <a:t>www.skillsworkshop.org </a:t>
            </a:r>
            <a:r>
              <a:rPr lang="en-US" dirty="0" smtClean="0"/>
              <a:t>by Julie</a:t>
            </a:r>
            <a:r>
              <a:rPr lang="en-US" baseline="0" dirty="0" smtClean="0"/>
              <a:t> Hobson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CB013E-245B-4A5C-B0CA-DE1A0198A0B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35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63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39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1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6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587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33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31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973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61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63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63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6361C-E271-4A8D-B95B-F0FEEABF10B0}" type="datetimeFigureOut">
              <a:rPr lang="en-GB" smtClean="0"/>
              <a:t>09/05/2016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53AA-E94D-424A-8E7F-490F9FE27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81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killsworkshop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skillsworkshop.org/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539552" y="1340768"/>
            <a:ext cx="8136904" cy="128002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GB" sz="6000" b="1" dirty="0" smtClean="0"/>
              <a:t>Apostrophes and Commas</a:t>
            </a:r>
          </a:p>
        </p:txBody>
      </p:sp>
      <p:pic>
        <p:nvPicPr>
          <p:cNvPr id="15363" name="Picture 1" descr="Description: swlogo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767" y="219617"/>
            <a:ext cx="1370012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16"/>
          <p:cNvSpPr>
            <a:spLocks noChangeArrowheads="1"/>
          </p:cNvSpPr>
          <p:nvPr/>
        </p:nvSpPr>
        <p:spPr bwMode="auto">
          <a:xfrm>
            <a:off x="806534" y="5517232"/>
            <a:ext cx="7725906" cy="792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sz="1600" b="1" dirty="0">
                <a:solidFill>
                  <a:srgbClr val="000000"/>
                </a:solidFill>
                <a:latin typeface="Calibri" pitchFamily="34" charset="0"/>
              </a:rPr>
              <a:t>Curriculum links</a:t>
            </a:r>
          </a:p>
          <a:p>
            <a:r>
              <a:rPr lang="en-GB" sz="1400" dirty="0" smtClean="0">
                <a:solidFill>
                  <a:srgbClr val="000000"/>
                </a:solidFill>
                <a:latin typeface="Calibri" pitchFamily="34" charset="0"/>
              </a:rPr>
              <a:t>Underpins several aspects of </a:t>
            </a:r>
            <a:r>
              <a:rPr lang="en-GB" sz="1400" dirty="0">
                <a:solidFill>
                  <a:srgbClr val="000000"/>
                </a:solidFill>
                <a:latin typeface="Calibri" pitchFamily="34" charset="0"/>
              </a:rPr>
              <a:t>Functional</a:t>
            </a:r>
            <a:r>
              <a:rPr lang="en-GB" sz="1400" dirty="0" smtClean="0">
                <a:solidFill>
                  <a:srgbClr val="000000"/>
                </a:solidFill>
                <a:latin typeface="Calibri" pitchFamily="34" charset="0"/>
              </a:rPr>
              <a:t>  English / Adult literacy (writing)  at Entry 3, Level 1, Level 2.</a:t>
            </a:r>
          </a:p>
          <a:p>
            <a:endParaRPr lang="en-GB" sz="14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6534" y="3284984"/>
            <a:ext cx="7345189" cy="1656184"/>
          </a:xfrm>
          <a:prstGeom prst="roundRect">
            <a:avLst/>
          </a:prstGeom>
          <a:gradFill flip="none" rotWithShape="1">
            <a:gsLst>
              <a:gs pos="82900">
                <a:schemeClr val="accent2">
                  <a:lumMod val="20000"/>
                  <a:lumOff val="8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50000">
                <a:schemeClr val="bg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 smtClean="0">
                <a:solidFill>
                  <a:prstClr val="black"/>
                </a:solidFill>
              </a:rPr>
              <a:t>May 2016</a:t>
            </a:r>
            <a:r>
              <a:rPr lang="en-GB" dirty="0" smtClean="0">
                <a:solidFill>
                  <a:prstClr val="black"/>
                </a:solidFill>
              </a:rPr>
              <a:t> </a:t>
            </a:r>
            <a:endParaRPr lang="en-GB" dirty="0">
              <a:solidFill>
                <a:prstClr val="black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>
                <a:solidFill>
                  <a:prstClr val="black"/>
                </a:solidFill>
              </a:rPr>
              <a:t>Kindly contributed by </a:t>
            </a:r>
            <a:r>
              <a:rPr lang="en-GB" dirty="0" smtClean="0">
                <a:solidFill>
                  <a:prstClr val="black"/>
                </a:solidFill>
              </a:rPr>
              <a:t>Julie Hobson, TEAM Wearside.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>
                <a:solidFill>
                  <a:prstClr val="black"/>
                </a:solidFill>
              </a:rPr>
              <a:t>Search </a:t>
            </a:r>
            <a:r>
              <a:rPr lang="en-GB" dirty="0">
                <a:solidFill>
                  <a:prstClr val="black"/>
                </a:solidFill>
              </a:rPr>
              <a:t>for </a:t>
            </a:r>
            <a:r>
              <a:rPr lang="en-GB" dirty="0" smtClean="0">
                <a:solidFill>
                  <a:prstClr val="black"/>
                </a:solidFill>
              </a:rPr>
              <a:t>Julie </a:t>
            </a:r>
            <a:r>
              <a:rPr lang="en-GB" dirty="0">
                <a:solidFill>
                  <a:prstClr val="black"/>
                </a:solidFill>
              </a:rPr>
              <a:t>on </a:t>
            </a:r>
            <a:r>
              <a:rPr lang="en-GB" dirty="0">
                <a:solidFill>
                  <a:prstClr val="black"/>
                </a:solidFill>
                <a:hlinkClick r:id="rId5"/>
              </a:rPr>
              <a:t>www.skillsworkshop.org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smtClean="0">
                <a:solidFill>
                  <a:prstClr val="black"/>
                </a:solidFill>
              </a:rPr>
              <a:t>and </a:t>
            </a:r>
            <a:r>
              <a:rPr lang="en-GB" dirty="0">
                <a:solidFill>
                  <a:prstClr val="black"/>
                </a:solidFill>
              </a:rPr>
              <a:t>visit the download page for this resource to find </a:t>
            </a:r>
            <a:r>
              <a:rPr lang="en-GB" dirty="0" smtClean="0">
                <a:solidFill>
                  <a:prstClr val="black"/>
                </a:solidFill>
              </a:rPr>
              <a:t>a related Word document, and further links.</a:t>
            </a:r>
          </a:p>
        </p:txBody>
      </p:sp>
    </p:spTree>
    <p:extLst>
      <p:ext uri="{BB962C8B-B14F-4D97-AF65-F5344CB8AC3E}">
        <p14:creationId xmlns:p14="http://schemas.microsoft.com/office/powerpoint/2010/main" val="253031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Apostrophes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/>
              <a:t>Omissive</a:t>
            </a:r>
            <a:r>
              <a:rPr lang="en-GB" dirty="0" smtClean="0"/>
              <a:t> – could’ve</a:t>
            </a:r>
          </a:p>
          <a:p>
            <a:r>
              <a:rPr lang="en-GB" dirty="0" smtClean="0"/>
              <a:t>Possessive – Julie’s pen</a:t>
            </a:r>
          </a:p>
          <a:p>
            <a:r>
              <a:rPr lang="en-GB" dirty="0" smtClean="0"/>
              <a:t>Its versus it’s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3285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www.apostrophe.org.uk/wpimages/b0c832969c32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99792" y="2060848"/>
            <a:ext cx="3816424" cy="2736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647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fc0e4f9343ff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79" y="692696"/>
            <a:ext cx="5688631" cy="5184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00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a7119a7092c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124744"/>
            <a:ext cx="5832648" cy="4464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319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ae545ee41a90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836712"/>
            <a:ext cx="6264696" cy="5256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4039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642dbbcd57d5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1880" y="908720"/>
            <a:ext cx="2808311" cy="47525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279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2303f98d59b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836712"/>
            <a:ext cx="5976664" cy="52565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1825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61c4a81667d6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620688"/>
            <a:ext cx="6696744" cy="5472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801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6ea0a975e58c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764704"/>
            <a:ext cx="5688632" cy="52565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9877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f785b2aefa71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548680"/>
            <a:ext cx="6912768" cy="5328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530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36a684ca82e7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836712"/>
            <a:ext cx="6120680" cy="4824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6736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apostrophe.org.uk/wpimages/6767546ace43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7904" y="1772816"/>
            <a:ext cx="2520280" cy="3384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5079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Commas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Why are they important?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282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764704"/>
            <a:ext cx="6912768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2854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3808" y="1365363"/>
            <a:ext cx="4032448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4443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95313"/>
            <a:ext cx="6264695" cy="566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1359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908720"/>
            <a:ext cx="6912768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05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063F83-6D87-4A12-A546-BC2D87B7C146}"/>
</file>

<file path=customXml/itemProps2.xml><?xml version="1.0" encoding="utf-8"?>
<ds:datastoreItem xmlns:ds="http://schemas.openxmlformats.org/officeDocument/2006/customXml" ds:itemID="{CBB8F9F8-297D-4450-BDBB-28FDAA2B71E6}"/>
</file>

<file path=customXml/itemProps3.xml><?xml version="1.0" encoding="utf-8"?>
<ds:datastoreItem xmlns:ds="http://schemas.openxmlformats.org/officeDocument/2006/customXml" ds:itemID="{25456A11-A5D8-4F78-9504-5D82FA713C8D}"/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258</Words>
  <Application>Microsoft Office PowerPoint</Application>
  <PresentationFormat>On-screen Show (4:3)</PresentationFormat>
  <Paragraphs>65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Apostrophes and Commas</vt:lpstr>
      <vt:lpstr>Apostrophes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Commas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Apostrophes</dc:title>
  <dc:subject>E3-L2 Functional English writing</dc:subject>
  <dc:creator>Julie Hobson</dc:creator>
  <cp:lastModifiedBy>Maggie Harnew</cp:lastModifiedBy>
  <cp:revision>4</cp:revision>
  <dcterms:created xsi:type="dcterms:W3CDTF">2016-03-11T10:12:42Z</dcterms:created>
  <dcterms:modified xsi:type="dcterms:W3CDTF">2016-05-09T14:53:13Z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20167100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