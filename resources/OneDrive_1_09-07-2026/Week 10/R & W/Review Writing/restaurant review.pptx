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diagrams/data1.xml" ContentType="application/vnd.openxmlformats-officedocument.drawingml.diagramData+xml"/>
  <Override PartName="/ppt/slideMasters/slideMaster1.xml" ContentType="application/vnd.openxmlformats-officedocument.presentationml.slideMaster+xml"/>
  <Override PartName="/ppt/slideLayouts/slideLayout8.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heme/theme1.xml" ContentType="application/vnd.openxmlformats-officedocument.theme+xml"/>
  <Override PartName="/ppt/authors.xml" ContentType="application/vnd.ms-powerpoint.authors+xml"/>
  <Override PartName="/ppt/comments/modernComment_109_2056B384.xml" ContentType="application/vnd.ms-powerpoint.comments+xml"/>
  <Override PartName="/ppt/diagrams/quickStyle1.xml" ContentType="application/vnd.openxmlformats-officedocument.drawingml.diagramStyle+xml"/>
  <Override PartName="/ppt/diagrams/drawing1.xml" ContentType="application/vnd.ms-office.drawingml.diagramDrawing+xml"/>
  <Override PartName="/ppt/diagrams/colors1.xml" ContentType="application/vnd.openxmlformats-officedocument.drawingml.diagramColors+xml"/>
  <Override PartName="/ppt/diagrams/layout1.xml" ContentType="application/vnd.openxmlformats-officedocument.drawingml.diagramLayout+xml"/>
  <Override PartName="/ppt/theme/theme2.xml" ContentType="application/vnd.openxmlformats-officedocument.them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2"/>
  </p:notesMasterIdLst>
  <p:sldIdLst>
    <p:sldId id="256" r:id="rId2"/>
    <p:sldId id="257" r:id="rId3"/>
    <p:sldId id="259" r:id="rId4"/>
    <p:sldId id="258" r:id="rId5"/>
    <p:sldId id="263" r:id="rId6"/>
    <p:sldId id="265" r:id="rId7"/>
    <p:sldId id="427" r:id="rId8"/>
    <p:sldId id="266" r:id="rId9"/>
    <p:sldId id="260" r:id="rId10"/>
    <p:sldId id="261"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B0649FC-8F13-651C-E135-5D9C2383F320}" name="Marie ScarlettDavis" initials="MS" userId="S::marie.scarlettdavis@conel.ac.uk::aff6197f-caa2-45a6-b28c-85ccf919c32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972" autoAdjust="0"/>
    <p:restoredTop sz="94681" autoAdjust="0"/>
  </p:normalViewPr>
  <p:slideViewPr>
    <p:cSldViewPr snapToGrid="0">
      <p:cViewPr varScale="1">
        <p:scale>
          <a:sx n="64" d="100"/>
          <a:sy n="64" d="100"/>
        </p:scale>
        <p:origin x="774"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openxmlformats.org/officeDocument/2006/relationships/customXml" Target="../customXml/item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8/10/relationships/authors" Target="authors.xml"/><Relationship Id="rId2" Type="http://schemas.openxmlformats.org/officeDocument/2006/relationships/slide" Target="slides/slide1.xml"/><Relationship Id="rId16" Type="http://schemas.openxmlformats.org/officeDocument/2006/relationships/tableStyles" Target="tableStyles.xml"/><Relationship Id="rId20" Type="http://schemas.openxmlformats.org/officeDocument/2006/relationships/customXml" Target="../customXml/item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customXml" Target="../customXml/item2.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omments/modernComment_109_2056B384.xml><?xml version="1.0" encoding="utf-8"?>
<p188:cmLst xmlns:a="http://schemas.openxmlformats.org/drawingml/2006/main" xmlns:r="http://schemas.openxmlformats.org/officeDocument/2006/relationships" xmlns:p188="http://schemas.microsoft.com/office/powerpoint/2018/8/main">
  <p188:cm id="{BFD4643F-597D-4545-85F7-EEFB6D0F98DB}" authorId="{1B0649FC-8F13-651C-E135-5D9C2383F320}" created="2024-12-07T14:06:26.930">
    <pc:sldMkLst xmlns:pc="http://schemas.microsoft.com/office/powerpoint/2013/main/command">
      <pc:docMk/>
      <pc:sldMk cId="542552964" sldId="265"/>
    </pc:sldMkLst>
    <p188:txBody>
      <a:bodyPr/>
      <a:lstStyle/>
      <a:p>
        <a:r>
          <a:rPr lang="en-US"/>
          <a:t>use with Restaurant Critic - using adjectives by https://www.skillsworkshop.org/users/paul-burnett on 28 August 2018.</a:t>
        </a:r>
      </a:p>
    </p188:txBody>
  </p188:cm>
</p188:cmLst>
</file>

<file path=ppt/diagrams/_rels/data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4" Type="http://schemas.openxmlformats.org/officeDocument/2006/relationships/image" Target="../media/image6.svg"/></Relationships>
</file>

<file path=ppt/diagrams/_rels/drawing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4" Type="http://schemas.openxmlformats.org/officeDocument/2006/relationships/image" Target="../media/image6.svg"/></Relationships>
</file>

<file path=ppt/diagrams/colors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0739DE8-60F2-4082-841C-8C11023890AD}" type="doc">
      <dgm:prSet loTypeId="urn:microsoft.com/office/officeart/2018/5/layout/IconCircle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07C1437A-B5E2-4D01-9E00-6B0E848DF71A}">
      <dgm:prSet/>
      <dgm:spPr/>
      <dgm:t>
        <a:bodyPr/>
        <a:lstStyle/>
        <a:p>
          <a:pPr>
            <a:lnSpc>
              <a:spcPct val="100000"/>
            </a:lnSpc>
            <a:defRPr cap="all"/>
          </a:pPr>
          <a:r>
            <a:rPr lang="en-US"/>
            <a:t>Write a review (include correct form and purpose)</a:t>
          </a:r>
        </a:p>
      </dgm:t>
    </dgm:pt>
    <dgm:pt modelId="{A5E66DF2-0D2F-44F6-B57B-5D7E0C9652C2}" type="parTrans" cxnId="{4924C1E0-B3F0-4B3C-9426-C5AFAB3D3811}">
      <dgm:prSet/>
      <dgm:spPr/>
      <dgm:t>
        <a:bodyPr/>
        <a:lstStyle/>
        <a:p>
          <a:endParaRPr lang="en-US"/>
        </a:p>
      </dgm:t>
    </dgm:pt>
    <dgm:pt modelId="{C5A6BD8C-AA49-456F-AB2C-FF6C93501C2A}" type="sibTrans" cxnId="{4924C1E0-B3F0-4B3C-9426-C5AFAB3D3811}">
      <dgm:prSet/>
      <dgm:spPr/>
      <dgm:t>
        <a:bodyPr/>
        <a:lstStyle/>
        <a:p>
          <a:endParaRPr lang="en-US"/>
        </a:p>
      </dgm:t>
    </dgm:pt>
    <dgm:pt modelId="{0CCECB27-C0AF-4A64-9EFA-A34B45D12D41}">
      <dgm:prSet/>
      <dgm:spPr/>
      <dgm:t>
        <a:bodyPr/>
        <a:lstStyle/>
        <a:p>
          <a:pPr>
            <a:lnSpc>
              <a:spcPct val="100000"/>
            </a:lnSpc>
            <a:defRPr cap="all"/>
          </a:pPr>
          <a:r>
            <a:rPr lang="en-US"/>
            <a:t>Use appropriate adjectives </a:t>
          </a:r>
        </a:p>
      </dgm:t>
    </dgm:pt>
    <dgm:pt modelId="{2D380551-4301-49A6-A365-A49AE5A97117}" type="parTrans" cxnId="{250C22F3-7686-4BF7-BC35-39E847540D99}">
      <dgm:prSet/>
      <dgm:spPr/>
      <dgm:t>
        <a:bodyPr/>
        <a:lstStyle/>
        <a:p>
          <a:endParaRPr lang="en-US"/>
        </a:p>
      </dgm:t>
    </dgm:pt>
    <dgm:pt modelId="{78E8A836-AB90-41F6-8819-BF50F81E22BF}" type="sibTrans" cxnId="{250C22F3-7686-4BF7-BC35-39E847540D99}">
      <dgm:prSet/>
      <dgm:spPr/>
      <dgm:t>
        <a:bodyPr/>
        <a:lstStyle/>
        <a:p>
          <a:endParaRPr lang="en-US"/>
        </a:p>
      </dgm:t>
    </dgm:pt>
    <dgm:pt modelId="{4DE5D761-B3B2-4535-807E-FA4CEDD0FED1}" type="pres">
      <dgm:prSet presAssocID="{C0739DE8-60F2-4082-841C-8C11023890AD}" presName="root" presStyleCnt="0">
        <dgm:presLayoutVars>
          <dgm:dir/>
          <dgm:resizeHandles val="exact"/>
        </dgm:presLayoutVars>
      </dgm:prSet>
      <dgm:spPr/>
    </dgm:pt>
    <dgm:pt modelId="{F05880BA-3EED-490C-871C-E9A44224337C}" type="pres">
      <dgm:prSet presAssocID="{07C1437A-B5E2-4D01-9E00-6B0E848DF71A}" presName="compNode" presStyleCnt="0"/>
      <dgm:spPr/>
    </dgm:pt>
    <dgm:pt modelId="{BC867F00-3430-4390-80FD-E8C71D263253}" type="pres">
      <dgm:prSet presAssocID="{07C1437A-B5E2-4D01-9E00-6B0E848DF71A}" presName="iconBgRect" presStyleLbl="bgShp" presStyleIdx="0" presStyleCnt="2"/>
      <dgm:spPr/>
    </dgm:pt>
    <dgm:pt modelId="{45394C47-1587-41D9-A01D-9EAE835BCE4B}" type="pres">
      <dgm:prSet presAssocID="{07C1437A-B5E2-4D01-9E00-6B0E848DF71A}"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ocument"/>
        </a:ext>
      </dgm:extLst>
    </dgm:pt>
    <dgm:pt modelId="{E52F1B72-2AA0-4960-A791-F6FD2856AC85}" type="pres">
      <dgm:prSet presAssocID="{07C1437A-B5E2-4D01-9E00-6B0E848DF71A}" presName="spaceRect" presStyleCnt="0"/>
      <dgm:spPr/>
    </dgm:pt>
    <dgm:pt modelId="{DCAFE199-A2CA-4861-898F-8562DFF542BF}" type="pres">
      <dgm:prSet presAssocID="{07C1437A-B5E2-4D01-9E00-6B0E848DF71A}" presName="textRect" presStyleLbl="revTx" presStyleIdx="0" presStyleCnt="2">
        <dgm:presLayoutVars>
          <dgm:chMax val="1"/>
          <dgm:chPref val="1"/>
        </dgm:presLayoutVars>
      </dgm:prSet>
      <dgm:spPr/>
    </dgm:pt>
    <dgm:pt modelId="{A6AA165E-13FF-4776-A608-E011630E445C}" type="pres">
      <dgm:prSet presAssocID="{C5A6BD8C-AA49-456F-AB2C-FF6C93501C2A}" presName="sibTrans" presStyleCnt="0"/>
      <dgm:spPr/>
    </dgm:pt>
    <dgm:pt modelId="{B01B65B6-C45E-4CE2-97A3-187D92A2DCA8}" type="pres">
      <dgm:prSet presAssocID="{0CCECB27-C0AF-4A64-9EFA-A34B45D12D41}" presName="compNode" presStyleCnt="0"/>
      <dgm:spPr/>
    </dgm:pt>
    <dgm:pt modelId="{66FDCD78-0A1A-4971-9A75-A31D9B8D6EAB}" type="pres">
      <dgm:prSet presAssocID="{0CCECB27-C0AF-4A64-9EFA-A34B45D12D41}" presName="iconBgRect" presStyleLbl="bgShp" presStyleIdx="1" presStyleCnt="2"/>
      <dgm:spPr/>
    </dgm:pt>
    <dgm:pt modelId="{3E7DE3F8-929C-4135-86D8-6D96B2334FD7}" type="pres">
      <dgm:prSet presAssocID="{0CCECB27-C0AF-4A64-9EFA-A34B45D12D41}"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heckmark"/>
        </a:ext>
      </dgm:extLst>
    </dgm:pt>
    <dgm:pt modelId="{D227ACAB-32D2-4E15-AEB2-143E0A08A185}" type="pres">
      <dgm:prSet presAssocID="{0CCECB27-C0AF-4A64-9EFA-A34B45D12D41}" presName="spaceRect" presStyleCnt="0"/>
      <dgm:spPr/>
    </dgm:pt>
    <dgm:pt modelId="{34D1F85B-F4E1-474A-AC96-40888E0CFA27}" type="pres">
      <dgm:prSet presAssocID="{0CCECB27-C0AF-4A64-9EFA-A34B45D12D41}" presName="textRect" presStyleLbl="revTx" presStyleIdx="1" presStyleCnt="2">
        <dgm:presLayoutVars>
          <dgm:chMax val="1"/>
          <dgm:chPref val="1"/>
        </dgm:presLayoutVars>
      </dgm:prSet>
      <dgm:spPr/>
    </dgm:pt>
  </dgm:ptLst>
  <dgm:cxnLst>
    <dgm:cxn modelId="{6DED6E28-3613-4A0B-BFA0-899E58CE2D94}" type="presOf" srcId="{07C1437A-B5E2-4D01-9E00-6B0E848DF71A}" destId="{DCAFE199-A2CA-4861-898F-8562DFF542BF}" srcOrd="0" destOrd="0" presId="urn:microsoft.com/office/officeart/2018/5/layout/IconCircleLabelList"/>
    <dgm:cxn modelId="{DD3A7743-9220-4D52-B18B-71F31402DBA4}" type="presOf" srcId="{C0739DE8-60F2-4082-841C-8C11023890AD}" destId="{4DE5D761-B3B2-4535-807E-FA4CEDD0FED1}" srcOrd="0" destOrd="0" presId="urn:microsoft.com/office/officeart/2018/5/layout/IconCircleLabelList"/>
    <dgm:cxn modelId="{3C495591-DC23-4179-B32D-E8D1DE5665F2}" type="presOf" srcId="{0CCECB27-C0AF-4A64-9EFA-A34B45D12D41}" destId="{34D1F85B-F4E1-474A-AC96-40888E0CFA27}" srcOrd="0" destOrd="0" presId="urn:microsoft.com/office/officeart/2018/5/layout/IconCircleLabelList"/>
    <dgm:cxn modelId="{4924C1E0-B3F0-4B3C-9426-C5AFAB3D3811}" srcId="{C0739DE8-60F2-4082-841C-8C11023890AD}" destId="{07C1437A-B5E2-4D01-9E00-6B0E848DF71A}" srcOrd="0" destOrd="0" parTransId="{A5E66DF2-0D2F-44F6-B57B-5D7E0C9652C2}" sibTransId="{C5A6BD8C-AA49-456F-AB2C-FF6C93501C2A}"/>
    <dgm:cxn modelId="{250C22F3-7686-4BF7-BC35-39E847540D99}" srcId="{C0739DE8-60F2-4082-841C-8C11023890AD}" destId="{0CCECB27-C0AF-4A64-9EFA-A34B45D12D41}" srcOrd="1" destOrd="0" parTransId="{2D380551-4301-49A6-A365-A49AE5A97117}" sibTransId="{78E8A836-AB90-41F6-8819-BF50F81E22BF}"/>
    <dgm:cxn modelId="{F02D568B-616C-4E6C-B0FD-B4AB2F0EF8D0}" type="presParOf" srcId="{4DE5D761-B3B2-4535-807E-FA4CEDD0FED1}" destId="{F05880BA-3EED-490C-871C-E9A44224337C}" srcOrd="0" destOrd="0" presId="urn:microsoft.com/office/officeart/2018/5/layout/IconCircleLabelList"/>
    <dgm:cxn modelId="{145296ED-5A1F-40C0-AAF2-21B76C3EDD9C}" type="presParOf" srcId="{F05880BA-3EED-490C-871C-E9A44224337C}" destId="{BC867F00-3430-4390-80FD-E8C71D263253}" srcOrd="0" destOrd="0" presId="urn:microsoft.com/office/officeart/2018/5/layout/IconCircleLabelList"/>
    <dgm:cxn modelId="{682BE2B3-34AD-452B-B8CC-90E7681F546E}" type="presParOf" srcId="{F05880BA-3EED-490C-871C-E9A44224337C}" destId="{45394C47-1587-41D9-A01D-9EAE835BCE4B}" srcOrd="1" destOrd="0" presId="urn:microsoft.com/office/officeart/2018/5/layout/IconCircleLabelList"/>
    <dgm:cxn modelId="{E6CE9091-DDBD-43D3-AA98-19B6C21977FC}" type="presParOf" srcId="{F05880BA-3EED-490C-871C-E9A44224337C}" destId="{E52F1B72-2AA0-4960-A791-F6FD2856AC85}" srcOrd="2" destOrd="0" presId="urn:microsoft.com/office/officeart/2018/5/layout/IconCircleLabelList"/>
    <dgm:cxn modelId="{02D1F17B-99F6-4802-A42E-738C3AF2B04D}" type="presParOf" srcId="{F05880BA-3EED-490C-871C-E9A44224337C}" destId="{DCAFE199-A2CA-4861-898F-8562DFF542BF}" srcOrd="3" destOrd="0" presId="urn:microsoft.com/office/officeart/2018/5/layout/IconCircleLabelList"/>
    <dgm:cxn modelId="{6D78F203-4D76-4395-B4BB-308226BBA9E2}" type="presParOf" srcId="{4DE5D761-B3B2-4535-807E-FA4CEDD0FED1}" destId="{A6AA165E-13FF-4776-A608-E011630E445C}" srcOrd="1" destOrd="0" presId="urn:microsoft.com/office/officeart/2018/5/layout/IconCircleLabelList"/>
    <dgm:cxn modelId="{75D69B8A-4550-49C8-84AF-470806D0974B}" type="presParOf" srcId="{4DE5D761-B3B2-4535-807E-FA4CEDD0FED1}" destId="{B01B65B6-C45E-4CE2-97A3-187D92A2DCA8}" srcOrd="2" destOrd="0" presId="urn:microsoft.com/office/officeart/2018/5/layout/IconCircleLabelList"/>
    <dgm:cxn modelId="{6CC95ADF-F2C3-459A-82B1-A8D2F1A12486}" type="presParOf" srcId="{B01B65B6-C45E-4CE2-97A3-187D92A2DCA8}" destId="{66FDCD78-0A1A-4971-9A75-A31D9B8D6EAB}" srcOrd="0" destOrd="0" presId="urn:microsoft.com/office/officeart/2018/5/layout/IconCircleLabelList"/>
    <dgm:cxn modelId="{7866CB8E-B776-4D42-9B7D-BFFA65FC3922}" type="presParOf" srcId="{B01B65B6-C45E-4CE2-97A3-187D92A2DCA8}" destId="{3E7DE3F8-929C-4135-86D8-6D96B2334FD7}" srcOrd="1" destOrd="0" presId="urn:microsoft.com/office/officeart/2018/5/layout/IconCircleLabelList"/>
    <dgm:cxn modelId="{02BF94C1-A7DB-4C61-AE55-E0C7F08539C6}" type="presParOf" srcId="{B01B65B6-C45E-4CE2-97A3-187D92A2DCA8}" destId="{D227ACAB-32D2-4E15-AEB2-143E0A08A185}" srcOrd="2" destOrd="0" presId="urn:microsoft.com/office/officeart/2018/5/layout/IconCircleLabelList"/>
    <dgm:cxn modelId="{96946678-BF5B-417C-95E1-15F7EE24A2A1}" type="presParOf" srcId="{B01B65B6-C45E-4CE2-97A3-187D92A2DCA8}" destId="{34D1F85B-F4E1-474A-AC96-40888E0CFA27}" srcOrd="3" destOrd="0" presId="urn:microsoft.com/office/officeart/2018/5/layout/IconCircle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867F00-3430-4390-80FD-E8C71D263253}">
      <dsp:nvSpPr>
        <dsp:cNvPr id="0" name=""/>
        <dsp:cNvSpPr/>
      </dsp:nvSpPr>
      <dsp:spPr>
        <a:xfrm>
          <a:off x="2250914" y="296402"/>
          <a:ext cx="2196000" cy="2196000"/>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5394C47-1587-41D9-A01D-9EAE835BCE4B}">
      <dsp:nvSpPr>
        <dsp:cNvPr id="0" name=""/>
        <dsp:cNvSpPr/>
      </dsp:nvSpPr>
      <dsp:spPr>
        <a:xfrm>
          <a:off x="2718914" y="764402"/>
          <a:ext cx="1260000" cy="1260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CAFE199-A2CA-4861-898F-8562DFF542BF}">
      <dsp:nvSpPr>
        <dsp:cNvPr id="0" name=""/>
        <dsp:cNvSpPr/>
      </dsp:nvSpPr>
      <dsp:spPr>
        <a:xfrm>
          <a:off x="1548914" y="3176402"/>
          <a:ext cx="36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100000"/>
            </a:lnSpc>
            <a:spcBef>
              <a:spcPct val="0"/>
            </a:spcBef>
            <a:spcAft>
              <a:spcPct val="35000"/>
            </a:spcAft>
            <a:buNone/>
            <a:defRPr cap="all"/>
          </a:pPr>
          <a:r>
            <a:rPr lang="en-US" sz="2000" kern="1200"/>
            <a:t>Write a review (include correct form and purpose)</a:t>
          </a:r>
        </a:p>
      </dsp:txBody>
      <dsp:txXfrm>
        <a:off x="1548914" y="3176402"/>
        <a:ext cx="3600000" cy="720000"/>
      </dsp:txXfrm>
    </dsp:sp>
    <dsp:sp modelId="{66FDCD78-0A1A-4971-9A75-A31D9B8D6EAB}">
      <dsp:nvSpPr>
        <dsp:cNvPr id="0" name=""/>
        <dsp:cNvSpPr/>
      </dsp:nvSpPr>
      <dsp:spPr>
        <a:xfrm>
          <a:off x="6480914" y="296402"/>
          <a:ext cx="2196000" cy="2196000"/>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E7DE3F8-929C-4135-86D8-6D96B2334FD7}">
      <dsp:nvSpPr>
        <dsp:cNvPr id="0" name=""/>
        <dsp:cNvSpPr/>
      </dsp:nvSpPr>
      <dsp:spPr>
        <a:xfrm>
          <a:off x="6948914" y="764402"/>
          <a:ext cx="1260000" cy="1260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4D1F85B-F4E1-474A-AC96-40888E0CFA27}">
      <dsp:nvSpPr>
        <dsp:cNvPr id="0" name=""/>
        <dsp:cNvSpPr/>
      </dsp:nvSpPr>
      <dsp:spPr>
        <a:xfrm>
          <a:off x="5778914" y="3176402"/>
          <a:ext cx="360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100000"/>
            </a:lnSpc>
            <a:spcBef>
              <a:spcPct val="0"/>
            </a:spcBef>
            <a:spcAft>
              <a:spcPct val="35000"/>
            </a:spcAft>
            <a:buNone/>
            <a:defRPr cap="all"/>
          </a:pPr>
          <a:r>
            <a:rPr lang="en-US" sz="2000" kern="1200"/>
            <a:t>Use appropriate adjectives </a:t>
          </a:r>
        </a:p>
      </dsp:txBody>
      <dsp:txXfrm>
        <a:off x="5778914" y="3176402"/>
        <a:ext cx="3600000" cy="720000"/>
      </dsp:txXfrm>
    </dsp:sp>
  </dsp:spTree>
</dsp:drawing>
</file>

<file path=ppt/diagrams/layout1.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D53F0CD-4CE4-4AB7-976B-9E2B8F7019C0}" type="datetimeFigureOut">
              <a:rPr lang="en-GB" smtClean="0"/>
              <a:t>03/11/2025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52992AF-336D-4B5F-AF73-B0CF00928BE4}" type="slidenum">
              <a:rPr lang="en-GB" smtClean="0"/>
              <a:t>‹#›</a:t>
            </a:fld>
            <a:endParaRPr lang="en-GB"/>
          </a:p>
        </p:txBody>
      </p:sp>
    </p:spTree>
    <p:extLst>
      <p:ext uri="{BB962C8B-B14F-4D97-AF65-F5344CB8AC3E}">
        <p14:creationId xmlns:p14="http://schemas.microsoft.com/office/powerpoint/2010/main" val="32414391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latin typeface="Comic Sans MS"/>
                <a:ea typeface="Comic Sans MS"/>
                <a:cs typeface="Comic Sans MS"/>
                <a:sym typeface="Comic Sans MS"/>
              </a:rPr>
              <a:t>December 2024. Kindly contributed to </a:t>
            </a:r>
            <a:r>
              <a:rPr lang="en-GB" dirty="0">
                <a:solidFill>
                  <a:srgbClr val="000000"/>
                </a:solidFill>
                <a:latin typeface="Comic Sans MS"/>
                <a:ea typeface="Comic Sans MS"/>
                <a:cs typeface="Comic Sans MS"/>
                <a:sym typeface="Comic Sans MS"/>
              </a:rPr>
              <a:t>www.skillsworkshop.org </a:t>
            </a:r>
            <a:r>
              <a:rPr lang="en-GB" dirty="0"/>
              <a:t>by Marie Scarlett Davis, CONEL</a:t>
            </a:r>
          </a:p>
          <a:p>
            <a:endParaRPr lang="en-GB" dirty="0"/>
          </a:p>
        </p:txBody>
      </p:sp>
      <p:sp>
        <p:nvSpPr>
          <p:cNvPr id="4" name="Slide Number Placeholder 3"/>
          <p:cNvSpPr>
            <a:spLocks noGrp="1"/>
          </p:cNvSpPr>
          <p:nvPr>
            <p:ph type="sldNum" sz="quarter" idx="5"/>
          </p:nvPr>
        </p:nvSpPr>
        <p:spPr/>
        <p:txBody>
          <a:bodyPr/>
          <a:lstStyle/>
          <a:p>
            <a:fld id="{652992AF-336D-4B5F-AF73-B0CF00928BE4}" type="slidenum">
              <a:rPr lang="en-GB" smtClean="0"/>
              <a:t>1</a:t>
            </a:fld>
            <a:endParaRPr lang="en-GB"/>
          </a:p>
        </p:txBody>
      </p:sp>
    </p:spTree>
    <p:extLst>
      <p:ext uri="{BB962C8B-B14F-4D97-AF65-F5344CB8AC3E}">
        <p14:creationId xmlns:p14="http://schemas.microsoft.com/office/powerpoint/2010/main" val="17620630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December 2024. Kindly contributed to www.skillsworkshop.org by Marie Scarlett Davis, CONEL</a:t>
            </a:r>
          </a:p>
          <a:p>
            <a:endParaRPr lang="en-GB" dirty="0"/>
          </a:p>
        </p:txBody>
      </p:sp>
      <p:sp>
        <p:nvSpPr>
          <p:cNvPr id="4" name="Slide Number Placeholder 3"/>
          <p:cNvSpPr>
            <a:spLocks noGrp="1"/>
          </p:cNvSpPr>
          <p:nvPr>
            <p:ph type="sldNum" sz="quarter" idx="5"/>
          </p:nvPr>
        </p:nvSpPr>
        <p:spPr/>
        <p:txBody>
          <a:bodyPr/>
          <a:lstStyle/>
          <a:p>
            <a:fld id="{652992AF-336D-4B5F-AF73-B0CF00928BE4}" type="slidenum">
              <a:rPr lang="en-GB" smtClean="0"/>
              <a:t>2</a:t>
            </a:fld>
            <a:endParaRPr lang="en-GB"/>
          </a:p>
        </p:txBody>
      </p:sp>
    </p:spTree>
    <p:extLst>
      <p:ext uri="{BB962C8B-B14F-4D97-AF65-F5344CB8AC3E}">
        <p14:creationId xmlns:p14="http://schemas.microsoft.com/office/powerpoint/2010/main" val="35634796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December 2024. Kindly contributed to www.skillsworkshop.org by Marie Scarlett Davis, CONEL</a:t>
            </a:r>
          </a:p>
          <a:p>
            <a:endParaRPr lang="en-GB" dirty="0"/>
          </a:p>
        </p:txBody>
      </p:sp>
      <p:sp>
        <p:nvSpPr>
          <p:cNvPr id="4" name="Slide Number Placeholder 3"/>
          <p:cNvSpPr>
            <a:spLocks noGrp="1"/>
          </p:cNvSpPr>
          <p:nvPr>
            <p:ph type="sldNum" sz="quarter" idx="5"/>
          </p:nvPr>
        </p:nvSpPr>
        <p:spPr/>
        <p:txBody>
          <a:bodyPr/>
          <a:lstStyle/>
          <a:p>
            <a:fld id="{652992AF-336D-4B5F-AF73-B0CF00928BE4}" type="slidenum">
              <a:rPr lang="en-GB" smtClean="0"/>
              <a:t>3</a:t>
            </a:fld>
            <a:endParaRPr lang="en-GB"/>
          </a:p>
        </p:txBody>
      </p:sp>
    </p:spTree>
    <p:extLst>
      <p:ext uri="{BB962C8B-B14F-4D97-AF65-F5344CB8AC3E}">
        <p14:creationId xmlns:p14="http://schemas.microsoft.com/office/powerpoint/2010/main" val="966957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December 2024. Kindly contributed to www.skillsworkshop.org by Marie Scarlett Davis, CONEL</a:t>
            </a:r>
          </a:p>
          <a:p>
            <a:endParaRPr lang="en-GB" dirty="0"/>
          </a:p>
        </p:txBody>
      </p:sp>
      <p:sp>
        <p:nvSpPr>
          <p:cNvPr id="4" name="Slide Number Placeholder 3"/>
          <p:cNvSpPr>
            <a:spLocks noGrp="1"/>
          </p:cNvSpPr>
          <p:nvPr>
            <p:ph type="sldNum" sz="quarter" idx="5"/>
          </p:nvPr>
        </p:nvSpPr>
        <p:spPr/>
        <p:txBody>
          <a:bodyPr/>
          <a:lstStyle/>
          <a:p>
            <a:fld id="{652992AF-336D-4B5F-AF73-B0CF00928BE4}" type="slidenum">
              <a:rPr lang="en-GB" smtClean="0"/>
              <a:t>4</a:t>
            </a:fld>
            <a:endParaRPr lang="en-GB"/>
          </a:p>
        </p:txBody>
      </p:sp>
    </p:spTree>
    <p:extLst>
      <p:ext uri="{BB962C8B-B14F-4D97-AF65-F5344CB8AC3E}">
        <p14:creationId xmlns:p14="http://schemas.microsoft.com/office/powerpoint/2010/main" val="24725937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December 2024. Kindly contributed to www.skillsworkshop.org by Marie Scarlett Davis, CONEL</a:t>
            </a:r>
          </a:p>
          <a:p>
            <a:endParaRPr lang="en-GB" dirty="0"/>
          </a:p>
        </p:txBody>
      </p:sp>
      <p:sp>
        <p:nvSpPr>
          <p:cNvPr id="4" name="Slide Number Placeholder 3"/>
          <p:cNvSpPr>
            <a:spLocks noGrp="1"/>
          </p:cNvSpPr>
          <p:nvPr>
            <p:ph type="sldNum" sz="quarter" idx="5"/>
          </p:nvPr>
        </p:nvSpPr>
        <p:spPr/>
        <p:txBody>
          <a:bodyPr/>
          <a:lstStyle/>
          <a:p>
            <a:fld id="{652992AF-336D-4B5F-AF73-B0CF00928BE4}" type="slidenum">
              <a:rPr lang="en-GB" smtClean="0"/>
              <a:t>5</a:t>
            </a:fld>
            <a:endParaRPr lang="en-GB"/>
          </a:p>
        </p:txBody>
      </p:sp>
    </p:spTree>
    <p:extLst>
      <p:ext uri="{BB962C8B-B14F-4D97-AF65-F5344CB8AC3E}">
        <p14:creationId xmlns:p14="http://schemas.microsoft.com/office/powerpoint/2010/main" val="10704850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December 2024. Kindly contributed to www.skillsworkshop.org by Marie Scarlett Davis, CONEL</a:t>
            </a:r>
          </a:p>
          <a:p>
            <a:endParaRPr lang="en-GB" dirty="0"/>
          </a:p>
        </p:txBody>
      </p:sp>
      <p:sp>
        <p:nvSpPr>
          <p:cNvPr id="4" name="Slide Number Placeholder 3"/>
          <p:cNvSpPr>
            <a:spLocks noGrp="1"/>
          </p:cNvSpPr>
          <p:nvPr>
            <p:ph type="sldNum" sz="quarter" idx="5"/>
          </p:nvPr>
        </p:nvSpPr>
        <p:spPr/>
        <p:txBody>
          <a:bodyPr/>
          <a:lstStyle/>
          <a:p>
            <a:fld id="{652992AF-336D-4B5F-AF73-B0CF00928BE4}" type="slidenum">
              <a:rPr lang="en-GB" smtClean="0"/>
              <a:t>6</a:t>
            </a:fld>
            <a:endParaRPr lang="en-GB"/>
          </a:p>
        </p:txBody>
      </p:sp>
    </p:spTree>
    <p:extLst>
      <p:ext uri="{BB962C8B-B14F-4D97-AF65-F5344CB8AC3E}">
        <p14:creationId xmlns:p14="http://schemas.microsoft.com/office/powerpoint/2010/main" val="32313417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8EA22F-FF1F-05FB-0260-7A11A9B872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464909-4B46-6117-A25D-6C1F56D023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070073-2958-ED4C-B4EA-A62D65A10EB7}"/>
              </a:ext>
            </a:extLst>
          </p:cNvPr>
          <p:cNvSpPr>
            <a:spLocks noGrp="1"/>
          </p:cNvSpPr>
          <p:nvPr>
            <p:ph type="body" idx="1"/>
          </p:nvPr>
        </p:nvSpPr>
        <p:spPr/>
        <p:txBody>
          <a:bodyPr/>
          <a:lstStyle/>
          <a:p>
            <a:r>
              <a:rPr lang="en-GB" dirty="0"/>
              <a:t>December 2024. Kindly contributed to www.skillsworkshop.org by Marie Scarlett Davis, CONEL</a:t>
            </a:r>
          </a:p>
          <a:p>
            <a:endParaRPr lang="en-GB" dirty="0"/>
          </a:p>
        </p:txBody>
      </p:sp>
      <p:sp>
        <p:nvSpPr>
          <p:cNvPr id="4" name="Slide Number Placeholder 3">
            <a:extLst>
              <a:ext uri="{FF2B5EF4-FFF2-40B4-BE49-F238E27FC236}">
                <a16:creationId xmlns:a16="http://schemas.microsoft.com/office/drawing/2014/main" id="{82546232-9D5A-D92C-CB1F-A429CE6CCE3D}"/>
              </a:ext>
            </a:extLst>
          </p:cNvPr>
          <p:cNvSpPr>
            <a:spLocks noGrp="1"/>
          </p:cNvSpPr>
          <p:nvPr>
            <p:ph type="sldNum" sz="quarter" idx="5"/>
          </p:nvPr>
        </p:nvSpPr>
        <p:spPr/>
        <p:txBody>
          <a:bodyPr/>
          <a:lstStyle/>
          <a:p>
            <a:fld id="{652992AF-336D-4B5F-AF73-B0CF00928BE4}" type="slidenum">
              <a:rPr lang="en-GB" smtClean="0"/>
              <a:t>7</a:t>
            </a:fld>
            <a:endParaRPr lang="en-GB"/>
          </a:p>
        </p:txBody>
      </p:sp>
    </p:spTree>
    <p:extLst>
      <p:ext uri="{BB962C8B-B14F-4D97-AF65-F5344CB8AC3E}">
        <p14:creationId xmlns:p14="http://schemas.microsoft.com/office/powerpoint/2010/main" val="34683557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December 2024. Kindly contributed to www.skillsworkshop.org by Marie Scarlett Davis, CONEL</a:t>
            </a:r>
          </a:p>
          <a:p>
            <a:endParaRPr lang="en-GB" dirty="0"/>
          </a:p>
        </p:txBody>
      </p:sp>
      <p:sp>
        <p:nvSpPr>
          <p:cNvPr id="4" name="Slide Number Placeholder 3"/>
          <p:cNvSpPr>
            <a:spLocks noGrp="1"/>
          </p:cNvSpPr>
          <p:nvPr>
            <p:ph type="sldNum" sz="quarter" idx="5"/>
          </p:nvPr>
        </p:nvSpPr>
        <p:spPr/>
        <p:txBody>
          <a:bodyPr/>
          <a:lstStyle/>
          <a:p>
            <a:fld id="{652992AF-336D-4B5F-AF73-B0CF00928BE4}" type="slidenum">
              <a:rPr lang="en-GB" smtClean="0"/>
              <a:t>8</a:t>
            </a:fld>
            <a:endParaRPr lang="en-GB"/>
          </a:p>
        </p:txBody>
      </p:sp>
    </p:spTree>
    <p:extLst>
      <p:ext uri="{BB962C8B-B14F-4D97-AF65-F5344CB8AC3E}">
        <p14:creationId xmlns:p14="http://schemas.microsoft.com/office/powerpoint/2010/main" val="20386462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December 2024. Kindly contributed to www.skillsworkshop.org by Marie Scarlett Davis, CONEL</a:t>
            </a:r>
          </a:p>
          <a:p>
            <a:endParaRPr lang="en-GB" dirty="0"/>
          </a:p>
        </p:txBody>
      </p:sp>
      <p:sp>
        <p:nvSpPr>
          <p:cNvPr id="4" name="Slide Number Placeholder 3"/>
          <p:cNvSpPr>
            <a:spLocks noGrp="1"/>
          </p:cNvSpPr>
          <p:nvPr>
            <p:ph type="sldNum" sz="quarter" idx="5"/>
          </p:nvPr>
        </p:nvSpPr>
        <p:spPr/>
        <p:txBody>
          <a:bodyPr/>
          <a:lstStyle/>
          <a:p>
            <a:fld id="{652992AF-336D-4B5F-AF73-B0CF00928BE4}" type="slidenum">
              <a:rPr lang="en-GB" smtClean="0"/>
              <a:t>9</a:t>
            </a:fld>
            <a:endParaRPr lang="en-GB"/>
          </a:p>
        </p:txBody>
      </p:sp>
    </p:spTree>
    <p:extLst>
      <p:ext uri="{BB962C8B-B14F-4D97-AF65-F5344CB8AC3E}">
        <p14:creationId xmlns:p14="http://schemas.microsoft.com/office/powerpoint/2010/main" val="32492747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December 2024. Kindly contributed to www.skillsworkshop.org by Marie Scarlett Davis, CONEL</a:t>
            </a:r>
          </a:p>
          <a:p>
            <a:endParaRPr lang="en-GB" dirty="0"/>
          </a:p>
        </p:txBody>
      </p:sp>
      <p:sp>
        <p:nvSpPr>
          <p:cNvPr id="4" name="Slide Number Placeholder 3"/>
          <p:cNvSpPr>
            <a:spLocks noGrp="1"/>
          </p:cNvSpPr>
          <p:nvPr>
            <p:ph type="sldNum" sz="quarter" idx="5"/>
          </p:nvPr>
        </p:nvSpPr>
        <p:spPr/>
        <p:txBody>
          <a:bodyPr/>
          <a:lstStyle/>
          <a:p>
            <a:fld id="{652992AF-336D-4B5F-AF73-B0CF00928BE4}" type="slidenum">
              <a:rPr lang="en-GB" smtClean="0"/>
              <a:t>10</a:t>
            </a:fld>
            <a:endParaRPr lang="en-GB"/>
          </a:p>
        </p:txBody>
      </p:sp>
    </p:spTree>
    <p:extLst>
      <p:ext uri="{BB962C8B-B14F-4D97-AF65-F5344CB8AC3E}">
        <p14:creationId xmlns:p14="http://schemas.microsoft.com/office/powerpoint/2010/main" val="1194332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11/3/2025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11/3/2025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11/3/2025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microsoft.com/office/2018/10/relationships/comments" Target="../comments/modernComment_109_2056B384.xm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4.xml"/><Relationship Id="rId6" Type="http://schemas.openxmlformats.org/officeDocument/2006/relationships/hyperlink" Target="https://freepngimg.com/png/85277-emoticon-emotion-sadness-iphone-emoji-free-hd-image" TargetMode="External"/><Relationship Id="rId5" Type="http://schemas.openxmlformats.org/officeDocument/2006/relationships/image" Target="../media/image9.png"/><Relationship Id="rId4" Type="http://schemas.openxmlformats.org/officeDocument/2006/relationships/hyperlink" Target="http://commons.wikimedia.org/wiki/File:Emoticon_Face_Smiley_GE.png" TargetMode="Externa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3301E07F-4F79-4B58-8698-EF24DC1ECD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 name="Arc 18">
            <a:extLst>
              <a:ext uri="{FF2B5EF4-FFF2-40B4-BE49-F238E27FC236}">
                <a16:creationId xmlns:a16="http://schemas.microsoft.com/office/drawing/2014/main" id="{E58B2195-5055-402F-A3E7-53FF0E4980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25836" y="775849"/>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p:cNvSpPr>
            <a:spLocks noGrp="1"/>
          </p:cNvSpPr>
          <p:nvPr>
            <p:ph type="ctrTitle"/>
          </p:nvPr>
        </p:nvSpPr>
        <p:spPr>
          <a:xfrm>
            <a:off x="7080738" y="647593"/>
            <a:ext cx="4467792" cy="3060541"/>
          </a:xfrm>
        </p:spPr>
        <p:txBody>
          <a:bodyPr>
            <a:normAutofit/>
          </a:bodyPr>
          <a:lstStyle/>
          <a:p>
            <a:r>
              <a:rPr lang="en-US">
                <a:solidFill>
                  <a:srgbClr val="FFFFFF"/>
                </a:solidFill>
              </a:rPr>
              <a:t>Write a review</a:t>
            </a:r>
          </a:p>
        </p:txBody>
      </p:sp>
      <p:sp>
        <p:nvSpPr>
          <p:cNvPr id="3" name="Subtitle 2"/>
          <p:cNvSpPr>
            <a:spLocks noGrp="1"/>
          </p:cNvSpPr>
          <p:nvPr>
            <p:ph type="subTitle" idx="1"/>
          </p:nvPr>
        </p:nvSpPr>
        <p:spPr>
          <a:xfrm>
            <a:off x="7080738" y="3800209"/>
            <a:ext cx="4467792" cy="2410198"/>
          </a:xfrm>
        </p:spPr>
        <p:txBody>
          <a:bodyPr>
            <a:normAutofit/>
          </a:bodyPr>
          <a:lstStyle/>
          <a:p>
            <a:r>
              <a:rPr lang="en-US">
                <a:solidFill>
                  <a:srgbClr val="FFFFFF"/>
                </a:solidFill>
              </a:rPr>
              <a:t>English Writing </a:t>
            </a:r>
          </a:p>
        </p:txBody>
      </p:sp>
      <p:sp>
        <p:nvSpPr>
          <p:cNvPr id="21" name="Oval 20">
            <a:extLst>
              <a:ext uri="{FF2B5EF4-FFF2-40B4-BE49-F238E27FC236}">
                <a16:creationId xmlns:a16="http://schemas.microsoft.com/office/drawing/2014/main" id="{9EE6F773-742A-491A-9A00-A2A150DF50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4368" y="366810"/>
            <a:ext cx="6124381" cy="612438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descr="Pencil">
            <a:extLst>
              <a:ext uri="{FF2B5EF4-FFF2-40B4-BE49-F238E27FC236}">
                <a16:creationId xmlns:a16="http://schemas.microsoft.com/office/drawing/2014/main" id="{5F2D5E0D-CE20-D551-C421-A1CED0461CF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378572" y="1374798"/>
            <a:ext cx="4108404" cy="4108404"/>
          </a:xfrm>
          <a:custGeom>
            <a:avLst/>
            <a:gdLst/>
            <a:ahLst/>
            <a:cxnLst/>
            <a:rect l="l" t="t" r="r" b="b"/>
            <a:pathLst>
              <a:path w="4273177" h="4470400">
                <a:moveTo>
                  <a:pt x="75080" y="0"/>
                </a:moveTo>
                <a:lnTo>
                  <a:pt x="4198097" y="0"/>
                </a:lnTo>
                <a:cubicBezTo>
                  <a:pt x="4239563" y="0"/>
                  <a:pt x="4273177" y="33614"/>
                  <a:pt x="4273177" y="75080"/>
                </a:cubicBezTo>
                <a:lnTo>
                  <a:pt x="4273177" y="4395320"/>
                </a:lnTo>
                <a:cubicBezTo>
                  <a:pt x="4273177" y="4436786"/>
                  <a:pt x="4239563" y="4470400"/>
                  <a:pt x="4198097" y="4470400"/>
                </a:cubicBezTo>
                <a:lnTo>
                  <a:pt x="75080" y="4470400"/>
                </a:lnTo>
                <a:cubicBezTo>
                  <a:pt x="33614" y="4470400"/>
                  <a:pt x="0" y="4436786"/>
                  <a:pt x="0" y="4395320"/>
                </a:cubicBezTo>
                <a:lnTo>
                  <a:pt x="0" y="75080"/>
                </a:lnTo>
                <a:cubicBezTo>
                  <a:pt x="0" y="33614"/>
                  <a:pt x="33614" y="0"/>
                  <a:pt x="75080" y="0"/>
                </a:cubicBezTo>
                <a:close/>
              </a:path>
            </a:pathLst>
          </a:custGeom>
        </p:spPr>
      </p:pic>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B0FCC05-FF77-56DE-785A-6160D1809508}"/>
              </a:ext>
            </a:extLst>
          </p:cNvPr>
          <p:cNvSpPr>
            <a:spLocks noGrp="1"/>
          </p:cNvSpPr>
          <p:nvPr>
            <p:ph type="title"/>
          </p:nvPr>
        </p:nvSpPr>
        <p:spPr>
          <a:xfrm>
            <a:off x="1371597" y="348865"/>
            <a:ext cx="10044023" cy="877729"/>
          </a:xfrm>
        </p:spPr>
        <p:txBody>
          <a:bodyPr anchor="ctr">
            <a:normAutofit/>
          </a:bodyPr>
          <a:lstStyle/>
          <a:p>
            <a:r>
              <a:rPr lang="en-US" sz="4000">
                <a:solidFill>
                  <a:srgbClr val="FFFFFF"/>
                </a:solidFill>
              </a:rPr>
              <a:t>Lesson Objectives </a:t>
            </a:r>
          </a:p>
        </p:txBody>
      </p:sp>
      <p:graphicFrame>
        <p:nvGraphicFramePr>
          <p:cNvPr id="5" name="Content Placeholder 2">
            <a:extLst>
              <a:ext uri="{FF2B5EF4-FFF2-40B4-BE49-F238E27FC236}">
                <a16:creationId xmlns:a16="http://schemas.microsoft.com/office/drawing/2014/main" id="{FA89483F-DFB2-29A8-AD1D-968097F19438}"/>
              </a:ext>
            </a:extLst>
          </p:cNvPr>
          <p:cNvGraphicFramePr>
            <a:graphicFrameLocks noGrp="1"/>
          </p:cNvGraphicFramePr>
          <p:nvPr>
            <p:ph idx="1"/>
            <p:extLst>
              <p:ext uri="{D42A27DB-BD31-4B8C-83A1-F6EECF244321}">
                <p14:modId xmlns:p14="http://schemas.microsoft.com/office/powerpoint/2010/main" val="2967620172"/>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6065938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35">
            <a:extLst>
              <a:ext uri="{FF2B5EF4-FFF2-40B4-BE49-F238E27FC236}">
                <a16:creationId xmlns:a16="http://schemas.microsoft.com/office/drawing/2014/main" id="{D278ADA9-6383-4BDD-80D2-8899A40268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484B7147-B0F6-40ED-B5A2-FF72BC8198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0" name="Rectangle 39">
            <a:extLst>
              <a:ext uri="{FF2B5EF4-FFF2-40B4-BE49-F238E27FC236}">
                <a16:creationId xmlns:a16="http://schemas.microsoft.com/office/drawing/2014/main" id="{B36D2DE0-0628-4A9A-A59D-7BA8B5EB30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48E405C9-94BE-41DA-928C-DEC9A8550E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15929" y="148929"/>
            <a:ext cx="6560142" cy="656014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2473ADBB-B887-8CE3-A12F-70C5CC274748}"/>
              </a:ext>
            </a:extLst>
          </p:cNvPr>
          <p:cNvSpPr>
            <a:spLocks noGrp="1"/>
          </p:cNvSpPr>
          <p:nvPr>
            <p:ph type="title"/>
          </p:nvPr>
        </p:nvSpPr>
        <p:spPr>
          <a:xfrm>
            <a:off x="3315031" y="1380754"/>
            <a:ext cx="5561938" cy="2513516"/>
          </a:xfrm>
        </p:spPr>
        <p:txBody>
          <a:bodyPr vert="horz" lIns="91440" tIns="45720" rIns="91440" bIns="45720" rtlCol="0" anchor="b">
            <a:normAutofit/>
          </a:bodyPr>
          <a:lstStyle/>
          <a:p>
            <a:pPr algn="ctr"/>
            <a:r>
              <a:rPr lang="en-US" sz="6000" kern="1200">
                <a:solidFill>
                  <a:schemeClr val="tx1"/>
                </a:solidFill>
                <a:latin typeface="+mj-lt"/>
                <a:ea typeface="+mj-ea"/>
                <a:cs typeface="+mj-cs"/>
              </a:rPr>
              <a:t>Purpose </a:t>
            </a:r>
          </a:p>
        </p:txBody>
      </p:sp>
      <p:sp>
        <p:nvSpPr>
          <p:cNvPr id="3" name="Content Placeholder 2">
            <a:extLst>
              <a:ext uri="{FF2B5EF4-FFF2-40B4-BE49-F238E27FC236}">
                <a16:creationId xmlns:a16="http://schemas.microsoft.com/office/drawing/2014/main" id="{2BA7F5D6-714D-6C76-4A4E-339CFB57C838}"/>
              </a:ext>
            </a:extLst>
          </p:cNvPr>
          <p:cNvSpPr>
            <a:spLocks noGrp="1"/>
          </p:cNvSpPr>
          <p:nvPr>
            <p:ph idx="1"/>
          </p:nvPr>
        </p:nvSpPr>
        <p:spPr>
          <a:xfrm>
            <a:off x="3315031" y="4076802"/>
            <a:ext cx="5561938" cy="1534587"/>
          </a:xfrm>
        </p:spPr>
        <p:txBody>
          <a:bodyPr vert="horz" lIns="91440" tIns="45720" rIns="91440" bIns="45720" rtlCol="0">
            <a:normAutofit/>
          </a:bodyPr>
          <a:lstStyle/>
          <a:p>
            <a:pPr marL="0" indent="0" algn="ctr">
              <a:buNone/>
            </a:pPr>
            <a:r>
              <a:rPr lang="en-US" sz="2400" kern="1200" dirty="0">
                <a:solidFill>
                  <a:schemeClr val="tx1"/>
                </a:solidFill>
                <a:latin typeface="+mn-lt"/>
                <a:ea typeface="+mn-ea"/>
                <a:cs typeface="+mn-cs"/>
              </a:rPr>
              <a:t>To give an opinion, e.g. of a place,  purchased item, or a leisure experience.</a:t>
            </a:r>
          </a:p>
        </p:txBody>
      </p:sp>
      <p:sp>
        <p:nvSpPr>
          <p:cNvPr id="44" name="Arc 43">
            <a:extLst>
              <a:ext uri="{FF2B5EF4-FFF2-40B4-BE49-F238E27FC236}">
                <a16:creationId xmlns:a16="http://schemas.microsoft.com/office/drawing/2014/main" id="{D2091A72-D5BB-42AC-8FD3-F7747D9086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9222429" flipV="1">
            <a:off x="2494119" y="6170"/>
            <a:ext cx="6816262" cy="6816262"/>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46" name="Oval 45">
            <a:extLst>
              <a:ext uri="{FF2B5EF4-FFF2-40B4-BE49-F238E27FC236}">
                <a16:creationId xmlns:a16="http://schemas.microsoft.com/office/drawing/2014/main" id="{6ED12BFC-A737-46AF-8411-481112D54B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00995" y="5310973"/>
            <a:ext cx="705948" cy="686798"/>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44903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E92FEB64-6EEA-4759-B4A4-BD2C1E660B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B10BB131-AC8E-4A8E-A5D1-36260F720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7393" y="847600"/>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B9EE7AC-05E7-C0D1-DBC6-08BB6876E405}"/>
              </a:ext>
            </a:extLst>
          </p:cNvPr>
          <p:cNvSpPr>
            <a:spLocks noGrp="1"/>
          </p:cNvSpPr>
          <p:nvPr>
            <p:ph type="title"/>
          </p:nvPr>
        </p:nvSpPr>
        <p:spPr>
          <a:xfrm>
            <a:off x="1389278" y="1233241"/>
            <a:ext cx="3240506" cy="4064628"/>
          </a:xfrm>
        </p:spPr>
        <p:txBody>
          <a:bodyPr>
            <a:normAutofit/>
          </a:bodyPr>
          <a:lstStyle/>
          <a:p>
            <a:r>
              <a:rPr lang="en-US">
                <a:solidFill>
                  <a:srgbClr val="FFFFFF"/>
                </a:solidFill>
              </a:rPr>
              <a:t>Features</a:t>
            </a:r>
          </a:p>
        </p:txBody>
      </p:sp>
      <p:sp>
        <p:nvSpPr>
          <p:cNvPr id="21" name="Freeform: Shape 20">
            <a:extLst>
              <a:ext uri="{FF2B5EF4-FFF2-40B4-BE49-F238E27FC236}">
                <a16:creationId xmlns:a16="http://schemas.microsoft.com/office/drawing/2014/main" id="{14847E93-7DC1-4D4B-8829-B19AA7137C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30529" y="0"/>
            <a:ext cx="1155142"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Freeform: Shape 22">
            <a:extLst>
              <a:ext uri="{FF2B5EF4-FFF2-40B4-BE49-F238E27FC236}">
                <a16:creationId xmlns:a16="http://schemas.microsoft.com/office/drawing/2014/main" id="{5566D6E1-03A1-4D73-A4E0-35D74D568A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961511" y="-1"/>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9F835A99-04AC-494A-A572-AFE8413CC9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2936831"/>
            <a:ext cx="159741" cy="552996"/>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4"/>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id="{18FDD2C9-A58B-5B15-4396-866DD0CCA5BA}"/>
              </a:ext>
            </a:extLst>
          </p:cNvPr>
          <p:cNvSpPr>
            <a:spLocks noGrp="1"/>
          </p:cNvSpPr>
          <p:nvPr>
            <p:ph idx="1"/>
          </p:nvPr>
        </p:nvSpPr>
        <p:spPr>
          <a:xfrm>
            <a:off x="6226808" y="2078164"/>
            <a:ext cx="5257799" cy="2374781"/>
          </a:xfrm>
        </p:spPr>
        <p:txBody>
          <a:bodyPr vert="horz" lIns="91440" tIns="45720" rIns="91440" bIns="45720" rtlCol="0" anchor="t">
            <a:normAutofit/>
          </a:bodyPr>
          <a:lstStyle/>
          <a:p>
            <a:r>
              <a:rPr lang="en-US" dirty="0">
                <a:ea typeface="+mn-lt"/>
                <a:cs typeface="+mn-lt"/>
              </a:rPr>
              <a:t>Include a title saying what is being reviewed</a:t>
            </a:r>
          </a:p>
          <a:p>
            <a:r>
              <a:rPr lang="en-US" dirty="0"/>
              <a:t>Paragraphs </a:t>
            </a:r>
          </a:p>
          <a:p>
            <a:r>
              <a:rPr lang="en-US" dirty="0"/>
              <a:t>Recommendation</a:t>
            </a:r>
          </a:p>
        </p:txBody>
      </p:sp>
      <p:sp>
        <p:nvSpPr>
          <p:cNvPr id="27" name="Freeform: Shape 26">
            <a:extLst>
              <a:ext uri="{FF2B5EF4-FFF2-40B4-BE49-F238E27FC236}">
                <a16:creationId xmlns:a16="http://schemas.microsoft.com/office/drawing/2014/main" id="{7B786209-1B0B-4CA9-9BDD-F7327066A8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835649"/>
            <a:ext cx="1548180"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2D2964BB-484D-45AE-AD66-D407D06296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405056" y="5717905"/>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6691AC69-A76E-4DAB-B565-468B6B87AC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132972" y="6258755"/>
            <a:ext cx="1565940"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21393673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Slide Background">
            <a:extLst>
              <a:ext uri="{FF2B5EF4-FFF2-40B4-BE49-F238E27FC236}">
                <a16:creationId xmlns:a16="http://schemas.microsoft.com/office/drawing/2014/main" id="{B210AC1D-4063-4C6E-9528-FA9C4C0C18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0" name="Rectangle 19">
            <a:extLst>
              <a:ext uri="{FF2B5EF4-FFF2-40B4-BE49-F238E27FC236}">
                <a16:creationId xmlns:a16="http://schemas.microsoft.com/office/drawing/2014/main" id="{02F8C595-E68C-4306-AED8-DC7826A0A5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416414" cy="6858000"/>
          </a:xfrm>
          <a:prstGeom prst="rect">
            <a:avLst/>
          </a:prstGeom>
          <a:ln>
            <a:noFill/>
          </a:ln>
          <a:effectLst>
            <a:outerShdw blurRad="889000" dist="406400" dir="21540000" sx="90000" sy="90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B045416-5E4A-12FB-9C57-245953502A60}"/>
              </a:ext>
            </a:extLst>
          </p:cNvPr>
          <p:cNvSpPr>
            <a:spLocks noGrp="1"/>
          </p:cNvSpPr>
          <p:nvPr>
            <p:ph type="title"/>
          </p:nvPr>
        </p:nvSpPr>
        <p:spPr>
          <a:xfrm>
            <a:off x="6803409" y="762001"/>
            <a:ext cx="4156512" cy="1708244"/>
          </a:xfrm>
        </p:spPr>
        <p:txBody>
          <a:bodyPr anchor="ctr">
            <a:normAutofit/>
          </a:bodyPr>
          <a:lstStyle/>
          <a:p>
            <a:r>
              <a:rPr lang="en-US" sz="4000"/>
              <a:t>Vocabulary </a:t>
            </a:r>
          </a:p>
        </p:txBody>
      </p:sp>
      <p:pic>
        <p:nvPicPr>
          <p:cNvPr id="14" name="Picture 13" descr="Assorted vegetables and fruits">
            <a:extLst>
              <a:ext uri="{FF2B5EF4-FFF2-40B4-BE49-F238E27FC236}">
                <a16:creationId xmlns:a16="http://schemas.microsoft.com/office/drawing/2014/main" id="{B02D128B-D8B3-C040-BD28-A40AF9973DC0}"/>
              </a:ext>
            </a:extLst>
          </p:cNvPr>
          <p:cNvPicPr>
            <a:picLocks noChangeAspect="1"/>
          </p:cNvPicPr>
          <p:nvPr/>
        </p:nvPicPr>
        <p:blipFill>
          <a:blip r:embed="rId3"/>
          <a:srcRect l="26474" r="14191" b="-2"/>
          <a:stretch>
            <a:fillRect/>
          </a:stretch>
        </p:blipFill>
        <p:spPr>
          <a:xfrm>
            <a:off x="-1" y="-2"/>
            <a:ext cx="6096001" cy="6858002"/>
          </a:xfrm>
          <a:prstGeom prst="rect">
            <a:avLst/>
          </a:prstGeom>
        </p:spPr>
      </p:pic>
      <p:sp>
        <p:nvSpPr>
          <p:cNvPr id="3" name="Content Placeholder 2">
            <a:extLst>
              <a:ext uri="{FF2B5EF4-FFF2-40B4-BE49-F238E27FC236}">
                <a16:creationId xmlns:a16="http://schemas.microsoft.com/office/drawing/2014/main" id="{B5B26970-5CB5-D101-AD02-0754B80DCAFA}"/>
              </a:ext>
            </a:extLst>
          </p:cNvPr>
          <p:cNvSpPr>
            <a:spLocks noGrp="1"/>
          </p:cNvSpPr>
          <p:nvPr>
            <p:ph idx="1"/>
          </p:nvPr>
        </p:nvSpPr>
        <p:spPr>
          <a:xfrm>
            <a:off x="6803409" y="2470245"/>
            <a:ext cx="4156512" cy="3769835"/>
          </a:xfrm>
        </p:spPr>
        <p:txBody>
          <a:bodyPr vert="horz" lIns="91440" tIns="45720" rIns="91440" bIns="45720" rtlCol="0" anchor="ctr">
            <a:normAutofit/>
          </a:bodyPr>
          <a:lstStyle/>
          <a:p>
            <a:pPr marL="0" indent="0">
              <a:buNone/>
            </a:pPr>
            <a:r>
              <a:rPr lang="en-US" sz="2000"/>
              <a:t>It depends on what your review is about.</a:t>
            </a:r>
          </a:p>
          <a:p>
            <a:pPr marL="0" indent="0">
              <a:buNone/>
            </a:pPr>
            <a:r>
              <a:rPr lang="en-US" sz="2000"/>
              <a:t>Descriptive words </a:t>
            </a:r>
          </a:p>
          <a:p>
            <a:pPr lvl="1">
              <a:buFont typeface="Wingdings" panose="05000000000000000000" pitchFamily="2" charset="2"/>
              <a:buChar char="v"/>
            </a:pPr>
            <a:r>
              <a:rPr lang="en-US" sz="2000"/>
              <a:t>Reviewing a meal: delicious, full of flavour </a:t>
            </a:r>
          </a:p>
          <a:p>
            <a:pPr lvl="1">
              <a:buFont typeface="Wingdings" panose="05000000000000000000" pitchFamily="2" charset="2"/>
              <a:buChar char="v"/>
            </a:pPr>
            <a:r>
              <a:rPr lang="en-US" sz="2000"/>
              <a:t>Review a film: entertaining, exciting, thrilling</a:t>
            </a:r>
          </a:p>
          <a:p>
            <a:pPr marL="0" indent="0">
              <a:buNone/>
            </a:pPr>
            <a:endParaRPr lang="en-US" sz="2000" dirty="0"/>
          </a:p>
        </p:txBody>
      </p:sp>
    </p:spTree>
    <p:extLst>
      <p:ext uri="{BB962C8B-B14F-4D97-AF65-F5344CB8AC3E}">
        <p14:creationId xmlns:p14="http://schemas.microsoft.com/office/powerpoint/2010/main" val="36711133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78494D-C6DF-868A-39A0-81ACAA25B0D0}"/>
              </a:ext>
            </a:extLst>
          </p:cNvPr>
          <p:cNvSpPr>
            <a:spLocks noGrp="1"/>
          </p:cNvSpPr>
          <p:nvPr>
            <p:ph type="title"/>
          </p:nvPr>
        </p:nvSpPr>
        <p:spPr>
          <a:xfrm>
            <a:off x="280537" y="1417043"/>
            <a:ext cx="3606197" cy="4461163"/>
          </a:xfrm>
        </p:spPr>
        <p:txBody>
          <a:bodyPr>
            <a:normAutofit/>
          </a:bodyPr>
          <a:lstStyle/>
          <a:p>
            <a:r>
              <a:rPr lang="en-US" dirty="0"/>
              <a:t>Format/Layout</a:t>
            </a:r>
            <a:br>
              <a:rPr lang="en-US" dirty="0"/>
            </a:br>
            <a:r>
              <a:rPr lang="en-US" dirty="0"/>
              <a:t>for writing a review</a:t>
            </a:r>
            <a:endParaRPr lang="en-US" dirty="0">
              <a:solidFill>
                <a:srgbClr val="FFFFFF"/>
              </a:solidFill>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564750E6-9AC4-A154-3DD4-EBA09F067C39}"/>
              </a:ext>
            </a:extLst>
          </p:cNvPr>
          <p:cNvSpPr>
            <a:spLocks noGrp="1"/>
          </p:cNvSpPr>
          <p:nvPr>
            <p:ph idx="1"/>
          </p:nvPr>
        </p:nvSpPr>
        <p:spPr>
          <a:xfrm>
            <a:off x="4571020" y="636190"/>
            <a:ext cx="6906491" cy="5585619"/>
          </a:xfrm>
        </p:spPr>
        <p:txBody>
          <a:bodyPr vert="horz" lIns="91440" tIns="45720" rIns="91440" bIns="45720" rtlCol="0" anchor="ctr">
            <a:normAutofit/>
          </a:bodyPr>
          <a:lstStyle/>
          <a:p>
            <a:pPr marL="0" indent="0">
              <a:buNone/>
            </a:pPr>
            <a:endParaRPr lang="en-US" dirty="0">
              <a:latin typeface="Aptos"/>
            </a:endParaRPr>
          </a:p>
          <a:p>
            <a:endParaRPr lang="en-US" dirty="0">
              <a:latin typeface="Georgia"/>
            </a:endParaRPr>
          </a:p>
          <a:p>
            <a:endParaRPr lang="en-US" dirty="0">
              <a:latin typeface="Aptos"/>
            </a:endParaRPr>
          </a:p>
          <a:p>
            <a:pPr marL="0" indent="0">
              <a:buNone/>
            </a:pPr>
            <a:endParaRPr lang="en-US" dirty="0">
              <a:latin typeface="Georgia"/>
            </a:endParaRPr>
          </a:p>
          <a:p>
            <a:endParaRPr lang="en-US" dirty="0">
              <a:latin typeface="Georgia"/>
            </a:endParaRPr>
          </a:p>
          <a:p>
            <a:endParaRPr lang="en-US" dirty="0"/>
          </a:p>
        </p:txBody>
      </p:sp>
      <p:sp>
        <p:nvSpPr>
          <p:cNvPr id="5" name="TextBox 4">
            <a:extLst>
              <a:ext uri="{FF2B5EF4-FFF2-40B4-BE49-F238E27FC236}">
                <a16:creationId xmlns:a16="http://schemas.microsoft.com/office/drawing/2014/main" id="{F06C3559-878C-D111-6B29-88E4A839F603}"/>
              </a:ext>
            </a:extLst>
          </p:cNvPr>
          <p:cNvSpPr txBox="1"/>
          <p:nvPr/>
        </p:nvSpPr>
        <p:spPr>
          <a:xfrm>
            <a:off x="5535253" y="1164716"/>
            <a:ext cx="6098582" cy="1631216"/>
          </a:xfrm>
          <a:prstGeom prst="rect">
            <a:avLst/>
          </a:prstGeom>
          <a:noFill/>
        </p:spPr>
        <p:txBody>
          <a:bodyPr wrap="square">
            <a:spAutoFit/>
          </a:bodyPr>
          <a:lstStyle/>
          <a:p>
            <a:pPr marL="0" indent="0">
              <a:buNone/>
            </a:pPr>
            <a:r>
              <a:rPr lang="en-US" dirty="0"/>
              <a:t>Title </a:t>
            </a:r>
          </a:p>
          <a:p>
            <a:pPr marL="0" indent="0">
              <a:buNone/>
            </a:pPr>
            <a:endParaRPr lang="en-US" dirty="0"/>
          </a:p>
          <a:p>
            <a:pPr marL="285750" indent="-285750">
              <a:buFont typeface="Arial" panose="020B0604020202020204" pitchFamily="34" charset="0"/>
              <a:buChar char="•"/>
            </a:pPr>
            <a:r>
              <a:rPr lang="en-US" dirty="0"/>
              <a:t>Introduction</a:t>
            </a:r>
          </a:p>
          <a:p>
            <a:pPr marL="285750" indent="-285750">
              <a:spcBef>
                <a:spcPts val="600"/>
              </a:spcBef>
              <a:buFont typeface="Arial" panose="020B0604020202020204" pitchFamily="34" charset="0"/>
              <a:buChar char="•"/>
            </a:pPr>
            <a:r>
              <a:rPr lang="en-GB" sz="1800" dirty="0"/>
              <a:t>where you went</a:t>
            </a:r>
            <a:endParaRPr lang="en-US" sz="1800" dirty="0"/>
          </a:p>
          <a:p>
            <a:pPr marL="285750" indent="-285750">
              <a:spcBef>
                <a:spcPts val="600"/>
              </a:spcBef>
              <a:buFont typeface="Arial" panose="020B0604020202020204" pitchFamily="34" charset="0"/>
              <a:buChar char="•"/>
            </a:pPr>
            <a:r>
              <a:rPr lang="en-GB" sz="1800" dirty="0"/>
              <a:t>who you went with</a:t>
            </a:r>
          </a:p>
        </p:txBody>
      </p:sp>
      <p:sp>
        <p:nvSpPr>
          <p:cNvPr id="7" name="TextBox 6">
            <a:extLst>
              <a:ext uri="{FF2B5EF4-FFF2-40B4-BE49-F238E27FC236}">
                <a16:creationId xmlns:a16="http://schemas.microsoft.com/office/drawing/2014/main" id="{BC10C9F0-27A0-23E3-8FD3-7FE4FD528A1D}"/>
              </a:ext>
            </a:extLst>
          </p:cNvPr>
          <p:cNvSpPr txBox="1"/>
          <p:nvPr/>
        </p:nvSpPr>
        <p:spPr>
          <a:xfrm>
            <a:off x="5535253" y="3324458"/>
            <a:ext cx="6098582" cy="646331"/>
          </a:xfrm>
          <a:prstGeom prst="rect">
            <a:avLst/>
          </a:prstGeom>
          <a:noFill/>
        </p:spPr>
        <p:txBody>
          <a:bodyPr wrap="square">
            <a:spAutoFit/>
          </a:bodyPr>
          <a:lstStyle/>
          <a:p>
            <a:pPr marL="228600" indent="-228600">
              <a:buFont typeface="Arial,Sans-Serif"/>
              <a:buChar char="•"/>
            </a:pPr>
            <a:r>
              <a:rPr lang="en-GB" sz="1800" dirty="0">
                <a:cs typeface="Arial"/>
              </a:rPr>
              <a:t>what you liked about it and why</a:t>
            </a:r>
            <a:r>
              <a:rPr lang="en-US" sz="1800" dirty="0">
                <a:cs typeface="Arial"/>
              </a:rPr>
              <a:t>​</a:t>
            </a:r>
          </a:p>
          <a:p>
            <a:pPr marL="228600" indent="-228600">
              <a:buFont typeface="Arial,Sans-Serif"/>
              <a:buChar char="•"/>
            </a:pPr>
            <a:r>
              <a:rPr lang="en-GB" sz="1800" dirty="0">
                <a:cs typeface="Arial"/>
              </a:rPr>
              <a:t>what you disliked about it and why</a:t>
            </a:r>
          </a:p>
        </p:txBody>
      </p:sp>
      <p:sp>
        <p:nvSpPr>
          <p:cNvPr id="11" name="TextBox 10">
            <a:extLst>
              <a:ext uri="{FF2B5EF4-FFF2-40B4-BE49-F238E27FC236}">
                <a16:creationId xmlns:a16="http://schemas.microsoft.com/office/drawing/2014/main" id="{CE9EABAA-E979-1AEF-03EE-41F806A67965}"/>
              </a:ext>
            </a:extLst>
          </p:cNvPr>
          <p:cNvSpPr txBox="1"/>
          <p:nvPr/>
        </p:nvSpPr>
        <p:spPr>
          <a:xfrm>
            <a:off x="5535253" y="4623498"/>
            <a:ext cx="6098582" cy="646331"/>
          </a:xfrm>
          <a:prstGeom prst="rect">
            <a:avLst/>
          </a:prstGeom>
          <a:noFill/>
        </p:spPr>
        <p:txBody>
          <a:bodyPr wrap="square">
            <a:spAutoFit/>
          </a:bodyPr>
          <a:lstStyle/>
          <a:p>
            <a:r>
              <a:rPr lang="en-GB" sz="1800" dirty="0">
                <a:cs typeface="Arial"/>
              </a:rPr>
              <a:t>Conclusion</a:t>
            </a:r>
          </a:p>
          <a:p>
            <a:pPr marL="342900" indent="-342900">
              <a:buFont typeface="Arial" panose="020B0604020202020204" pitchFamily="34" charset="0"/>
              <a:buChar char="•"/>
            </a:pPr>
            <a:r>
              <a:rPr lang="en-GB" sz="1800" dirty="0">
                <a:cs typeface="Arial"/>
              </a:rPr>
              <a:t>Would you recommend it?</a:t>
            </a:r>
          </a:p>
        </p:txBody>
      </p:sp>
    </p:spTree>
    <p:extLst>
      <p:ext uri="{BB962C8B-B14F-4D97-AF65-F5344CB8AC3E}">
        <p14:creationId xmlns:p14="http://schemas.microsoft.com/office/powerpoint/2010/main" val="542552964"/>
      </p:ext>
    </p:extLst>
  </p:cSld>
  <p:clrMapOvr>
    <a:masterClrMapping/>
  </p:clrMapOvr>
  <p:extLst>
    <p:ext uri="{6950BFC3-D8DA-4A85-94F7-54DA5524770B}">
      <p188:commentRel xmlns:p188="http://schemas.microsoft.com/office/powerpoint/2018/8/main" r:id="rId3"/>
    </p:ext>
  </p:extLs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89E2154-D508-2C24-C584-2585671D5817}"/>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6B09717-DF64-F109-F8FB-9771928E05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378D5BB-60F1-DCD5-881C-A6418F3C80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49B85A2-050E-C5CC-1C15-7A7BD617E25C}"/>
              </a:ext>
            </a:extLst>
          </p:cNvPr>
          <p:cNvSpPr>
            <a:spLocks noGrp="1"/>
          </p:cNvSpPr>
          <p:nvPr>
            <p:ph type="title"/>
          </p:nvPr>
        </p:nvSpPr>
        <p:spPr>
          <a:xfrm>
            <a:off x="686834" y="1153572"/>
            <a:ext cx="3200400" cy="4461163"/>
          </a:xfrm>
        </p:spPr>
        <p:txBody>
          <a:bodyPr>
            <a:normAutofit/>
          </a:bodyPr>
          <a:lstStyle/>
          <a:p>
            <a:r>
              <a:rPr lang="en-US">
                <a:solidFill>
                  <a:srgbClr val="FFFFFF"/>
                </a:solidFill>
              </a:rPr>
              <a:t>Restaurant Critic </a:t>
            </a:r>
          </a:p>
        </p:txBody>
      </p:sp>
      <p:sp>
        <p:nvSpPr>
          <p:cNvPr id="12" name="Arc 11">
            <a:extLst>
              <a:ext uri="{FF2B5EF4-FFF2-40B4-BE49-F238E27FC236}">
                <a16:creationId xmlns:a16="http://schemas.microsoft.com/office/drawing/2014/main" id="{526ADF8F-F15E-2314-4CB2-A68A530532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D3135187-B70B-5FA6-9BCC-B92E3E4F1981}"/>
              </a:ext>
            </a:extLst>
          </p:cNvPr>
          <p:cNvSpPr>
            <a:spLocks noGrp="1"/>
          </p:cNvSpPr>
          <p:nvPr>
            <p:ph idx="1"/>
          </p:nvPr>
        </p:nvSpPr>
        <p:spPr>
          <a:xfrm>
            <a:off x="4571020" y="1854878"/>
            <a:ext cx="6906491" cy="5585619"/>
          </a:xfrm>
        </p:spPr>
        <p:txBody>
          <a:bodyPr vert="horz" lIns="91440" tIns="45720" rIns="91440" bIns="45720" rtlCol="0" anchor="ctr">
            <a:normAutofit/>
          </a:bodyPr>
          <a:lstStyle/>
          <a:p>
            <a:pPr marL="0" indent="0">
              <a:buNone/>
            </a:pPr>
            <a:r>
              <a:rPr lang="en-US" dirty="0"/>
              <a:t>Words to describe:</a:t>
            </a:r>
            <a:endParaRPr lang="en-US" dirty="0">
              <a:latin typeface="Georgia"/>
            </a:endParaRPr>
          </a:p>
          <a:p>
            <a:r>
              <a:rPr lang="en-US" b="1" dirty="0"/>
              <a:t>experience</a:t>
            </a:r>
            <a:r>
              <a:rPr lang="en-US" dirty="0"/>
              <a:t>: delightful, wonderful, amazing</a:t>
            </a:r>
            <a:endParaRPr lang="en-US" dirty="0">
              <a:latin typeface="Aptos"/>
            </a:endParaRPr>
          </a:p>
          <a:p>
            <a:r>
              <a:rPr lang="en-US" b="1" dirty="0">
                <a:latin typeface="Aptos"/>
              </a:rPr>
              <a:t>décor</a:t>
            </a:r>
            <a:r>
              <a:rPr lang="en-US" dirty="0">
                <a:latin typeface="Aptos"/>
              </a:rPr>
              <a:t>: stylish, modern, chic, sophisticated, artistic</a:t>
            </a:r>
          </a:p>
          <a:p>
            <a:r>
              <a:rPr lang="en-US" b="1" dirty="0">
                <a:latin typeface="Aptos"/>
              </a:rPr>
              <a:t>service</a:t>
            </a:r>
            <a:r>
              <a:rPr lang="en-US" dirty="0">
                <a:latin typeface="Aptos"/>
              </a:rPr>
              <a:t>: professional, friendly, prompt, courteous, efficient </a:t>
            </a:r>
          </a:p>
          <a:p>
            <a:r>
              <a:rPr lang="en-US" b="1" dirty="0">
                <a:latin typeface="Aptos"/>
              </a:rPr>
              <a:t>experience/time</a:t>
            </a:r>
            <a:r>
              <a:rPr lang="en-US" dirty="0">
                <a:latin typeface="Aptos"/>
              </a:rPr>
              <a:t>: an excellent, a wonderful, a superb, an outstanding, a marvellous, an awesome </a:t>
            </a:r>
            <a:endParaRPr lang="en-US" dirty="0">
              <a:latin typeface="Arial"/>
              <a:cs typeface="Arial"/>
            </a:endParaRPr>
          </a:p>
          <a:p>
            <a:pPr marL="0" indent="0">
              <a:buNone/>
            </a:pPr>
            <a:endParaRPr lang="en-US" dirty="0">
              <a:latin typeface="Aptos"/>
            </a:endParaRPr>
          </a:p>
          <a:p>
            <a:endParaRPr lang="en-US" dirty="0">
              <a:latin typeface="Georgia"/>
            </a:endParaRPr>
          </a:p>
          <a:p>
            <a:endParaRPr lang="en-US" dirty="0">
              <a:latin typeface="Aptos"/>
            </a:endParaRPr>
          </a:p>
          <a:p>
            <a:pPr marL="0" indent="0">
              <a:buNone/>
            </a:pPr>
            <a:endParaRPr lang="en-US" dirty="0">
              <a:latin typeface="Georgia"/>
            </a:endParaRPr>
          </a:p>
          <a:p>
            <a:endParaRPr lang="en-US" dirty="0">
              <a:latin typeface="Georgia"/>
            </a:endParaRPr>
          </a:p>
          <a:p>
            <a:endParaRPr lang="en-US" dirty="0"/>
          </a:p>
        </p:txBody>
      </p:sp>
    </p:spTree>
    <p:extLst>
      <p:ext uri="{BB962C8B-B14F-4D97-AF65-F5344CB8AC3E}">
        <p14:creationId xmlns:p14="http://schemas.microsoft.com/office/powerpoint/2010/main" val="37682895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398539-1B33-3819-9B0C-C80A7E78058F}"/>
              </a:ext>
            </a:extLst>
          </p:cNvPr>
          <p:cNvSpPr>
            <a:spLocks noGrp="1"/>
          </p:cNvSpPr>
          <p:nvPr>
            <p:ph type="title"/>
          </p:nvPr>
        </p:nvSpPr>
        <p:spPr/>
        <p:txBody>
          <a:bodyPr/>
          <a:lstStyle/>
          <a:p>
            <a:r>
              <a:rPr lang="en-US" dirty="0"/>
              <a:t>Restaurant Critic - writing plan</a:t>
            </a:r>
          </a:p>
        </p:txBody>
      </p:sp>
      <p:sp>
        <p:nvSpPr>
          <p:cNvPr id="3" name="Content Placeholder 2">
            <a:extLst>
              <a:ext uri="{FF2B5EF4-FFF2-40B4-BE49-F238E27FC236}">
                <a16:creationId xmlns:a16="http://schemas.microsoft.com/office/drawing/2014/main" id="{E4E20D63-0D9E-B3E5-08F2-B7B4AE9D3B54}"/>
              </a:ext>
            </a:extLst>
          </p:cNvPr>
          <p:cNvSpPr>
            <a:spLocks noGrp="1"/>
          </p:cNvSpPr>
          <p:nvPr>
            <p:ph sz="half" idx="1"/>
          </p:nvPr>
        </p:nvSpPr>
        <p:spPr/>
        <p:txBody>
          <a:bodyPr vert="horz" lIns="91440" tIns="45720" rIns="91440" bIns="45720" rtlCol="0" anchor="t">
            <a:normAutofit/>
          </a:bodyPr>
          <a:lstStyle/>
          <a:p>
            <a:r>
              <a:rPr lang="en-US" dirty="0"/>
              <a:t>What you liked and why: </a:t>
            </a:r>
            <a:br>
              <a:rPr lang="en-US" dirty="0"/>
            </a:br>
            <a:r>
              <a:rPr lang="en-US" dirty="0"/>
              <a:t>good customer service </a:t>
            </a:r>
            <a:br>
              <a:rPr lang="en-US" dirty="0"/>
            </a:br>
            <a:r>
              <a:rPr lang="en-US" dirty="0"/>
              <a:t>staff were kind, warm, welcoming, polite, helpful ... </a:t>
            </a:r>
          </a:p>
          <a:p>
            <a:r>
              <a:rPr lang="en-US" dirty="0"/>
              <a:t>Timing: food served promptly </a:t>
            </a:r>
          </a:p>
          <a:p>
            <a:r>
              <a:rPr lang="en-US" dirty="0"/>
              <a:t>Food: good quality, well presented</a:t>
            </a:r>
          </a:p>
          <a:p>
            <a:r>
              <a:rPr lang="en-US" dirty="0"/>
              <a:t>Cost: good value for money, </a:t>
            </a:r>
          </a:p>
          <a:p>
            <a:pPr marL="0" indent="0">
              <a:buNone/>
            </a:pPr>
            <a:endParaRPr lang="en-US" dirty="0"/>
          </a:p>
          <a:p>
            <a:pPr marL="0" indent="0">
              <a:buNone/>
            </a:pPr>
            <a:endParaRPr lang="en-US" dirty="0"/>
          </a:p>
          <a:p>
            <a:endParaRPr lang="en-US" dirty="0"/>
          </a:p>
          <a:p>
            <a:endParaRPr lang="en-US" dirty="0"/>
          </a:p>
        </p:txBody>
      </p:sp>
      <p:sp>
        <p:nvSpPr>
          <p:cNvPr id="4" name="Content Placeholder 3">
            <a:extLst>
              <a:ext uri="{FF2B5EF4-FFF2-40B4-BE49-F238E27FC236}">
                <a16:creationId xmlns:a16="http://schemas.microsoft.com/office/drawing/2014/main" id="{D72188BB-8000-03DF-829E-24C684484491}"/>
              </a:ext>
            </a:extLst>
          </p:cNvPr>
          <p:cNvSpPr>
            <a:spLocks noGrp="1"/>
          </p:cNvSpPr>
          <p:nvPr>
            <p:ph sz="half" idx="2"/>
          </p:nvPr>
        </p:nvSpPr>
        <p:spPr/>
        <p:txBody>
          <a:bodyPr vert="horz" lIns="91440" tIns="45720" rIns="91440" bIns="45720" rtlCol="0" anchor="t">
            <a:normAutofit/>
          </a:bodyPr>
          <a:lstStyle/>
          <a:p>
            <a:r>
              <a:rPr lang="en-US" dirty="0"/>
              <a:t>What you disliked and why: poor customer service</a:t>
            </a:r>
            <a:br>
              <a:rPr lang="en-US" dirty="0"/>
            </a:br>
            <a:r>
              <a:rPr lang="en-US" dirty="0"/>
              <a:t>staff were rude, impolite, wrong attitude, not helpful …</a:t>
            </a:r>
          </a:p>
          <a:p>
            <a:r>
              <a:rPr lang="en-US" dirty="0"/>
              <a:t>Timing: a long wait </a:t>
            </a:r>
          </a:p>
          <a:p>
            <a:r>
              <a:rPr lang="en-US" dirty="0"/>
              <a:t>Food: undercooked, poor presentation</a:t>
            </a:r>
          </a:p>
          <a:p>
            <a:r>
              <a:rPr lang="en-US" dirty="0"/>
              <a:t>Cost: pricy, expensive</a:t>
            </a:r>
          </a:p>
          <a:p>
            <a:endParaRPr lang="en-US" dirty="0"/>
          </a:p>
          <a:p>
            <a:endParaRPr lang="en-US" dirty="0"/>
          </a:p>
        </p:txBody>
      </p:sp>
      <p:pic>
        <p:nvPicPr>
          <p:cNvPr id="8" name="Picture 7" descr="A yellow smiley face with black eyes&#10;&#10;Description automatically generated">
            <a:extLst>
              <a:ext uri="{FF2B5EF4-FFF2-40B4-BE49-F238E27FC236}">
                <a16:creationId xmlns:a16="http://schemas.microsoft.com/office/drawing/2014/main" id="{0E41CC7C-0C1C-462C-4048-B453CB177ECA}"/>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2744527" y="5636713"/>
            <a:ext cx="971848" cy="961503"/>
          </a:xfrm>
          <a:prstGeom prst="rect">
            <a:avLst/>
          </a:prstGeom>
        </p:spPr>
      </p:pic>
      <p:pic>
        <p:nvPicPr>
          <p:cNvPr id="11" name="Picture 10" descr="A yellow face with a sad face&#10;&#10;Description automatically generated">
            <a:extLst>
              <a:ext uri="{FF2B5EF4-FFF2-40B4-BE49-F238E27FC236}">
                <a16:creationId xmlns:a16="http://schemas.microsoft.com/office/drawing/2014/main" id="{86720EE0-AEA3-8229-4685-68B7266DAF45}"/>
              </a:ext>
            </a:extLst>
          </p:cNvPr>
          <p:cNvPicPr>
            <a:picLocks noChangeAspect="1"/>
          </p:cNvPicPr>
          <p:nvPr/>
        </p:nvPicPr>
        <p:blipFill>
          <a:blip r:embed="rId5">
            <a:extLst>
              <a:ext uri="{837473B0-CC2E-450A-ABE3-18F120FF3D39}">
                <a1611:picAttrSrcUrl xmlns:a1611="http://schemas.microsoft.com/office/drawing/2016/11/main" r:id="rId6"/>
              </a:ext>
            </a:extLst>
          </a:blip>
          <a:stretch>
            <a:fillRect/>
          </a:stretch>
        </p:blipFill>
        <p:spPr>
          <a:xfrm>
            <a:off x="8483420" y="5633969"/>
            <a:ext cx="924061" cy="859667"/>
          </a:xfrm>
          <a:prstGeom prst="rect">
            <a:avLst/>
          </a:prstGeom>
        </p:spPr>
      </p:pic>
    </p:spTree>
    <p:extLst>
      <p:ext uri="{BB962C8B-B14F-4D97-AF65-F5344CB8AC3E}">
        <p14:creationId xmlns:p14="http://schemas.microsoft.com/office/powerpoint/2010/main" val="42402260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23">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49F00D4-9A9C-D917-579B-371D8F0519D5}"/>
              </a:ext>
            </a:extLst>
          </p:cNvPr>
          <p:cNvSpPr>
            <a:spLocks noGrp="1"/>
          </p:cNvSpPr>
          <p:nvPr>
            <p:ph type="title"/>
          </p:nvPr>
        </p:nvSpPr>
        <p:spPr>
          <a:xfrm>
            <a:off x="686834" y="1153572"/>
            <a:ext cx="3200400" cy="4461163"/>
          </a:xfrm>
        </p:spPr>
        <p:txBody>
          <a:bodyPr>
            <a:normAutofit/>
          </a:bodyPr>
          <a:lstStyle/>
          <a:p>
            <a:r>
              <a:rPr lang="en-GB" b="1">
                <a:solidFill>
                  <a:srgbClr val="FFFFFF"/>
                </a:solidFill>
                <a:latin typeface="Aptos"/>
              </a:rPr>
              <a:t>Writing Task</a:t>
            </a:r>
            <a:endParaRPr lang="en-US">
              <a:solidFill>
                <a:srgbClr val="FFFFFF"/>
              </a:solidFill>
            </a:endParaRPr>
          </a:p>
        </p:txBody>
      </p:sp>
      <p:sp>
        <p:nvSpPr>
          <p:cNvPr id="26" name="Arc 25">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F499D880-1A26-B7AD-60C8-200AC5A021B8}"/>
              </a:ext>
            </a:extLst>
          </p:cNvPr>
          <p:cNvSpPr>
            <a:spLocks noGrp="1"/>
          </p:cNvSpPr>
          <p:nvPr>
            <p:ph idx="1"/>
          </p:nvPr>
        </p:nvSpPr>
        <p:spPr>
          <a:xfrm>
            <a:off x="4447308" y="591344"/>
            <a:ext cx="6906491" cy="5585619"/>
          </a:xfrm>
        </p:spPr>
        <p:txBody>
          <a:bodyPr vert="horz" lIns="91440" tIns="45720" rIns="91440" bIns="45720" rtlCol="0" anchor="ctr">
            <a:normAutofit/>
          </a:bodyPr>
          <a:lstStyle/>
          <a:p>
            <a:pPr>
              <a:buNone/>
            </a:pPr>
            <a:endParaRPr lang="en-GB" sz="2600" b="1" dirty="0"/>
          </a:p>
          <a:p>
            <a:pPr>
              <a:buNone/>
            </a:pPr>
            <a:r>
              <a:rPr lang="en-GB" sz="2600" b="1" dirty="0"/>
              <a:t>Write a review </a:t>
            </a:r>
            <a:r>
              <a:rPr lang="en-GB" sz="2600" dirty="0"/>
              <a:t>about a new restaurant you recently visited.</a:t>
            </a:r>
            <a:endParaRPr lang="en-US" sz="2600" dirty="0"/>
          </a:p>
          <a:p>
            <a:pPr>
              <a:buNone/>
            </a:pPr>
            <a:r>
              <a:rPr lang="en-GB" sz="2600" dirty="0"/>
              <a:t>You should include:</a:t>
            </a:r>
            <a:endParaRPr lang="en-US" sz="2600" dirty="0"/>
          </a:p>
          <a:p>
            <a:pPr>
              <a:buFont typeface="Arial"/>
              <a:buChar char="•"/>
            </a:pPr>
            <a:r>
              <a:rPr lang="en-GB" sz="2600" dirty="0"/>
              <a:t>where you went</a:t>
            </a:r>
            <a:endParaRPr lang="en-US" sz="2600" dirty="0"/>
          </a:p>
          <a:p>
            <a:pPr>
              <a:buFont typeface="Arial"/>
              <a:buChar char="•"/>
            </a:pPr>
            <a:r>
              <a:rPr lang="en-GB" sz="2600" dirty="0"/>
              <a:t>who you went with</a:t>
            </a:r>
            <a:endParaRPr lang="en-US" sz="2600" dirty="0"/>
          </a:p>
          <a:p>
            <a:pPr>
              <a:buFont typeface="Arial"/>
              <a:buChar char="•"/>
            </a:pPr>
            <a:r>
              <a:rPr lang="en-GB" sz="2600" dirty="0"/>
              <a:t>what you liked about it and why</a:t>
            </a:r>
            <a:endParaRPr lang="en-US" sz="2600" dirty="0"/>
          </a:p>
          <a:p>
            <a:pPr>
              <a:buFont typeface="Arial"/>
              <a:buChar char="•"/>
            </a:pPr>
            <a:r>
              <a:rPr lang="en-GB" sz="2600" dirty="0"/>
              <a:t>what you disliked about it and why</a:t>
            </a:r>
            <a:endParaRPr lang="en-US" sz="2600" dirty="0"/>
          </a:p>
          <a:p>
            <a:pPr indent="0">
              <a:buNone/>
            </a:pPr>
            <a:r>
              <a:rPr lang="en-GB" sz="2600" dirty="0"/>
              <a:t>Write at least 150 words. These must include at least </a:t>
            </a:r>
            <a:r>
              <a:rPr lang="en-GB" sz="2600" b="1" dirty="0"/>
              <a:t>2 complex sentences</a:t>
            </a:r>
            <a:r>
              <a:rPr lang="en-GB" sz="2600" dirty="0"/>
              <a:t> that use </a:t>
            </a:r>
            <a:r>
              <a:rPr lang="en-GB" sz="2600" b="1" dirty="0"/>
              <a:t>L1 grammar.</a:t>
            </a:r>
            <a:endParaRPr lang="en-US" sz="2600" b="1" dirty="0"/>
          </a:p>
          <a:p>
            <a:pPr>
              <a:buNone/>
            </a:pPr>
            <a:r>
              <a:rPr lang="en-GB" sz="2600" dirty="0"/>
              <a:t>	Use at least </a:t>
            </a:r>
            <a:r>
              <a:rPr lang="en-GB" sz="2600" b="1" dirty="0"/>
              <a:t>3 paragraphs.</a:t>
            </a:r>
            <a:endParaRPr lang="en-US" sz="2600" dirty="0"/>
          </a:p>
        </p:txBody>
      </p:sp>
    </p:spTree>
    <p:extLst>
      <p:ext uri="{BB962C8B-B14F-4D97-AF65-F5344CB8AC3E}">
        <p14:creationId xmlns:p14="http://schemas.microsoft.com/office/powerpoint/2010/main" val="18224659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4" name="Rectangle 33">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Shape 34">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CC1B139-3C85-4461-2534-9E469C269320}"/>
              </a:ext>
            </a:extLst>
          </p:cNvPr>
          <p:cNvSpPr>
            <a:spLocks noGrp="1"/>
          </p:cNvSpPr>
          <p:nvPr>
            <p:ph type="title"/>
          </p:nvPr>
        </p:nvSpPr>
        <p:spPr>
          <a:xfrm>
            <a:off x="686834" y="1153572"/>
            <a:ext cx="3200400" cy="4461163"/>
          </a:xfrm>
        </p:spPr>
        <p:txBody>
          <a:bodyPr>
            <a:normAutofit/>
          </a:bodyPr>
          <a:lstStyle/>
          <a:p>
            <a:r>
              <a:rPr lang="en-US">
                <a:solidFill>
                  <a:srgbClr val="FFFFFF"/>
                </a:solidFill>
              </a:rPr>
              <a:t>An example</a:t>
            </a:r>
          </a:p>
        </p:txBody>
      </p:sp>
      <p:sp>
        <p:nvSpPr>
          <p:cNvPr id="36" name="Arc 35">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050E9963-171F-6BBD-1672-3DD61DAABFDD}"/>
              </a:ext>
            </a:extLst>
          </p:cNvPr>
          <p:cNvSpPr>
            <a:spLocks noGrp="1"/>
          </p:cNvSpPr>
          <p:nvPr>
            <p:ph idx="1"/>
          </p:nvPr>
        </p:nvSpPr>
        <p:spPr>
          <a:xfrm>
            <a:off x="4447308" y="591344"/>
            <a:ext cx="6906491" cy="5585619"/>
          </a:xfrm>
        </p:spPr>
        <p:txBody>
          <a:bodyPr vert="horz" lIns="91440" tIns="45720" rIns="91440" bIns="45720" rtlCol="0" anchor="ctr">
            <a:normAutofit/>
          </a:bodyPr>
          <a:lstStyle/>
          <a:p>
            <a:pPr>
              <a:buNone/>
            </a:pPr>
            <a:r>
              <a:rPr lang="en-GB" sz="2000" dirty="0"/>
              <a:t>Blue Sky Restaurant</a:t>
            </a:r>
          </a:p>
          <a:p>
            <a:r>
              <a:rPr lang="en-GB" sz="2000" dirty="0"/>
              <a:t> I’ve been coming to Blue Sky Restaurant for months now, and it’s honestly become my go-to spot for a relaxed, delicious meal. The atmosphere is super chill, with cozy lighting and friendly staff who always greet you like an old friend. Whether you’re popping in for lunch or lingering over dinner, it just feels welcoming.</a:t>
            </a:r>
          </a:p>
          <a:p>
            <a:r>
              <a:rPr lang="en-GB" sz="2000" dirty="0"/>
              <a:t>What’s the food like? Absolutely amazing. They’ve been serving up fresh, flavour-packed dishes that never disappoint. I’ve been trying different things on the menu and haven’t had a single regret. The seafood pasta is a dream, and the desserts are dangerously good. If you’re into cocktails, theirs are creative and beautifully presented.</a:t>
            </a:r>
          </a:p>
          <a:p>
            <a:r>
              <a:rPr lang="en-GB" sz="2000" dirty="0"/>
              <a:t>If I lived any closer, I’d probably eat here every day! It’s the kind of place that makes you want to bring your friends, celebrate something special, or just treat yourself. Blue Sky really knows how to make dining feel like a treat.</a:t>
            </a:r>
          </a:p>
          <a:p>
            <a:pPr>
              <a:buNone/>
            </a:pPr>
            <a:endParaRPr lang="en-US" sz="2000" dirty="0"/>
          </a:p>
        </p:txBody>
      </p:sp>
    </p:spTree>
    <p:extLst>
      <p:ext uri="{BB962C8B-B14F-4D97-AF65-F5344CB8AC3E}">
        <p14:creationId xmlns:p14="http://schemas.microsoft.com/office/powerpoint/2010/main" val="26196737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794325352E032448D621CCF83E7CDF4" ma:contentTypeVersion="7" ma:contentTypeDescription="Create a new document." ma:contentTypeScope="" ma:versionID="ba3f5d81746a1d17f477876d09e42da9">
  <xsd:schema xmlns:xsd="http://www.w3.org/2001/XMLSchema" xmlns:xs="http://www.w3.org/2001/XMLSchema" xmlns:p="http://schemas.microsoft.com/office/2006/metadata/properties" xmlns:ns2="31635c7e-3a11-4128-b6ca-f17fd774e46d" targetNamespace="http://schemas.microsoft.com/office/2006/metadata/properties" ma:root="true" ma:fieldsID="53fdc2f79366fcea6d46fcbf154b677f" ns2:_="">
    <xsd:import namespace="31635c7e-3a11-4128-b6ca-f17fd774e46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1635c7e-3a11-4128-b6ca-f17fd774e46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236CF965-E28E-47C6-A5A9-DF7221ADBA68}"/>
</file>

<file path=customXml/itemProps2.xml><?xml version="1.0" encoding="utf-8"?>
<ds:datastoreItem xmlns:ds="http://schemas.openxmlformats.org/officeDocument/2006/customXml" ds:itemID="{81A4D4D0-8ED2-4241-9012-31CB3B9BBF08}"/>
</file>

<file path=customXml/itemProps3.xml><?xml version="1.0" encoding="utf-8"?>
<ds:datastoreItem xmlns:ds="http://schemas.openxmlformats.org/officeDocument/2006/customXml" ds:itemID="{41F13F25-EDC9-4F18-82E4-A215D9D885FD}"/>
</file>

<file path=docProps/app.xml><?xml version="1.0" encoding="utf-8"?>
<Properties xmlns="http://schemas.openxmlformats.org/officeDocument/2006/extended-properties" xmlns:vt="http://schemas.openxmlformats.org/officeDocument/2006/docPropsVTypes">
  <Template>office theme</Template>
  <TotalTime>162</TotalTime>
  <Words>684</Words>
  <Application>Microsoft Office PowerPoint</Application>
  <PresentationFormat>Widescreen</PresentationFormat>
  <Paragraphs>86</Paragraphs>
  <Slides>10</Slides>
  <Notes>10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10</vt:i4>
      </vt:variant>
    </vt:vector>
  </HeadingPairs>
  <TitlesOfParts>
    <vt:vector size="19" baseType="lpstr">
      <vt:lpstr>Aptos</vt:lpstr>
      <vt:lpstr>Aptos Display</vt:lpstr>
      <vt:lpstr>Arial</vt:lpstr>
      <vt:lpstr>Arial,Sans-Serif</vt:lpstr>
      <vt:lpstr>Calibri</vt:lpstr>
      <vt:lpstr>Comic Sans MS</vt:lpstr>
      <vt:lpstr>Georgia</vt:lpstr>
      <vt:lpstr>Wingdings</vt:lpstr>
      <vt:lpstr>office theme</vt:lpstr>
      <vt:lpstr>Write a review</vt:lpstr>
      <vt:lpstr>Lesson Objectives </vt:lpstr>
      <vt:lpstr>Purpose </vt:lpstr>
      <vt:lpstr>Features</vt:lpstr>
      <vt:lpstr>Vocabulary </vt:lpstr>
      <vt:lpstr>Format/Layout for writing a review</vt:lpstr>
      <vt:lpstr>Restaurant Critic </vt:lpstr>
      <vt:lpstr>Restaurant Critic - writing plan</vt:lpstr>
      <vt:lpstr>Writing Task</vt:lpstr>
      <vt:lpstr>An example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Mag</dc:creator>
  <cp:lastModifiedBy>Julia Nasrallah</cp:lastModifiedBy>
  <cp:revision>247</cp:revision>
  <dcterms:created xsi:type="dcterms:W3CDTF">2024-12-02T14:24:43Z</dcterms:created>
  <dcterms:modified xsi:type="dcterms:W3CDTF">2025-11-03T15:41:35Z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0x0101006794325352E032448D621CCF83E7CDF4</vt:lpwstr>
  </property>
  <property fmtid="{D5CDD505-2E9C-101B-9397-08002B2CF9AE}" pid="3" name="Order">
    <vt:r8>20403500</vt:r8>
  </property>
  <property fmtid="{D5CDD505-2E9C-101B-9397-08002B2CF9AE}" pid="4" name="xd_Signature">
    <vt:bool>false</vt:bool>
  </property>
  <property fmtid="{D5CDD505-2E9C-101B-9397-08002B2CF9AE}" pid="5" name="xd_ProgID">
    <vt:lpwstr/>
  </property>
  <property fmtid="{D5CDD505-2E9C-101B-9397-08002B2CF9AE}" pid="6" name="TriggerFlowInfo">
    <vt:lpwstr/>
  </property>
  <property fmtid="{D5CDD505-2E9C-101B-9397-08002B2CF9AE}" pid="7" name="_SourceUrl">
    <vt:lpwstr/>
  </property>
  <property fmtid="{D5CDD505-2E9C-101B-9397-08002B2CF9AE}" pid="8" name="_SharedFileIndex">
    <vt:lpwstr/>
  </property>
  <property fmtid="{D5CDD505-2E9C-101B-9397-08002B2CF9AE}" pid="9" name="ComplianceAssetId">
    <vt:lpwstr/>
  </property>
  <property fmtid="{D5CDD505-2E9C-101B-9397-08002B2CF9AE}" pid="10" name="TemplateUrl">
    <vt:lpwstr/>
  </property>
  <property fmtid="{D5CDD505-2E9C-101B-9397-08002B2CF9AE}" pid="11" name="_ExtendedDescription">
    <vt:lpwstr/>
  </property>
</Properties>
</file>