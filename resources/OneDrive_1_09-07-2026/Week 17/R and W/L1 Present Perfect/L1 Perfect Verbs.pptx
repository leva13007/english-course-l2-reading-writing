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0.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1.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tags/tag9.xml" ContentType="application/vnd.openxmlformats-officedocument.presentationml.tags+xml"/>
  <Override PartName="/ppt/tags/tag1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1.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8.xml" ContentType="application/vnd.openxmlformats-officedocument.presentationml.tags+xml"/>
  <Override PartName="/ppt/tags/tag15.xml" ContentType="application/vnd.openxmlformats-officedocument.presentationml.tags+xml"/>
  <Override PartName="/ppt/tags/tag17.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16.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0"/>
  </p:handoutMasterIdLst>
  <p:sldIdLst>
    <p:sldId id="256" r:id="rId2"/>
    <p:sldId id="257" r:id="rId3"/>
    <p:sldId id="258" r:id="rId4"/>
    <p:sldId id="269" r:id="rId5"/>
    <p:sldId id="279" r:id="rId6"/>
    <p:sldId id="280" r:id="rId7"/>
    <p:sldId id="281" r:id="rId8"/>
    <p:sldId id="282" r:id="rId9"/>
    <p:sldId id="270" r:id="rId10"/>
    <p:sldId id="278" r:id="rId11"/>
    <p:sldId id="283" r:id="rId12"/>
    <p:sldId id="271" r:id="rId13"/>
    <p:sldId id="272" r:id="rId14"/>
    <p:sldId id="273" r:id="rId15"/>
    <p:sldId id="274" r:id="rId16"/>
    <p:sldId id="275" r:id="rId17"/>
    <p:sldId id="277" r:id="rId18"/>
    <p:sldId id="276" r:id="rId19"/>
    <p:sldId id="265" r:id="rId20"/>
    <p:sldId id="263" r:id="rId21"/>
    <p:sldId id="264" r:id="rId22"/>
    <p:sldId id="266" r:id="rId23"/>
    <p:sldId id="259" r:id="rId24"/>
    <p:sldId id="260" r:id="rId25"/>
    <p:sldId id="261" r:id="rId26"/>
    <p:sldId id="262" r:id="rId27"/>
    <p:sldId id="268" r:id="rId28"/>
    <p:sldId id="267" r:id="rId29"/>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E1C54FC6-6982-4DBA-8B59-74345EA39570}" type="datetimeFigureOut">
              <a:rPr lang="en-GB" smtClean="0"/>
              <a:t>15/03/2016</a:t>
            </a:fld>
            <a:endParaRPr lang="en-GB"/>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C94F6910-613C-4278-A9D6-38E763986D2B}" type="slidenum">
              <a:rPr lang="en-GB" smtClean="0"/>
              <a:t>‹#›</a:t>
            </a:fld>
            <a:endParaRPr lang="en-GB"/>
          </a:p>
        </p:txBody>
      </p:sp>
    </p:spTree>
    <p:extLst>
      <p:ext uri="{BB962C8B-B14F-4D97-AF65-F5344CB8AC3E}">
        <p14:creationId xmlns:p14="http://schemas.microsoft.com/office/powerpoint/2010/main" val="320314701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11" name="Slide Number Placeholder 10"/>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3" name="Footer Placeholder 2"/>
          <p:cNvSpPr>
            <a:spLocks noGrp="1"/>
          </p:cNvSpPr>
          <p:nvPr>
            <p:ph type="ftr" sz="quarter" idx="11"/>
          </p:nvPr>
        </p:nvSpPr>
        <p:spPr/>
        <p:txBody>
          <a:bodyPr/>
          <a:lstStyle>
            <a:extLst/>
          </a:lstStyle>
          <a:p>
            <a:endParaRPr lang="en-GB"/>
          </a:p>
        </p:txBody>
      </p:sp>
      <p:sp>
        <p:nvSpPr>
          <p:cNvPr id="4" name="Slide Number Placeholder 3"/>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B4059904-151E-4BD6-816A-B6D350B39DE5}" type="slidenum">
              <a:rPr lang="en-GB" smtClean="0"/>
              <a:t>‹#›</a:t>
            </a:fld>
            <a:endParaRPr lang="en-GB"/>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22DB389-9851-40A6-B5ED-4D8068B8FEE7}" type="datetimeFigureOut">
              <a:rPr lang="en-GB" smtClean="0"/>
              <a:t>15/03/2016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B4059904-151E-4BD6-816A-B6D350B39DE5}"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22DB389-9851-40A6-B5ED-4D8068B8FEE7}" type="datetimeFigureOut">
              <a:rPr lang="en-GB" smtClean="0"/>
              <a:t>15/03/2016</a:t>
            </a:fld>
            <a:endParaRPr lang="en-GB"/>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GB"/>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4059904-151E-4BD6-816A-B6D350B39DE5}"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hyperlink" Target="http://www.englishpage.com/verbpage/presentperfect.html" TargetMode="External"/><Relationship Id="rId2" Type="http://schemas.openxmlformats.org/officeDocument/2006/relationships/slideLayout" Target="../slideLayouts/slideLayout2.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Perfect Verbs</a:t>
            </a:r>
            <a:endParaRPr lang="en-GB" dirty="0"/>
          </a:p>
        </p:txBody>
      </p:sp>
      <p:sp>
        <p:nvSpPr>
          <p:cNvPr id="3" name="Subtitle 2"/>
          <p:cNvSpPr>
            <a:spLocks noGrp="1"/>
          </p:cNvSpPr>
          <p:nvPr>
            <p:ph type="subTitle" idx="1"/>
          </p:nvPr>
        </p:nvSpPr>
        <p:spPr/>
        <p:txBody>
          <a:bodyPr/>
          <a:lstStyle/>
          <a:p>
            <a:r>
              <a:rPr lang="en-GB" dirty="0" smtClean="0"/>
              <a:t>Past, present, future…</a:t>
            </a:r>
            <a:endParaRPr lang="en-GB" dirty="0"/>
          </a:p>
        </p:txBody>
      </p:sp>
    </p:spTree>
    <p:custDataLst>
      <p:tags r:id="rId1"/>
    </p:custDataLst>
    <p:extLst>
      <p:ext uri="{BB962C8B-B14F-4D97-AF65-F5344CB8AC3E}">
        <p14:creationId xmlns:p14="http://schemas.microsoft.com/office/powerpoint/2010/main" val="32682353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Verbs… basic parts</a:t>
            </a:r>
            <a:endParaRPr lang="en-GB"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714" y="1340768"/>
            <a:ext cx="9173714"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0266605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8220" y="1"/>
            <a:ext cx="71993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879366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Present perfect</a:t>
            </a:r>
            <a:endParaRPr lang="en-GB" dirty="0"/>
          </a:p>
        </p:txBody>
      </p:sp>
      <p:sp>
        <p:nvSpPr>
          <p:cNvPr id="3" name="Content Placeholder 2"/>
          <p:cNvSpPr>
            <a:spLocks noGrp="1"/>
          </p:cNvSpPr>
          <p:nvPr>
            <p:ph idx="1"/>
          </p:nvPr>
        </p:nvSpPr>
        <p:spPr>
          <a:xfrm>
            <a:off x="502920" y="530352"/>
            <a:ext cx="8183880" cy="4400922"/>
          </a:xfrm>
        </p:spPr>
        <p:txBody>
          <a:bodyPr>
            <a:normAutofit fontScale="70000" lnSpcReduction="20000"/>
          </a:bodyPr>
          <a:lstStyle/>
          <a:p>
            <a:pPr marL="0" indent="0">
              <a:buNone/>
            </a:pPr>
            <a:r>
              <a:rPr lang="en-GB" dirty="0"/>
              <a:t>We use the Present Perfect to say that an action happened at an </a:t>
            </a:r>
            <a:r>
              <a:rPr lang="en-GB" u="sng" dirty="0"/>
              <a:t>unspecified</a:t>
            </a:r>
            <a:r>
              <a:rPr lang="en-GB" dirty="0"/>
              <a:t> time before now. </a:t>
            </a:r>
            <a:endParaRPr lang="en-GB" dirty="0" smtClean="0"/>
          </a:p>
          <a:p>
            <a:pPr marL="0" indent="0">
              <a:buNone/>
            </a:pPr>
            <a:r>
              <a:rPr lang="en-GB" dirty="0" smtClean="0"/>
              <a:t>The </a:t>
            </a:r>
            <a:r>
              <a:rPr lang="en-GB" dirty="0"/>
              <a:t>exact time is not important. </a:t>
            </a:r>
            <a:endParaRPr lang="en-GB" dirty="0" smtClean="0"/>
          </a:p>
          <a:p>
            <a:pPr marL="0" indent="0">
              <a:buNone/>
            </a:pPr>
            <a:endParaRPr lang="en-GB" dirty="0" smtClean="0"/>
          </a:p>
          <a:p>
            <a:pPr marL="0" indent="0">
              <a:buNone/>
            </a:pPr>
            <a:r>
              <a:rPr lang="en-GB" dirty="0" smtClean="0"/>
              <a:t>You </a:t>
            </a:r>
            <a:r>
              <a:rPr lang="en-GB" dirty="0">
                <a:solidFill>
                  <a:srgbClr val="FF0000"/>
                </a:solidFill>
              </a:rPr>
              <a:t>CANNOT</a:t>
            </a:r>
            <a:r>
              <a:rPr lang="en-GB" dirty="0"/>
              <a:t> use the Present Perfect with specific time expressions such as: </a:t>
            </a:r>
            <a:r>
              <a:rPr lang="en-GB" i="1" dirty="0"/>
              <a:t>yesterday, one year ago, last week, when I was a child, when I lived in Japan, at that moment, that day, one day, etc</a:t>
            </a:r>
            <a:r>
              <a:rPr lang="en-GB" dirty="0"/>
              <a:t>. </a:t>
            </a:r>
            <a:endParaRPr lang="en-GB" dirty="0" smtClean="0"/>
          </a:p>
          <a:p>
            <a:pPr marL="0" indent="0">
              <a:buNone/>
            </a:pPr>
            <a:endParaRPr lang="en-GB" dirty="0" smtClean="0"/>
          </a:p>
          <a:p>
            <a:pPr marL="0" indent="0">
              <a:buNone/>
            </a:pPr>
            <a:r>
              <a:rPr lang="en-GB" dirty="0" smtClean="0"/>
              <a:t>We </a:t>
            </a:r>
            <a:r>
              <a:rPr lang="en-GB" dirty="0">
                <a:solidFill>
                  <a:srgbClr val="00B050"/>
                </a:solidFill>
              </a:rPr>
              <a:t>CAN</a:t>
            </a:r>
            <a:r>
              <a:rPr lang="en-GB" dirty="0"/>
              <a:t> use the Present Perfect with unspecific expressions such as: </a:t>
            </a:r>
            <a:r>
              <a:rPr lang="en-GB" i="1" dirty="0"/>
              <a:t>ever, never, once, many times, several times, before, so far, already, yet, etc</a:t>
            </a:r>
            <a:r>
              <a:rPr lang="en-GB" dirty="0"/>
              <a:t>. </a:t>
            </a:r>
            <a:endParaRPr lang="en-GB" dirty="0" smtClean="0"/>
          </a:p>
          <a:p>
            <a:pPr marL="0" indent="0">
              <a:buNone/>
            </a:pPr>
            <a:endParaRPr lang="en-GB" dirty="0"/>
          </a:p>
          <a:p>
            <a:r>
              <a:rPr lang="en-GB" dirty="0"/>
              <a:t>Examples:</a:t>
            </a:r>
          </a:p>
          <a:p>
            <a:r>
              <a:rPr lang="en-GB" dirty="0"/>
              <a:t>I </a:t>
            </a:r>
            <a:r>
              <a:rPr lang="en-GB" b="1" dirty="0"/>
              <a:t>have seen</a:t>
            </a:r>
            <a:r>
              <a:rPr lang="en-GB" dirty="0"/>
              <a:t> that movie twenty times.</a:t>
            </a:r>
          </a:p>
          <a:p>
            <a:r>
              <a:rPr lang="en-GB" dirty="0"/>
              <a:t>I think I </a:t>
            </a:r>
            <a:r>
              <a:rPr lang="en-GB" b="1" dirty="0"/>
              <a:t>have met</a:t>
            </a:r>
            <a:r>
              <a:rPr lang="en-GB" dirty="0"/>
              <a:t> him once before.</a:t>
            </a:r>
          </a:p>
          <a:p>
            <a:endParaRPr lang="en-GB"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820" y="4931274"/>
            <a:ext cx="4442180" cy="1455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22248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p:cTn id="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
                                            <p:txEl>
                                              <p:pRg st="3" end="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 calcmode="lin" valueType="num">
                                      <p:cBhvr>
                                        <p:cTn id="1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7.1</a:t>
            </a:r>
            <a:endParaRPr lang="en-GB" dirty="0"/>
          </a:p>
        </p:txBody>
      </p:sp>
      <p:sp>
        <p:nvSpPr>
          <p:cNvPr id="3" name="Content Placeholder 2"/>
          <p:cNvSpPr>
            <a:spLocks noGrp="1"/>
          </p:cNvSpPr>
          <p:nvPr>
            <p:ph idx="1"/>
          </p:nvPr>
        </p:nvSpPr>
        <p:spPr/>
        <p:txBody>
          <a:bodyPr/>
          <a:lstStyle/>
          <a:p>
            <a:pPr marL="0" indent="0">
              <a:buNone/>
            </a:pPr>
            <a:r>
              <a:rPr lang="en-GB" dirty="0" smtClean="0"/>
              <a:t>Tom </a:t>
            </a:r>
            <a:r>
              <a:rPr lang="en-GB" dirty="0" smtClean="0">
                <a:solidFill>
                  <a:srgbClr val="FF0000"/>
                </a:solidFill>
              </a:rPr>
              <a:t>has lost </a:t>
            </a:r>
            <a:r>
              <a:rPr lang="en-GB" dirty="0" smtClean="0"/>
              <a:t>his key.</a:t>
            </a:r>
          </a:p>
          <a:p>
            <a:pPr marL="0" indent="0">
              <a:buNone/>
            </a:pPr>
            <a:r>
              <a:rPr lang="en-GB" dirty="0" smtClean="0"/>
              <a:t>Lisa </a:t>
            </a:r>
            <a:r>
              <a:rPr lang="en-GB" dirty="0" smtClean="0">
                <a:solidFill>
                  <a:srgbClr val="FF0000"/>
                </a:solidFill>
              </a:rPr>
              <a:t>has broken</a:t>
            </a:r>
            <a:r>
              <a:rPr lang="en-GB" dirty="0" smtClean="0"/>
              <a:t> her leg.</a:t>
            </a:r>
          </a:p>
          <a:p>
            <a:pPr marL="0" indent="0">
              <a:buNone/>
            </a:pPr>
            <a:r>
              <a:rPr lang="en-GB" dirty="0" smtClean="0"/>
              <a:t>The bus fare </a:t>
            </a:r>
            <a:r>
              <a:rPr lang="en-GB" dirty="0" smtClean="0">
                <a:solidFill>
                  <a:srgbClr val="FF0000"/>
                </a:solidFill>
              </a:rPr>
              <a:t>has gone up</a:t>
            </a:r>
            <a:r>
              <a:rPr lang="en-GB" dirty="0" smtClean="0"/>
              <a:t>.</a:t>
            </a:r>
          </a:p>
          <a:p>
            <a:pPr marL="0" indent="0">
              <a:buNone/>
            </a:pPr>
            <a:r>
              <a:rPr lang="en-GB" dirty="0" smtClean="0"/>
              <a:t>Her English </a:t>
            </a:r>
            <a:r>
              <a:rPr lang="en-GB" dirty="0" smtClean="0">
                <a:solidFill>
                  <a:srgbClr val="FF0000"/>
                </a:solidFill>
              </a:rPr>
              <a:t>has improved</a:t>
            </a:r>
            <a:r>
              <a:rPr lang="en-GB" dirty="0" smtClean="0"/>
              <a:t>.</a:t>
            </a:r>
          </a:p>
          <a:p>
            <a:pPr marL="0" indent="0">
              <a:buNone/>
            </a:pPr>
            <a:r>
              <a:rPr lang="en-GB" dirty="0" smtClean="0"/>
              <a:t>Dan </a:t>
            </a:r>
            <a:r>
              <a:rPr lang="en-GB" dirty="0" smtClean="0">
                <a:solidFill>
                  <a:srgbClr val="FF0000"/>
                </a:solidFill>
              </a:rPr>
              <a:t>has grown </a:t>
            </a:r>
            <a:r>
              <a:rPr lang="en-GB" dirty="0" smtClean="0"/>
              <a:t>a beard.</a:t>
            </a:r>
          </a:p>
          <a:p>
            <a:pPr marL="0" indent="0">
              <a:buNone/>
            </a:pPr>
            <a:r>
              <a:rPr lang="en-GB" dirty="0" smtClean="0"/>
              <a:t>The letter </a:t>
            </a:r>
            <a:r>
              <a:rPr lang="en-GB" dirty="0" smtClean="0">
                <a:solidFill>
                  <a:srgbClr val="FF0000"/>
                </a:solidFill>
              </a:rPr>
              <a:t>has arrived</a:t>
            </a:r>
            <a:r>
              <a:rPr lang="en-GB" dirty="0" smtClean="0"/>
              <a:t>.</a:t>
            </a:r>
          </a:p>
          <a:p>
            <a:pPr marL="0" indent="0">
              <a:buNone/>
            </a:pPr>
            <a:r>
              <a:rPr lang="en-GB" dirty="0" smtClean="0"/>
              <a:t>The temperature </a:t>
            </a:r>
            <a:r>
              <a:rPr lang="en-GB" dirty="0" smtClean="0">
                <a:solidFill>
                  <a:srgbClr val="FF0000"/>
                </a:solidFill>
              </a:rPr>
              <a:t>has fallen</a:t>
            </a:r>
            <a:r>
              <a:rPr lang="en-GB" dirty="0" smtClean="0"/>
              <a:t>.</a:t>
            </a:r>
            <a:endParaRPr lang="en-GB" dirty="0"/>
          </a:p>
        </p:txBody>
      </p:sp>
    </p:spTree>
    <p:custDataLst>
      <p:tags r:id="rId1"/>
    </p:custDataLst>
    <p:extLst>
      <p:ext uri="{BB962C8B-B14F-4D97-AF65-F5344CB8AC3E}">
        <p14:creationId xmlns:p14="http://schemas.microsoft.com/office/powerpoint/2010/main" val="2772463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7.2</a:t>
            </a:r>
            <a:endParaRPr lang="en-GB" dirty="0"/>
          </a:p>
        </p:txBody>
      </p:sp>
      <p:sp>
        <p:nvSpPr>
          <p:cNvPr id="3" name="Content Placeholder 2"/>
          <p:cNvSpPr>
            <a:spLocks noGrp="1"/>
          </p:cNvSpPr>
          <p:nvPr>
            <p:ph idx="1"/>
          </p:nvPr>
        </p:nvSpPr>
        <p:spPr/>
        <p:txBody>
          <a:bodyPr/>
          <a:lstStyle/>
          <a:p>
            <a:pPr marL="0" indent="0">
              <a:buNone/>
            </a:pPr>
            <a:r>
              <a:rPr lang="en-GB" dirty="0" smtClean="0"/>
              <a:t>He’s gone to Italy.</a:t>
            </a:r>
          </a:p>
          <a:p>
            <a:pPr marL="0" indent="0">
              <a:buNone/>
            </a:pPr>
            <a:r>
              <a:rPr lang="en-GB" dirty="0" smtClean="0"/>
              <a:t>I’ve just been to the shops.</a:t>
            </a:r>
          </a:p>
          <a:p>
            <a:pPr marL="0" indent="0">
              <a:buNone/>
            </a:pPr>
            <a:r>
              <a:rPr lang="en-GB" dirty="0" smtClean="0"/>
              <a:t>She’s gone to the shop to get a newspaper.</a:t>
            </a:r>
          </a:p>
          <a:p>
            <a:pPr marL="0" indent="0">
              <a:buNone/>
            </a:pPr>
            <a:r>
              <a:rPr lang="en-GB" dirty="0" smtClean="0"/>
              <a:t>Tom has gone out.</a:t>
            </a:r>
          </a:p>
          <a:p>
            <a:pPr marL="0" indent="0">
              <a:buNone/>
            </a:pPr>
            <a:r>
              <a:rPr lang="en-GB" dirty="0" smtClean="0"/>
              <a:t>No, I’ve already been to the bank.</a:t>
            </a:r>
          </a:p>
          <a:p>
            <a:pPr marL="0" indent="0">
              <a:buNone/>
            </a:pPr>
            <a:endParaRPr lang="en-GB" dirty="0"/>
          </a:p>
        </p:txBody>
      </p:sp>
    </p:spTree>
    <p:custDataLst>
      <p:tags r:id="rId1"/>
    </p:custDataLst>
    <p:extLst>
      <p:ext uri="{BB962C8B-B14F-4D97-AF65-F5344CB8AC3E}">
        <p14:creationId xmlns:p14="http://schemas.microsoft.com/office/powerpoint/2010/main" val="40910545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7.3</a:t>
            </a:r>
            <a:endParaRPr lang="en-GB" dirty="0"/>
          </a:p>
        </p:txBody>
      </p:sp>
      <p:sp>
        <p:nvSpPr>
          <p:cNvPr id="3" name="Content Placeholder 2"/>
          <p:cNvSpPr>
            <a:spLocks noGrp="1"/>
          </p:cNvSpPr>
          <p:nvPr>
            <p:ph idx="1"/>
          </p:nvPr>
        </p:nvSpPr>
        <p:spPr/>
        <p:txBody>
          <a:bodyPr/>
          <a:lstStyle/>
          <a:p>
            <a:pPr marL="0" indent="0">
              <a:buNone/>
            </a:pPr>
            <a:r>
              <a:rPr lang="en-GB" dirty="0" smtClean="0"/>
              <a:t>No thanks. I’ve just had lunch.</a:t>
            </a:r>
          </a:p>
          <a:p>
            <a:pPr marL="0" indent="0">
              <a:buNone/>
            </a:pPr>
            <a:r>
              <a:rPr lang="en-GB" dirty="0" smtClean="0"/>
              <a:t>Yes, I’ve just seen her.</a:t>
            </a:r>
          </a:p>
          <a:p>
            <a:pPr marL="0" indent="0">
              <a:buNone/>
            </a:pPr>
            <a:r>
              <a:rPr lang="en-GB" dirty="0" smtClean="0"/>
              <a:t>He’s already left.</a:t>
            </a:r>
          </a:p>
          <a:p>
            <a:pPr marL="0" indent="0">
              <a:buNone/>
            </a:pPr>
            <a:r>
              <a:rPr lang="en-GB" dirty="0" smtClean="0"/>
              <a:t>I haven’t read it yet.</a:t>
            </a:r>
          </a:p>
          <a:p>
            <a:pPr marL="0" indent="0">
              <a:buNone/>
            </a:pPr>
            <a:r>
              <a:rPr lang="en-GB" dirty="0" smtClean="0"/>
              <a:t>No, she has already seen the film.</a:t>
            </a:r>
          </a:p>
          <a:p>
            <a:pPr marL="0" indent="0">
              <a:buNone/>
            </a:pPr>
            <a:r>
              <a:rPr lang="en-GB" dirty="0" smtClean="0"/>
              <a:t>Yes, they have just arrived.</a:t>
            </a:r>
          </a:p>
          <a:p>
            <a:pPr marL="0" indent="0">
              <a:buNone/>
            </a:pPr>
            <a:r>
              <a:rPr lang="en-GB" dirty="0" smtClean="0"/>
              <a:t>We haven’t told him yet.</a:t>
            </a:r>
          </a:p>
          <a:p>
            <a:pPr marL="0" indent="0">
              <a:buNone/>
            </a:pPr>
            <a:endParaRPr lang="en-GB" dirty="0"/>
          </a:p>
        </p:txBody>
      </p:sp>
    </p:spTree>
    <p:custDataLst>
      <p:tags r:id="rId1"/>
    </p:custDataLst>
    <p:extLst>
      <p:ext uri="{BB962C8B-B14F-4D97-AF65-F5344CB8AC3E}">
        <p14:creationId xmlns:p14="http://schemas.microsoft.com/office/powerpoint/2010/main" val="31505330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7.4</a:t>
            </a:r>
            <a:endParaRPr lang="en-GB" dirty="0"/>
          </a:p>
        </p:txBody>
      </p:sp>
      <p:sp>
        <p:nvSpPr>
          <p:cNvPr id="3" name="Content Placeholder 2"/>
          <p:cNvSpPr>
            <a:spLocks noGrp="1"/>
          </p:cNvSpPr>
          <p:nvPr>
            <p:ph idx="1"/>
          </p:nvPr>
        </p:nvSpPr>
        <p:spPr/>
        <p:txBody>
          <a:bodyPr>
            <a:normAutofit fontScale="92500"/>
          </a:bodyPr>
          <a:lstStyle/>
          <a:p>
            <a:pPr marL="0" indent="0">
              <a:buNone/>
            </a:pPr>
            <a:r>
              <a:rPr lang="en-GB" dirty="0" smtClean="0"/>
              <a:t>After lunch you got see a friend at her house. She says, ‘Would you like something to eat?’ </a:t>
            </a:r>
          </a:p>
          <a:p>
            <a:pPr marL="0" indent="0">
              <a:buNone/>
            </a:pPr>
            <a:r>
              <a:rPr lang="en-GB" dirty="0" smtClean="0"/>
              <a:t>You say: No thank you. I’ve just had lunch.</a:t>
            </a:r>
          </a:p>
          <a:p>
            <a:pPr marL="0" indent="0">
              <a:buNone/>
            </a:pPr>
            <a:r>
              <a:rPr lang="en-GB" dirty="0" smtClean="0"/>
              <a:t>I’m afraid he’s just gone out.</a:t>
            </a:r>
          </a:p>
          <a:p>
            <a:pPr marL="0" indent="0">
              <a:buNone/>
            </a:pPr>
            <a:r>
              <a:rPr lang="en-GB" dirty="0" smtClean="0"/>
              <a:t>I haven’t finished yet.</a:t>
            </a:r>
          </a:p>
          <a:p>
            <a:pPr marL="0" indent="0">
              <a:buNone/>
            </a:pPr>
            <a:r>
              <a:rPr lang="en-GB" dirty="0" smtClean="0"/>
              <a:t>I’ve already done it.</a:t>
            </a:r>
          </a:p>
          <a:p>
            <a:pPr marL="0" indent="0">
              <a:buNone/>
            </a:pPr>
            <a:r>
              <a:rPr lang="en-GB" dirty="0" smtClean="0"/>
              <a:t>Have you found a place yet?</a:t>
            </a:r>
          </a:p>
          <a:p>
            <a:pPr marL="0" indent="0">
              <a:buNone/>
            </a:pPr>
            <a:r>
              <a:rPr lang="en-GB" dirty="0" smtClean="0"/>
              <a:t>I haven’t decided yet.</a:t>
            </a:r>
          </a:p>
          <a:p>
            <a:pPr marL="0" indent="0">
              <a:buNone/>
            </a:pPr>
            <a:r>
              <a:rPr lang="en-GB" dirty="0" smtClean="0"/>
              <a:t>No, </a:t>
            </a:r>
            <a:r>
              <a:rPr lang="en-GB" smtClean="0"/>
              <a:t>she’s just come </a:t>
            </a:r>
            <a:r>
              <a:rPr lang="en-GB" dirty="0" smtClean="0"/>
              <a:t>back.</a:t>
            </a:r>
          </a:p>
        </p:txBody>
      </p:sp>
    </p:spTree>
    <p:custDataLst>
      <p:tags r:id="rId1"/>
    </p:custDataLst>
    <p:extLst>
      <p:ext uri="{BB962C8B-B14F-4D97-AF65-F5344CB8AC3E}">
        <p14:creationId xmlns:p14="http://schemas.microsoft.com/office/powerpoint/2010/main" val="26930785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47500" lnSpcReduction="20000"/>
          </a:bodyPr>
          <a:lstStyle/>
          <a:p>
            <a:pPr marL="0" indent="0">
              <a:buNone/>
            </a:pPr>
            <a:r>
              <a:rPr lang="en-GB" sz="3300" b="1" dirty="0" smtClean="0"/>
              <a:t>Experience</a:t>
            </a:r>
            <a:endParaRPr lang="en-GB" sz="3300" b="1" dirty="0"/>
          </a:p>
          <a:p>
            <a:endParaRPr lang="en-GB" sz="3300" dirty="0" smtClean="0"/>
          </a:p>
          <a:p>
            <a:pPr marL="0" indent="0">
              <a:buNone/>
            </a:pPr>
            <a:r>
              <a:rPr lang="en-GB" sz="3300" dirty="0" smtClean="0"/>
              <a:t>You </a:t>
            </a:r>
            <a:r>
              <a:rPr lang="en-GB" sz="3300" dirty="0"/>
              <a:t>can use the Present Perfect to describe your experience. </a:t>
            </a:r>
            <a:endParaRPr lang="en-GB" sz="3300" dirty="0" smtClean="0"/>
          </a:p>
          <a:p>
            <a:pPr marL="0" indent="0">
              <a:buNone/>
            </a:pPr>
            <a:r>
              <a:rPr lang="en-GB" sz="3300" dirty="0" smtClean="0"/>
              <a:t>It </a:t>
            </a:r>
            <a:r>
              <a:rPr lang="en-GB" sz="3300" dirty="0"/>
              <a:t>is like saying, "I have the experience of..." </a:t>
            </a:r>
            <a:endParaRPr lang="en-GB" sz="3300" dirty="0" smtClean="0"/>
          </a:p>
          <a:p>
            <a:pPr marL="0" indent="0">
              <a:buNone/>
            </a:pPr>
            <a:r>
              <a:rPr lang="en-GB" sz="3300" dirty="0" smtClean="0"/>
              <a:t>You </a:t>
            </a:r>
            <a:r>
              <a:rPr lang="en-GB" sz="3300" dirty="0"/>
              <a:t>can also use this tense to say that you have never had a certain experience. </a:t>
            </a:r>
            <a:endParaRPr lang="en-GB" sz="3300" dirty="0" smtClean="0"/>
          </a:p>
          <a:p>
            <a:pPr marL="0" indent="0">
              <a:buNone/>
            </a:pPr>
            <a:endParaRPr lang="en-GB" sz="3300" dirty="0">
              <a:solidFill>
                <a:srgbClr val="FF0000"/>
              </a:solidFill>
            </a:endParaRPr>
          </a:p>
          <a:p>
            <a:pPr marL="0" indent="0">
              <a:buNone/>
            </a:pPr>
            <a:r>
              <a:rPr lang="en-GB" sz="3300" dirty="0" smtClean="0">
                <a:solidFill>
                  <a:srgbClr val="FF0000"/>
                </a:solidFill>
              </a:rPr>
              <a:t>The </a:t>
            </a:r>
            <a:r>
              <a:rPr lang="en-GB" sz="3300" dirty="0">
                <a:solidFill>
                  <a:srgbClr val="FF0000"/>
                </a:solidFill>
              </a:rPr>
              <a:t>Present Perfect is NOT used to describe a specific event.</a:t>
            </a:r>
          </a:p>
          <a:p>
            <a:pPr marL="0" indent="0">
              <a:buNone/>
            </a:pPr>
            <a:endParaRPr lang="en-GB" sz="3300" dirty="0" smtClean="0"/>
          </a:p>
          <a:p>
            <a:pPr marL="0" indent="0">
              <a:buNone/>
            </a:pPr>
            <a:r>
              <a:rPr lang="en-GB" sz="3300" dirty="0" smtClean="0"/>
              <a:t>Examples</a:t>
            </a:r>
            <a:r>
              <a:rPr lang="en-GB" sz="3300" dirty="0"/>
              <a:t>:</a:t>
            </a:r>
          </a:p>
          <a:p>
            <a:r>
              <a:rPr lang="en-GB" sz="3300" dirty="0"/>
              <a:t>I </a:t>
            </a:r>
            <a:r>
              <a:rPr lang="en-GB" sz="3300" b="1" dirty="0"/>
              <a:t>have been</a:t>
            </a:r>
            <a:r>
              <a:rPr lang="en-GB" sz="3300" dirty="0"/>
              <a:t> to France</a:t>
            </a:r>
            <a:r>
              <a:rPr lang="en-GB" sz="3300" dirty="0" smtClean="0"/>
              <a:t>.</a:t>
            </a:r>
          </a:p>
          <a:p>
            <a:r>
              <a:rPr lang="en-GB" sz="3300" dirty="0"/>
              <a:t/>
            </a:r>
            <a:br>
              <a:rPr lang="en-GB" sz="3300" dirty="0"/>
            </a:br>
            <a:r>
              <a:rPr lang="en-GB" sz="3300" i="1" dirty="0"/>
              <a:t>This sentence means that you have had the experience of being in France. Maybe you have been there once, or several times</a:t>
            </a:r>
            <a:r>
              <a:rPr lang="en-GB" sz="3300" i="1" dirty="0" smtClean="0"/>
              <a:t>.</a:t>
            </a:r>
          </a:p>
          <a:p>
            <a:endParaRPr lang="en-GB" sz="3300" dirty="0"/>
          </a:p>
          <a:p>
            <a:r>
              <a:rPr lang="en-GB" sz="3300" dirty="0"/>
              <a:t>I </a:t>
            </a:r>
            <a:r>
              <a:rPr lang="en-GB" sz="3300" b="1" dirty="0"/>
              <a:t>have been</a:t>
            </a:r>
            <a:r>
              <a:rPr lang="en-GB" sz="3300" dirty="0"/>
              <a:t> to France three times</a:t>
            </a:r>
            <a:r>
              <a:rPr lang="en-GB" sz="3300" dirty="0" smtClean="0"/>
              <a:t>.</a:t>
            </a:r>
          </a:p>
          <a:p>
            <a:r>
              <a:rPr lang="en-GB" sz="3300" dirty="0"/>
              <a:t/>
            </a:r>
            <a:br>
              <a:rPr lang="en-GB" sz="3300" dirty="0"/>
            </a:br>
            <a:r>
              <a:rPr lang="en-GB" sz="3300" i="1" dirty="0"/>
              <a:t>You can add the number of times at the end of the sentence</a:t>
            </a:r>
            <a:r>
              <a:rPr lang="en-GB" sz="3300" i="1" dirty="0" smtClean="0"/>
              <a:t>.</a:t>
            </a:r>
          </a:p>
          <a:p>
            <a:endParaRPr lang="en-GB" sz="3300" dirty="0"/>
          </a:p>
          <a:p>
            <a:r>
              <a:rPr lang="en-GB" sz="3300" dirty="0"/>
              <a:t>I </a:t>
            </a:r>
            <a:r>
              <a:rPr lang="en-GB" sz="3300" b="1" dirty="0"/>
              <a:t>have</a:t>
            </a:r>
            <a:r>
              <a:rPr lang="en-GB" sz="3300" dirty="0"/>
              <a:t> never </a:t>
            </a:r>
            <a:r>
              <a:rPr lang="en-GB" sz="3300" b="1" dirty="0"/>
              <a:t>been</a:t>
            </a:r>
            <a:r>
              <a:rPr lang="en-GB" sz="3300" dirty="0"/>
              <a:t> to France</a:t>
            </a:r>
            <a:r>
              <a:rPr lang="en-GB" sz="3300" dirty="0" smtClean="0"/>
              <a:t>.</a:t>
            </a:r>
          </a:p>
          <a:p>
            <a:r>
              <a:rPr lang="en-GB" sz="3300" dirty="0"/>
              <a:t/>
            </a:r>
            <a:br>
              <a:rPr lang="en-GB" sz="3300" dirty="0"/>
            </a:br>
            <a:r>
              <a:rPr lang="en-GB" sz="3300" i="1" dirty="0"/>
              <a:t>This sentence means that you have not had the experience of going to France.</a:t>
            </a:r>
            <a:endParaRPr lang="en-GB" sz="3300" dirty="0"/>
          </a:p>
          <a:p>
            <a:endParaRPr lang="en-GB" dirty="0"/>
          </a:p>
        </p:txBody>
      </p:sp>
    </p:spTree>
    <p:custDataLst>
      <p:tags r:id="rId1"/>
    </p:custDataLst>
    <p:extLst>
      <p:ext uri="{BB962C8B-B14F-4D97-AF65-F5344CB8AC3E}">
        <p14:creationId xmlns:p14="http://schemas.microsoft.com/office/powerpoint/2010/main" val="360681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wipe(down)">
                                      <p:cBhvr>
                                        <p:cTn id="14" dur="580">
                                          <p:stCondLst>
                                            <p:cond delay="0"/>
                                          </p:stCondLst>
                                        </p:cTn>
                                        <p:tgtEl>
                                          <p:spTgt spid="3">
                                            <p:txEl>
                                              <p:pRg st="6" end="6"/>
                                            </p:txEl>
                                          </p:spTgt>
                                        </p:tgtEl>
                                      </p:cBhvr>
                                    </p:animEffect>
                                    <p:anim calcmode="lin" valueType="num">
                                      <p:cBhvr>
                                        <p:cTn id="15"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6" end="6"/>
                                            </p:txEl>
                                          </p:spTgt>
                                        </p:tgtEl>
                                      </p:cBhvr>
                                      <p:to x="100000" y="60000"/>
                                    </p:animScale>
                                    <p:animScale>
                                      <p:cBhvr>
                                        <p:cTn id="21" dur="166" decel="50000">
                                          <p:stCondLst>
                                            <p:cond delay="676"/>
                                          </p:stCondLst>
                                        </p:cTn>
                                        <p:tgtEl>
                                          <p:spTgt spid="3">
                                            <p:txEl>
                                              <p:pRg st="6" end="6"/>
                                            </p:txEl>
                                          </p:spTgt>
                                        </p:tgtEl>
                                      </p:cBhvr>
                                      <p:to x="100000" y="100000"/>
                                    </p:animScale>
                                    <p:animScale>
                                      <p:cBhvr>
                                        <p:cTn id="22" dur="26">
                                          <p:stCondLst>
                                            <p:cond delay="1312"/>
                                          </p:stCondLst>
                                        </p:cTn>
                                        <p:tgtEl>
                                          <p:spTgt spid="3">
                                            <p:txEl>
                                              <p:pRg st="6" end="6"/>
                                            </p:txEl>
                                          </p:spTgt>
                                        </p:tgtEl>
                                      </p:cBhvr>
                                      <p:to x="100000" y="80000"/>
                                    </p:animScale>
                                    <p:animScale>
                                      <p:cBhvr>
                                        <p:cTn id="23" dur="166" decel="50000">
                                          <p:stCondLst>
                                            <p:cond delay="1338"/>
                                          </p:stCondLst>
                                        </p:cTn>
                                        <p:tgtEl>
                                          <p:spTgt spid="3">
                                            <p:txEl>
                                              <p:pRg st="6" end="6"/>
                                            </p:txEl>
                                          </p:spTgt>
                                        </p:tgtEl>
                                      </p:cBhvr>
                                      <p:to x="100000" y="100000"/>
                                    </p:animScale>
                                    <p:animScale>
                                      <p:cBhvr>
                                        <p:cTn id="24" dur="26">
                                          <p:stCondLst>
                                            <p:cond delay="1642"/>
                                          </p:stCondLst>
                                        </p:cTn>
                                        <p:tgtEl>
                                          <p:spTgt spid="3">
                                            <p:txEl>
                                              <p:pRg st="6" end="6"/>
                                            </p:txEl>
                                          </p:spTgt>
                                        </p:tgtEl>
                                      </p:cBhvr>
                                      <p:to x="100000" y="90000"/>
                                    </p:animScale>
                                    <p:animScale>
                                      <p:cBhvr>
                                        <p:cTn id="25" dur="166" decel="50000">
                                          <p:stCondLst>
                                            <p:cond delay="1668"/>
                                          </p:stCondLst>
                                        </p:cTn>
                                        <p:tgtEl>
                                          <p:spTgt spid="3">
                                            <p:txEl>
                                              <p:pRg st="6" end="6"/>
                                            </p:txEl>
                                          </p:spTgt>
                                        </p:tgtEl>
                                      </p:cBhvr>
                                      <p:to x="100000" y="100000"/>
                                    </p:animScale>
                                    <p:animScale>
                                      <p:cBhvr>
                                        <p:cTn id="26" dur="26">
                                          <p:stCondLst>
                                            <p:cond delay="1808"/>
                                          </p:stCondLst>
                                        </p:cTn>
                                        <p:tgtEl>
                                          <p:spTgt spid="3">
                                            <p:txEl>
                                              <p:pRg st="6" end="6"/>
                                            </p:txEl>
                                          </p:spTgt>
                                        </p:tgtEl>
                                      </p:cBhvr>
                                      <p:to x="100000" y="95000"/>
                                    </p:animScale>
                                    <p:animScale>
                                      <p:cBhvr>
                                        <p:cTn id="27" dur="166" decel="50000">
                                          <p:stCondLst>
                                            <p:cond delay="1834"/>
                                          </p:stCondLst>
                                        </p:cTn>
                                        <p:tgtEl>
                                          <p:spTgt spid="3">
                                            <p:txEl>
                                              <p:pRg st="6" end="6"/>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1000"/>
                                        <p:tgtEl>
                                          <p:spTgt spid="3">
                                            <p:txEl>
                                              <p:pRg st="10" end="10"/>
                                            </p:txEl>
                                          </p:spTgt>
                                        </p:tgtEl>
                                      </p:cBhvr>
                                    </p:animEffect>
                                    <p:anim calcmode="lin" valueType="num">
                                      <p:cBhvr>
                                        <p:cTn id="4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1000"/>
                                        <p:tgtEl>
                                          <p:spTgt spid="3">
                                            <p:txEl>
                                              <p:pRg st="12" end="12"/>
                                            </p:txEl>
                                          </p:spTgt>
                                        </p:tgtEl>
                                      </p:cBhvr>
                                    </p:animEffect>
                                    <p:anim calcmode="lin" valueType="num">
                                      <p:cBhvr>
                                        <p:cTn id="5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1000"/>
                                        <p:tgtEl>
                                          <p:spTgt spid="3">
                                            <p:txEl>
                                              <p:pRg st="13" end="13"/>
                                            </p:txEl>
                                          </p:spTgt>
                                        </p:tgtEl>
                                      </p:cBhvr>
                                    </p:animEffect>
                                    <p:anim calcmode="lin" valueType="num">
                                      <p:cBhvr>
                                        <p:cTn id="55"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15" end="15"/>
                                            </p:txEl>
                                          </p:spTgt>
                                        </p:tgtEl>
                                        <p:attrNameLst>
                                          <p:attrName>style.visibility</p:attrName>
                                        </p:attrNameLst>
                                      </p:cBhvr>
                                      <p:to>
                                        <p:strVal val="visible"/>
                                      </p:to>
                                    </p:set>
                                    <p:animEffect transition="in" filter="fade">
                                      <p:cBhvr>
                                        <p:cTn id="61" dur="1000"/>
                                        <p:tgtEl>
                                          <p:spTgt spid="3">
                                            <p:txEl>
                                              <p:pRg st="15" end="15"/>
                                            </p:txEl>
                                          </p:spTgt>
                                        </p:tgtEl>
                                      </p:cBhvr>
                                    </p:animEffect>
                                    <p:anim calcmode="lin" valueType="num">
                                      <p:cBhvr>
                                        <p:cTn id="62"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6" end="16"/>
                                            </p:txEl>
                                          </p:spTgt>
                                        </p:tgtEl>
                                        <p:attrNameLst>
                                          <p:attrName>style.visibility</p:attrName>
                                        </p:attrNameLst>
                                      </p:cBhvr>
                                      <p:to>
                                        <p:strVal val="visible"/>
                                      </p:to>
                                    </p:set>
                                    <p:animEffect transition="in" filter="fade">
                                      <p:cBhvr>
                                        <p:cTn id="66" dur="1000"/>
                                        <p:tgtEl>
                                          <p:spTgt spid="3">
                                            <p:txEl>
                                              <p:pRg st="16" end="16"/>
                                            </p:txEl>
                                          </p:spTgt>
                                        </p:tgtEl>
                                      </p:cBhvr>
                                    </p:animEffect>
                                    <p:anim calcmode="lin" valueType="num">
                                      <p:cBhvr>
                                        <p:cTn id="67"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a:t>
            </a:r>
            <a:endParaRPr lang="en-GB" dirty="0"/>
          </a:p>
        </p:txBody>
      </p:sp>
      <p:sp>
        <p:nvSpPr>
          <p:cNvPr id="3" name="Content Placeholder 2"/>
          <p:cNvSpPr>
            <a:spLocks noGrp="1"/>
          </p:cNvSpPr>
          <p:nvPr>
            <p:ph idx="1"/>
          </p:nvPr>
        </p:nvSpPr>
        <p:spPr>
          <a:xfrm>
            <a:off x="502920" y="530352"/>
            <a:ext cx="8183880" cy="4698848"/>
          </a:xfrm>
        </p:spPr>
        <p:txBody>
          <a:bodyPr>
            <a:normAutofit lnSpcReduction="10000"/>
          </a:bodyPr>
          <a:lstStyle/>
          <a:p>
            <a:pPr marL="0" indent="0">
              <a:buNone/>
            </a:pPr>
            <a:r>
              <a:rPr lang="en-GB" b="1" dirty="0" smtClean="0"/>
              <a:t>Write 3 true statements about yourself.</a:t>
            </a:r>
          </a:p>
          <a:p>
            <a:pPr marL="0" indent="0">
              <a:buNone/>
            </a:pPr>
            <a:endParaRPr lang="en-GB" dirty="0" smtClean="0"/>
          </a:p>
          <a:p>
            <a:pPr marL="0" indent="0">
              <a:buNone/>
            </a:pPr>
            <a:r>
              <a:rPr lang="en-GB" dirty="0" smtClean="0"/>
              <a:t>What have you done in your life?</a:t>
            </a:r>
          </a:p>
          <a:p>
            <a:pPr marL="0" indent="0">
              <a:buNone/>
            </a:pPr>
            <a:endParaRPr lang="en-GB" dirty="0" smtClean="0"/>
          </a:p>
          <a:p>
            <a:pPr marL="0" indent="0">
              <a:buNone/>
            </a:pPr>
            <a:endParaRPr lang="en-GB" dirty="0"/>
          </a:p>
          <a:p>
            <a:pPr marL="0" indent="0">
              <a:buNone/>
            </a:pPr>
            <a:r>
              <a:rPr lang="en-GB" dirty="0" smtClean="0"/>
              <a:t>What have you done already (i.e. before coming to class)?</a:t>
            </a:r>
          </a:p>
          <a:p>
            <a:pPr marL="0" indent="0">
              <a:buNone/>
            </a:pPr>
            <a:endParaRPr lang="en-GB" dirty="0" smtClean="0"/>
          </a:p>
          <a:p>
            <a:pPr marL="0" indent="0">
              <a:buNone/>
            </a:pPr>
            <a:endParaRPr lang="en-GB" dirty="0"/>
          </a:p>
          <a:p>
            <a:pPr marL="0" indent="0">
              <a:buNone/>
            </a:pPr>
            <a:r>
              <a:rPr lang="en-GB" dirty="0" smtClean="0"/>
              <a:t>What have you </a:t>
            </a:r>
            <a:r>
              <a:rPr lang="en-GB" i="1" dirty="0" smtClean="0"/>
              <a:t>never</a:t>
            </a:r>
            <a:r>
              <a:rPr lang="en-GB" dirty="0" smtClean="0"/>
              <a:t> done?</a:t>
            </a:r>
            <a:endParaRPr lang="en-GB" dirty="0"/>
          </a:p>
        </p:txBody>
      </p:sp>
    </p:spTree>
    <p:custDataLst>
      <p:tags r:id="rId1"/>
    </p:custDataLst>
    <p:extLst>
      <p:ext uri="{BB962C8B-B14F-4D97-AF65-F5344CB8AC3E}">
        <p14:creationId xmlns:p14="http://schemas.microsoft.com/office/powerpoint/2010/main" val="1519235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260648"/>
            <a:ext cx="8183880" cy="6139008"/>
          </a:xfrm>
        </p:spPr>
        <p:txBody>
          <a:bodyPr>
            <a:noAutofit/>
          </a:bodyPr>
          <a:lstStyle/>
          <a:p>
            <a:pPr marL="0" indent="0">
              <a:buNone/>
            </a:pPr>
            <a:r>
              <a:rPr lang="en-GB" sz="4400" b="1" dirty="0" smtClean="0"/>
              <a:t>Write 3 </a:t>
            </a:r>
            <a:r>
              <a:rPr lang="en-GB" sz="4400" b="1" dirty="0" smtClean="0"/>
              <a:t>things about yourself – use present perfect.</a:t>
            </a:r>
          </a:p>
          <a:p>
            <a:pPr marL="0" indent="0">
              <a:buNone/>
            </a:pPr>
            <a:endParaRPr lang="en-GB" sz="4800" b="1" dirty="0"/>
          </a:p>
          <a:p>
            <a:pPr marL="0" indent="0">
              <a:buNone/>
            </a:pPr>
            <a:r>
              <a:rPr lang="en-GB" sz="4800" b="1" dirty="0" smtClean="0"/>
              <a:t>I have…</a:t>
            </a:r>
          </a:p>
          <a:p>
            <a:pPr marL="0" indent="0">
              <a:buNone/>
            </a:pPr>
            <a:r>
              <a:rPr lang="en-GB" sz="4800" b="1" dirty="0" smtClean="0"/>
              <a:t>I have never…</a:t>
            </a:r>
            <a:endParaRPr lang="en-GB" sz="4800" dirty="0"/>
          </a:p>
          <a:p>
            <a:pPr marL="0" indent="0">
              <a:buNone/>
            </a:pPr>
            <a:endParaRPr lang="en-GB" sz="4800" b="1" dirty="0" smtClean="0"/>
          </a:p>
          <a:p>
            <a:pPr marL="0" indent="0">
              <a:buNone/>
            </a:pPr>
            <a:r>
              <a:rPr lang="en-GB" sz="4400" b="1" dirty="0" smtClean="0"/>
              <a:t>Make 2 true, and 1 false.</a:t>
            </a:r>
            <a:endParaRPr lang="en-GB" sz="4400" b="1" dirty="0" smtClean="0"/>
          </a:p>
        </p:txBody>
      </p:sp>
    </p:spTree>
    <p:custDataLst>
      <p:tags r:id="rId1"/>
    </p:custDataLst>
    <p:extLst>
      <p:ext uri="{BB962C8B-B14F-4D97-AF65-F5344CB8AC3E}">
        <p14:creationId xmlns:p14="http://schemas.microsoft.com/office/powerpoint/2010/main" val="19422209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70000" lnSpcReduction="20000"/>
          </a:bodyPr>
          <a:lstStyle/>
          <a:p>
            <a:pPr marL="0" indent="0">
              <a:buNone/>
            </a:pPr>
            <a:r>
              <a:rPr lang="en-GB" b="1" dirty="0"/>
              <a:t>Change Over Time</a:t>
            </a:r>
          </a:p>
          <a:p>
            <a:pPr marL="0" indent="0">
              <a:buNone/>
            </a:pPr>
            <a:endParaRPr lang="en-GB" dirty="0" smtClean="0"/>
          </a:p>
          <a:p>
            <a:pPr marL="0" indent="0">
              <a:buNone/>
            </a:pPr>
            <a:r>
              <a:rPr lang="en-GB" dirty="0" smtClean="0"/>
              <a:t>We </a:t>
            </a:r>
            <a:r>
              <a:rPr lang="en-GB" dirty="0"/>
              <a:t>often use the Present Perfect to talk about change that has happened over a period of time.</a:t>
            </a:r>
          </a:p>
          <a:p>
            <a:pPr marL="0" indent="0">
              <a:buNone/>
            </a:pPr>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You </a:t>
            </a:r>
            <a:r>
              <a:rPr lang="en-GB" b="1" dirty="0"/>
              <a:t>have grown</a:t>
            </a:r>
            <a:r>
              <a:rPr lang="en-GB" dirty="0"/>
              <a:t> since the last time I saw you.</a:t>
            </a:r>
          </a:p>
          <a:p>
            <a:pPr marL="0" indent="0">
              <a:buNone/>
            </a:pPr>
            <a:endParaRPr lang="en-GB" dirty="0" smtClean="0"/>
          </a:p>
          <a:p>
            <a:pPr marL="0" indent="0">
              <a:buNone/>
            </a:pPr>
            <a:r>
              <a:rPr lang="en-GB" dirty="0" smtClean="0"/>
              <a:t>The </a:t>
            </a:r>
            <a:r>
              <a:rPr lang="en-GB" dirty="0"/>
              <a:t>government </a:t>
            </a:r>
            <a:r>
              <a:rPr lang="en-GB" b="1" dirty="0"/>
              <a:t>has become</a:t>
            </a:r>
            <a:r>
              <a:rPr lang="en-GB" dirty="0"/>
              <a:t> more interested in arts education.</a:t>
            </a:r>
          </a:p>
          <a:p>
            <a:pPr marL="0" indent="0">
              <a:buNone/>
            </a:pPr>
            <a:endParaRPr lang="en-GB" dirty="0" smtClean="0"/>
          </a:p>
          <a:p>
            <a:pPr marL="0" indent="0">
              <a:buNone/>
            </a:pPr>
            <a:r>
              <a:rPr lang="en-GB" dirty="0" smtClean="0"/>
              <a:t>Japanese </a:t>
            </a:r>
            <a:r>
              <a:rPr lang="en-GB" b="1" dirty="0"/>
              <a:t>has become</a:t>
            </a:r>
            <a:r>
              <a:rPr lang="en-GB" dirty="0"/>
              <a:t> one of the most popular courses at the university since the Asian studies program was established.</a:t>
            </a:r>
          </a:p>
          <a:p>
            <a:pPr marL="0" indent="0">
              <a:buNone/>
            </a:pPr>
            <a:endParaRPr lang="en-GB" dirty="0" smtClean="0"/>
          </a:p>
          <a:p>
            <a:pPr marL="0" indent="0">
              <a:buNone/>
            </a:pPr>
            <a:r>
              <a:rPr lang="en-GB" dirty="0" smtClean="0"/>
              <a:t>My </a:t>
            </a:r>
            <a:r>
              <a:rPr lang="en-GB" dirty="0"/>
              <a:t>English </a:t>
            </a:r>
            <a:r>
              <a:rPr lang="en-GB" b="1" dirty="0"/>
              <a:t>has</a:t>
            </a:r>
            <a:r>
              <a:rPr lang="en-GB" dirty="0"/>
              <a:t> really </a:t>
            </a:r>
            <a:r>
              <a:rPr lang="en-GB" b="1" dirty="0"/>
              <a:t>improved</a:t>
            </a:r>
            <a:r>
              <a:rPr lang="en-GB" dirty="0"/>
              <a:t> since I moved to Australia.</a:t>
            </a:r>
          </a:p>
          <a:p>
            <a:pPr marL="0" indent="0">
              <a:buNone/>
            </a:pPr>
            <a:endParaRPr lang="en-GB" dirty="0"/>
          </a:p>
        </p:txBody>
      </p:sp>
    </p:spTree>
    <p:custDataLst>
      <p:tags r:id="rId1"/>
    </p:custDataLst>
    <p:extLst>
      <p:ext uri="{BB962C8B-B14F-4D97-AF65-F5344CB8AC3E}">
        <p14:creationId xmlns:p14="http://schemas.microsoft.com/office/powerpoint/2010/main" val="23942735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85000" lnSpcReduction="20000"/>
          </a:bodyPr>
          <a:lstStyle/>
          <a:p>
            <a:pPr marL="0" indent="0">
              <a:buNone/>
            </a:pPr>
            <a:r>
              <a:rPr lang="en-GB" b="1" dirty="0" smtClean="0"/>
              <a:t>Accomplishments</a:t>
            </a:r>
            <a:endParaRPr lang="en-GB" b="1" dirty="0"/>
          </a:p>
          <a:p>
            <a:pPr marL="0" indent="0">
              <a:buNone/>
            </a:pPr>
            <a:endParaRPr lang="en-GB" dirty="0" smtClean="0"/>
          </a:p>
          <a:p>
            <a:pPr marL="0" indent="0">
              <a:buNone/>
            </a:pPr>
            <a:r>
              <a:rPr lang="en-GB" dirty="0" smtClean="0"/>
              <a:t>We </a:t>
            </a:r>
            <a:r>
              <a:rPr lang="en-GB" dirty="0"/>
              <a:t>often use the Present Perfect to list the accomplishments of individuals and humanity. You cannot mention a specific time.</a:t>
            </a:r>
          </a:p>
          <a:p>
            <a:pPr marL="0" indent="0">
              <a:buNone/>
            </a:pPr>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Man </a:t>
            </a:r>
            <a:r>
              <a:rPr lang="en-GB" b="1" dirty="0"/>
              <a:t>has walked</a:t>
            </a:r>
            <a:r>
              <a:rPr lang="en-GB" dirty="0"/>
              <a:t> on the Moon.</a:t>
            </a:r>
          </a:p>
          <a:p>
            <a:pPr marL="0" indent="0">
              <a:buNone/>
            </a:pPr>
            <a:endParaRPr lang="en-GB" dirty="0" smtClean="0"/>
          </a:p>
          <a:p>
            <a:pPr marL="0" indent="0">
              <a:buNone/>
            </a:pPr>
            <a:r>
              <a:rPr lang="en-GB" dirty="0" smtClean="0"/>
              <a:t>Our </a:t>
            </a:r>
            <a:r>
              <a:rPr lang="en-GB" dirty="0"/>
              <a:t>son </a:t>
            </a:r>
            <a:r>
              <a:rPr lang="en-GB" b="1" dirty="0"/>
              <a:t>has learned</a:t>
            </a:r>
            <a:r>
              <a:rPr lang="en-GB" dirty="0"/>
              <a:t> how to read.</a:t>
            </a:r>
          </a:p>
          <a:p>
            <a:pPr marL="0" indent="0">
              <a:buNone/>
            </a:pPr>
            <a:endParaRPr lang="en-GB" dirty="0" smtClean="0"/>
          </a:p>
          <a:p>
            <a:pPr marL="0" indent="0">
              <a:buNone/>
            </a:pPr>
            <a:r>
              <a:rPr lang="en-GB" dirty="0" smtClean="0"/>
              <a:t>Doctors </a:t>
            </a:r>
            <a:r>
              <a:rPr lang="en-GB" b="1" dirty="0"/>
              <a:t>have cured</a:t>
            </a:r>
            <a:r>
              <a:rPr lang="en-GB" dirty="0"/>
              <a:t> many deadly diseases.</a:t>
            </a:r>
          </a:p>
          <a:p>
            <a:pPr marL="0" indent="0">
              <a:buNone/>
            </a:pPr>
            <a:endParaRPr lang="en-GB" dirty="0" smtClean="0"/>
          </a:p>
          <a:p>
            <a:pPr marL="0" indent="0">
              <a:buNone/>
            </a:pPr>
            <a:r>
              <a:rPr lang="en-GB" dirty="0" smtClean="0"/>
              <a:t>Scientists </a:t>
            </a:r>
            <a:r>
              <a:rPr lang="en-GB" b="1" dirty="0"/>
              <a:t>have split</a:t>
            </a:r>
            <a:r>
              <a:rPr lang="en-GB" dirty="0"/>
              <a:t> the atom.</a:t>
            </a:r>
          </a:p>
          <a:p>
            <a:pPr marL="0" indent="0">
              <a:buNone/>
            </a:pPr>
            <a:endParaRPr lang="en-GB" dirty="0"/>
          </a:p>
        </p:txBody>
      </p:sp>
    </p:spTree>
    <p:custDataLst>
      <p:tags r:id="rId1"/>
    </p:custDataLst>
    <p:extLst>
      <p:ext uri="{BB962C8B-B14F-4D97-AF65-F5344CB8AC3E}">
        <p14:creationId xmlns:p14="http://schemas.microsoft.com/office/powerpoint/2010/main" val="36435951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77500" lnSpcReduction="20000"/>
          </a:bodyPr>
          <a:lstStyle/>
          <a:p>
            <a:pPr marL="0" indent="0">
              <a:buNone/>
            </a:pPr>
            <a:r>
              <a:rPr lang="en-GB" b="1" dirty="0"/>
              <a:t>An Uncompleted Action You Are Expecting</a:t>
            </a:r>
          </a:p>
          <a:p>
            <a:endParaRPr lang="en-GB" dirty="0" smtClean="0"/>
          </a:p>
          <a:p>
            <a:pPr marL="0" indent="0">
              <a:buNone/>
            </a:pPr>
            <a:r>
              <a:rPr lang="en-GB" dirty="0" smtClean="0"/>
              <a:t>We </a:t>
            </a:r>
            <a:r>
              <a:rPr lang="en-GB" dirty="0"/>
              <a:t>often use the Present Perfect to say that an action which we expected has not happened. Using the Present Perfect suggests that we are still waiting for the action to happen. </a:t>
            </a:r>
          </a:p>
          <a:p>
            <a:pPr marL="0" indent="0">
              <a:buNone/>
            </a:pPr>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James </a:t>
            </a:r>
            <a:r>
              <a:rPr lang="en-GB" b="1" dirty="0"/>
              <a:t>has not finished</a:t>
            </a:r>
            <a:r>
              <a:rPr lang="en-GB" dirty="0"/>
              <a:t> his homework yet.</a:t>
            </a:r>
          </a:p>
          <a:p>
            <a:pPr marL="0" indent="0">
              <a:buNone/>
            </a:pPr>
            <a:endParaRPr lang="en-GB" dirty="0" smtClean="0"/>
          </a:p>
          <a:p>
            <a:pPr marL="0" indent="0">
              <a:buNone/>
            </a:pPr>
            <a:r>
              <a:rPr lang="en-GB" dirty="0" smtClean="0"/>
              <a:t>Susan </a:t>
            </a:r>
            <a:r>
              <a:rPr lang="en-GB" b="1" dirty="0"/>
              <a:t>hasn't mastered</a:t>
            </a:r>
            <a:r>
              <a:rPr lang="en-GB" dirty="0"/>
              <a:t> Japanese, but she can communicate.</a:t>
            </a:r>
          </a:p>
          <a:p>
            <a:pPr marL="0" indent="0">
              <a:buNone/>
            </a:pPr>
            <a:endParaRPr lang="en-GB" dirty="0" smtClean="0"/>
          </a:p>
          <a:p>
            <a:pPr marL="0" indent="0">
              <a:buNone/>
            </a:pPr>
            <a:r>
              <a:rPr lang="en-GB" dirty="0" smtClean="0"/>
              <a:t>Bill </a:t>
            </a:r>
            <a:r>
              <a:rPr lang="en-GB" b="1" dirty="0"/>
              <a:t>has</a:t>
            </a:r>
            <a:r>
              <a:rPr lang="en-GB" dirty="0"/>
              <a:t> still </a:t>
            </a:r>
            <a:r>
              <a:rPr lang="en-GB" b="1" dirty="0"/>
              <a:t>not arrived</a:t>
            </a:r>
            <a:r>
              <a:rPr lang="en-GB" dirty="0"/>
              <a:t>.</a:t>
            </a:r>
          </a:p>
          <a:p>
            <a:pPr marL="0" indent="0">
              <a:buNone/>
            </a:pPr>
            <a:endParaRPr lang="en-GB" dirty="0" smtClean="0"/>
          </a:p>
          <a:p>
            <a:pPr marL="0" indent="0">
              <a:buNone/>
            </a:pPr>
            <a:r>
              <a:rPr lang="en-GB" dirty="0" smtClean="0"/>
              <a:t>The </a:t>
            </a:r>
            <a:r>
              <a:rPr lang="en-GB" dirty="0"/>
              <a:t>rain </a:t>
            </a:r>
            <a:r>
              <a:rPr lang="en-GB" b="1" dirty="0"/>
              <a:t>hasn't stopped</a:t>
            </a:r>
            <a:r>
              <a:rPr lang="en-GB" dirty="0"/>
              <a:t>.</a:t>
            </a:r>
          </a:p>
          <a:p>
            <a:pPr marL="0" indent="0">
              <a:buNone/>
            </a:pPr>
            <a:endParaRPr lang="en-GB" dirty="0"/>
          </a:p>
        </p:txBody>
      </p:sp>
    </p:spTree>
    <p:custDataLst>
      <p:tags r:id="rId1"/>
    </p:custDataLst>
    <p:extLst>
      <p:ext uri="{BB962C8B-B14F-4D97-AF65-F5344CB8AC3E}">
        <p14:creationId xmlns:p14="http://schemas.microsoft.com/office/powerpoint/2010/main" val="2481357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0000" lnSpcReduction="20000"/>
          </a:bodyPr>
          <a:lstStyle/>
          <a:p>
            <a:pPr marL="0" indent="0">
              <a:buNone/>
            </a:pPr>
            <a:r>
              <a:rPr lang="en-GB" b="1" dirty="0" smtClean="0"/>
              <a:t>Multiple </a:t>
            </a:r>
            <a:r>
              <a:rPr lang="en-GB" b="1" dirty="0"/>
              <a:t>Actions at Different Times</a:t>
            </a:r>
          </a:p>
          <a:p>
            <a:pPr marL="0" indent="0">
              <a:buNone/>
            </a:pPr>
            <a:endParaRPr lang="en-GB" dirty="0" smtClean="0"/>
          </a:p>
          <a:p>
            <a:pPr marL="0" indent="0">
              <a:buNone/>
            </a:pPr>
            <a:r>
              <a:rPr lang="en-GB" dirty="0" smtClean="0"/>
              <a:t>We </a:t>
            </a:r>
            <a:r>
              <a:rPr lang="en-GB" dirty="0"/>
              <a:t>also use the Present Perfect to talk about several different actions which have occurred in the past at different times. Present Perfect suggests the process is not complete and more actions are possible.</a:t>
            </a:r>
          </a:p>
          <a:p>
            <a:pPr marL="0" indent="0">
              <a:buNone/>
            </a:pPr>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The </a:t>
            </a:r>
            <a:r>
              <a:rPr lang="en-GB" dirty="0"/>
              <a:t>army </a:t>
            </a:r>
            <a:r>
              <a:rPr lang="en-GB" b="1" dirty="0"/>
              <a:t>has attacked</a:t>
            </a:r>
            <a:r>
              <a:rPr lang="en-GB" dirty="0"/>
              <a:t> that city five times.</a:t>
            </a:r>
          </a:p>
          <a:p>
            <a:pPr marL="0" indent="0">
              <a:buNone/>
            </a:pPr>
            <a:endParaRPr lang="en-GB" dirty="0" smtClean="0"/>
          </a:p>
          <a:p>
            <a:pPr marL="0" indent="0">
              <a:buNone/>
            </a:pPr>
            <a:r>
              <a:rPr lang="en-GB" dirty="0" smtClean="0"/>
              <a:t>I </a:t>
            </a:r>
            <a:r>
              <a:rPr lang="en-GB" b="1" dirty="0"/>
              <a:t>have had</a:t>
            </a:r>
            <a:r>
              <a:rPr lang="en-GB" dirty="0"/>
              <a:t> four quizzes and five tests so far this semester.</a:t>
            </a:r>
          </a:p>
          <a:p>
            <a:pPr marL="0" indent="0">
              <a:buNone/>
            </a:pPr>
            <a:endParaRPr lang="en-GB" dirty="0" smtClean="0"/>
          </a:p>
          <a:p>
            <a:pPr marL="0" indent="0">
              <a:buNone/>
            </a:pPr>
            <a:r>
              <a:rPr lang="en-GB" dirty="0" smtClean="0"/>
              <a:t>We </a:t>
            </a:r>
            <a:r>
              <a:rPr lang="en-GB" b="1" dirty="0"/>
              <a:t>have had</a:t>
            </a:r>
            <a:r>
              <a:rPr lang="en-GB" dirty="0"/>
              <a:t> many major problems while working on this project.</a:t>
            </a:r>
          </a:p>
          <a:p>
            <a:pPr marL="0" indent="0">
              <a:buNone/>
            </a:pPr>
            <a:endParaRPr lang="en-GB" dirty="0" smtClean="0"/>
          </a:p>
          <a:p>
            <a:pPr marL="0" indent="0">
              <a:buNone/>
            </a:pPr>
            <a:r>
              <a:rPr lang="en-GB" dirty="0" smtClean="0"/>
              <a:t>She </a:t>
            </a:r>
            <a:r>
              <a:rPr lang="en-GB" b="1" dirty="0"/>
              <a:t>has talked</a:t>
            </a:r>
            <a:r>
              <a:rPr lang="en-GB" dirty="0"/>
              <a:t> to several specialists about her problem, but nobody knows why she is sick.</a:t>
            </a:r>
          </a:p>
          <a:p>
            <a:pPr marL="0" indent="0">
              <a:buNone/>
            </a:pPr>
            <a:endParaRPr lang="en-GB" dirty="0"/>
          </a:p>
        </p:txBody>
      </p:sp>
    </p:spTree>
    <p:custDataLst>
      <p:tags r:id="rId1"/>
    </p:custDataLst>
    <p:extLst>
      <p:ext uri="{BB962C8B-B14F-4D97-AF65-F5344CB8AC3E}">
        <p14:creationId xmlns:p14="http://schemas.microsoft.com/office/powerpoint/2010/main" val="19414815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1"/>
            <a:ext cx="8183880" cy="4842865"/>
          </a:xfrm>
        </p:spPr>
        <p:txBody>
          <a:bodyPr>
            <a:normAutofit fontScale="55000" lnSpcReduction="20000"/>
          </a:bodyPr>
          <a:lstStyle/>
          <a:p>
            <a:pPr marL="0" indent="0">
              <a:buNone/>
            </a:pPr>
            <a:r>
              <a:rPr lang="en-GB" sz="2900" b="1" dirty="0"/>
              <a:t>Duration From the Past Until Now (</a:t>
            </a:r>
            <a:r>
              <a:rPr lang="en-GB" sz="2900" b="1" dirty="0" smtClean="0"/>
              <a:t>Non-Continuous </a:t>
            </a:r>
            <a:r>
              <a:rPr lang="en-GB" sz="2900" b="1" dirty="0"/>
              <a:t>Verbs</a:t>
            </a:r>
            <a:r>
              <a:rPr lang="en-GB" sz="2900" b="1" dirty="0" smtClean="0"/>
              <a:t>)</a:t>
            </a:r>
          </a:p>
          <a:p>
            <a:pPr marL="0" indent="0">
              <a:buNone/>
            </a:pPr>
            <a:endParaRPr lang="en-GB" sz="2900" dirty="0" smtClean="0"/>
          </a:p>
          <a:p>
            <a:pPr marL="0" indent="0">
              <a:buNone/>
            </a:pPr>
            <a:r>
              <a:rPr lang="en-GB" sz="2900" dirty="0" smtClean="0"/>
              <a:t>With non-continuous verbs, </a:t>
            </a:r>
            <a:r>
              <a:rPr lang="en-GB" sz="2900" dirty="0"/>
              <a:t>we use the Present Perfect to show that something started in the past and has continued up until now. </a:t>
            </a:r>
            <a:endParaRPr lang="en-GB" sz="2900" dirty="0" smtClean="0"/>
          </a:p>
          <a:p>
            <a:pPr marL="0" indent="0">
              <a:buNone/>
            </a:pPr>
            <a:endParaRPr lang="en-GB" sz="2900" dirty="0" smtClean="0"/>
          </a:p>
          <a:p>
            <a:pPr marL="0" indent="0">
              <a:buNone/>
            </a:pPr>
            <a:r>
              <a:rPr lang="en-GB" sz="2900" dirty="0" smtClean="0"/>
              <a:t>"</a:t>
            </a:r>
            <a:r>
              <a:rPr lang="en-GB" sz="2900" dirty="0"/>
              <a:t>For five minutes," "for two weeks," and "since Tuesday" are all durations which </a:t>
            </a:r>
            <a:r>
              <a:rPr lang="en-GB" sz="2900" b="1" dirty="0">
                <a:solidFill>
                  <a:srgbClr val="00B050"/>
                </a:solidFill>
              </a:rPr>
              <a:t>can</a:t>
            </a:r>
            <a:r>
              <a:rPr lang="en-GB" sz="2900" dirty="0"/>
              <a:t> be used with the Present Perfect.</a:t>
            </a:r>
          </a:p>
          <a:p>
            <a:pPr marL="0" indent="0">
              <a:buNone/>
            </a:pPr>
            <a:endParaRPr lang="en-GB" sz="2900" dirty="0" smtClean="0"/>
          </a:p>
          <a:p>
            <a:pPr marL="0" indent="0">
              <a:buNone/>
            </a:pPr>
            <a:r>
              <a:rPr lang="en-GB" sz="2900" dirty="0" smtClean="0"/>
              <a:t>Examples</a:t>
            </a:r>
            <a:r>
              <a:rPr lang="en-GB" sz="2900" dirty="0"/>
              <a:t>:</a:t>
            </a:r>
          </a:p>
          <a:p>
            <a:pPr marL="0" indent="0">
              <a:buNone/>
            </a:pPr>
            <a:endParaRPr lang="en-GB" sz="2900" dirty="0" smtClean="0"/>
          </a:p>
          <a:p>
            <a:pPr marL="0" indent="0">
              <a:buNone/>
            </a:pPr>
            <a:r>
              <a:rPr lang="en-GB" sz="2900" dirty="0" smtClean="0"/>
              <a:t>I </a:t>
            </a:r>
            <a:r>
              <a:rPr lang="en-GB" sz="2900" b="1" dirty="0"/>
              <a:t>have had</a:t>
            </a:r>
            <a:r>
              <a:rPr lang="en-GB" sz="2900" dirty="0"/>
              <a:t> a cold for two weeks.</a:t>
            </a:r>
          </a:p>
          <a:p>
            <a:pPr marL="0" indent="0">
              <a:buNone/>
            </a:pPr>
            <a:endParaRPr lang="en-GB" sz="2900" dirty="0" smtClean="0"/>
          </a:p>
          <a:p>
            <a:pPr marL="0" indent="0">
              <a:buNone/>
            </a:pPr>
            <a:r>
              <a:rPr lang="en-GB" sz="2900" dirty="0" smtClean="0"/>
              <a:t>She </a:t>
            </a:r>
            <a:r>
              <a:rPr lang="en-GB" sz="2900" b="1" dirty="0"/>
              <a:t>has been</a:t>
            </a:r>
            <a:r>
              <a:rPr lang="en-GB" sz="2900" dirty="0"/>
              <a:t> in England for six months.</a:t>
            </a:r>
          </a:p>
          <a:p>
            <a:pPr marL="0" indent="0">
              <a:buNone/>
            </a:pPr>
            <a:endParaRPr lang="en-GB" sz="2900" dirty="0" smtClean="0"/>
          </a:p>
          <a:p>
            <a:pPr marL="0" indent="0">
              <a:buNone/>
            </a:pPr>
            <a:r>
              <a:rPr lang="en-GB" sz="2900" dirty="0" smtClean="0"/>
              <a:t>Mary </a:t>
            </a:r>
            <a:r>
              <a:rPr lang="en-GB" sz="2900" b="1" dirty="0"/>
              <a:t>has loved</a:t>
            </a:r>
            <a:r>
              <a:rPr lang="en-GB" sz="2900" dirty="0"/>
              <a:t> chocolate since she was a little girl.</a:t>
            </a:r>
          </a:p>
          <a:p>
            <a:pPr marL="0" indent="0">
              <a:buNone/>
            </a:pPr>
            <a:endParaRPr lang="en-GB" sz="2900" dirty="0" smtClean="0"/>
          </a:p>
          <a:p>
            <a:pPr marL="0" indent="0">
              <a:buNone/>
            </a:pPr>
            <a:r>
              <a:rPr lang="en-GB" sz="2900" dirty="0" smtClean="0"/>
              <a:t>Although </a:t>
            </a:r>
            <a:r>
              <a:rPr lang="en-GB" sz="2900" dirty="0"/>
              <a:t>the above use of Present Perfect is normally limited to Non-Continuous Verbs and non-continuous uses of Mixed Verbs, the words "live," "work," "teach," and "study" are sometimes used in this way even though they are NOT Non-Continuous Verbs.</a:t>
            </a:r>
          </a:p>
          <a:p>
            <a:pPr marL="0" indent="0">
              <a:buNone/>
            </a:pPr>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5157192"/>
            <a:ext cx="3408136" cy="968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822058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Present Perfect</a:t>
            </a:r>
            <a:endParaRPr lang="en-GB" dirty="0"/>
          </a:p>
        </p:txBody>
      </p:sp>
      <p:sp>
        <p:nvSpPr>
          <p:cNvPr id="3" name="Content Placeholder 2"/>
          <p:cNvSpPr>
            <a:spLocks noGrp="1"/>
          </p:cNvSpPr>
          <p:nvPr>
            <p:ph idx="1"/>
          </p:nvPr>
        </p:nvSpPr>
        <p:spPr/>
        <p:txBody>
          <a:bodyPr>
            <a:normAutofit fontScale="62500" lnSpcReduction="20000"/>
          </a:bodyPr>
          <a:lstStyle/>
          <a:p>
            <a:pPr marL="0" indent="0">
              <a:buNone/>
            </a:pPr>
            <a:r>
              <a:rPr lang="en-GB" dirty="0" smtClean="0"/>
              <a:t>I read the book.</a:t>
            </a:r>
          </a:p>
          <a:p>
            <a:pPr marL="0" indent="0">
              <a:buNone/>
            </a:pPr>
            <a:r>
              <a:rPr lang="en-GB" dirty="0"/>
              <a:t>	</a:t>
            </a:r>
            <a:r>
              <a:rPr lang="en-GB" dirty="0" smtClean="0"/>
              <a:t>I have read the book.</a:t>
            </a:r>
          </a:p>
          <a:p>
            <a:pPr marL="0" indent="0">
              <a:buNone/>
            </a:pPr>
            <a:r>
              <a:rPr lang="en-GB" dirty="0" smtClean="0"/>
              <a:t>You watch the film.</a:t>
            </a:r>
          </a:p>
          <a:p>
            <a:pPr marL="0" indent="0">
              <a:buNone/>
            </a:pPr>
            <a:r>
              <a:rPr lang="en-GB" dirty="0"/>
              <a:t>	</a:t>
            </a:r>
            <a:r>
              <a:rPr lang="en-GB" dirty="0" smtClean="0"/>
              <a:t>You have watched the film.</a:t>
            </a:r>
          </a:p>
          <a:p>
            <a:pPr marL="0" indent="0">
              <a:buNone/>
            </a:pPr>
            <a:r>
              <a:rPr lang="en-GB" dirty="0" smtClean="0"/>
              <a:t>They had breakfast already.</a:t>
            </a:r>
          </a:p>
          <a:p>
            <a:pPr marL="0" indent="0">
              <a:buNone/>
            </a:pPr>
            <a:r>
              <a:rPr lang="en-GB" dirty="0"/>
              <a:t>	</a:t>
            </a:r>
            <a:r>
              <a:rPr lang="en-GB" dirty="0" smtClean="0"/>
              <a:t>They have</a:t>
            </a:r>
            <a:r>
              <a:rPr lang="en-GB" dirty="0"/>
              <a:t> already</a:t>
            </a:r>
            <a:r>
              <a:rPr lang="en-GB" dirty="0" smtClean="0"/>
              <a:t> had breakfast.</a:t>
            </a:r>
          </a:p>
          <a:p>
            <a:pPr marL="0" indent="0">
              <a:buNone/>
            </a:pPr>
            <a:r>
              <a:rPr lang="en-GB" dirty="0" smtClean="0"/>
              <a:t>He goes to school.</a:t>
            </a:r>
          </a:p>
          <a:p>
            <a:pPr marL="0" indent="0">
              <a:buNone/>
            </a:pPr>
            <a:r>
              <a:rPr lang="en-GB" dirty="0"/>
              <a:t>	</a:t>
            </a:r>
            <a:r>
              <a:rPr lang="en-GB" dirty="0" smtClean="0"/>
              <a:t>He has gone to school.</a:t>
            </a:r>
          </a:p>
          <a:p>
            <a:pPr marL="0" indent="0">
              <a:buNone/>
            </a:pPr>
            <a:r>
              <a:rPr lang="en-GB" dirty="0" smtClean="0"/>
              <a:t>She waits for a letter to arrive.</a:t>
            </a:r>
          </a:p>
          <a:p>
            <a:pPr marL="0" indent="0">
              <a:buNone/>
            </a:pPr>
            <a:r>
              <a:rPr lang="en-GB" dirty="0"/>
              <a:t>	</a:t>
            </a:r>
            <a:r>
              <a:rPr lang="en-GB" dirty="0" smtClean="0"/>
              <a:t>She has waited for a letter to arrive.</a:t>
            </a:r>
          </a:p>
          <a:p>
            <a:pPr marL="0" indent="0">
              <a:buNone/>
            </a:pPr>
            <a:endParaRPr lang="en-GB" dirty="0"/>
          </a:p>
          <a:p>
            <a:pPr marL="0" indent="0">
              <a:buNone/>
            </a:pPr>
            <a:r>
              <a:rPr lang="en-GB" dirty="0" smtClean="0"/>
              <a:t>Come up with your own examples:</a:t>
            </a:r>
          </a:p>
          <a:p>
            <a:pPr marL="0" indent="0">
              <a:buNone/>
            </a:pPr>
            <a:r>
              <a:rPr lang="en-GB" dirty="0" smtClean="0"/>
              <a:t>1)	We have been in the UK since last year.</a:t>
            </a:r>
          </a:p>
          <a:p>
            <a:pPr marL="0" indent="0">
              <a:buNone/>
            </a:pPr>
            <a:r>
              <a:rPr lang="en-GB" dirty="0" smtClean="0"/>
              <a:t>2)	They have seen the Queen.</a:t>
            </a:r>
          </a:p>
          <a:p>
            <a:pPr marL="0" indent="0">
              <a:buNone/>
            </a:pPr>
            <a:r>
              <a:rPr lang="en-GB" dirty="0" smtClean="0"/>
              <a:t>3)	She has played football.</a:t>
            </a:r>
            <a:endParaRPr lang="en-GB" dirty="0"/>
          </a:p>
        </p:txBody>
      </p:sp>
    </p:spTree>
    <p:custDataLst>
      <p:tags r:id="rId1"/>
    </p:custDataLst>
    <p:extLst>
      <p:ext uri="{BB962C8B-B14F-4D97-AF65-F5344CB8AC3E}">
        <p14:creationId xmlns:p14="http://schemas.microsoft.com/office/powerpoint/2010/main" val="23144356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7500" lnSpcReduction="20000"/>
          </a:bodyPr>
          <a:lstStyle/>
          <a:p>
            <a:pPr marL="0" indent="0">
              <a:buNone/>
            </a:pPr>
            <a:r>
              <a:rPr lang="en-GB" b="1" dirty="0"/>
              <a:t>ADVERB PLACEMENT</a:t>
            </a:r>
          </a:p>
          <a:p>
            <a:endParaRPr lang="en-GB" dirty="0" smtClean="0"/>
          </a:p>
          <a:p>
            <a:pPr marL="0" indent="0">
              <a:buNone/>
            </a:pPr>
            <a:r>
              <a:rPr lang="en-GB" dirty="0" smtClean="0"/>
              <a:t>The </a:t>
            </a:r>
            <a:r>
              <a:rPr lang="en-GB" dirty="0"/>
              <a:t>examples below show the placement for grammar adverbs such as: always, only, never, ever, still, just, etc.</a:t>
            </a:r>
          </a:p>
          <a:p>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You </a:t>
            </a:r>
            <a:r>
              <a:rPr lang="en-GB" dirty="0"/>
              <a:t>have </a:t>
            </a:r>
            <a:r>
              <a:rPr lang="en-GB" b="1" dirty="0"/>
              <a:t>only</a:t>
            </a:r>
            <a:r>
              <a:rPr lang="en-GB" dirty="0"/>
              <a:t> seen that movie one time.</a:t>
            </a:r>
          </a:p>
          <a:p>
            <a:pPr marL="0" indent="0">
              <a:buNone/>
            </a:pPr>
            <a:r>
              <a:rPr lang="en-GB" dirty="0"/>
              <a:t>Have you </a:t>
            </a:r>
            <a:r>
              <a:rPr lang="en-GB" b="1" dirty="0"/>
              <a:t>only</a:t>
            </a:r>
            <a:r>
              <a:rPr lang="en-GB" dirty="0"/>
              <a:t> seen that movie one time?</a:t>
            </a:r>
          </a:p>
          <a:p>
            <a:endParaRPr lang="en-GB" b="1" dirty="0" smtClean="0"/>
          </a:p>
          <a:p>
            <a:pPr marL="0" indent="0">
              <a:buNone/>
            </a:pPr>
            <a:r>
              <a:rPr lang="en-GB" b="1" dirty="0" smtClean="0"/>
              <a:t>ACTIVE </a:t>
            </a:r>
            <a:r>
              <a:rPr lang="en-GB" b="1" dirty="0"/>
              <a:t>/ PASSIVE</a:t>
            </a:r>
          </a:p>
          <a:p>
            <a:pPr marL="0" indent="0">
              <a:buNone/>
            </a:pPr>
            <a:endParaRPr lang="en-GB" dirty="0" smtClean="0"/>
          </a:p>
          <a:p>
            <a:pPr marL="0" indent="0">
              <a:buNone/>
            </a:pPr>
            <a:r>
              <a:rPr lang="en-GB" dirty="0" smtClean="0"/>
              <a:t>Examples</a:t>
            </a:r>
            <a:r>
              <a:rPr lang="en-GB" dirty="0"/>
              <a:t>:</a:t>
            </a:r>
          </a:p>
          <a:p>
            <a:pPr marL="0" indent="0">
              <a:buNone/>
            </a:pPr>
            <a:endParaRPr lang="en-GB" dirty="0" smtClean="0"/>
          </a:p>
          <a:p>
            <a:pPr marL="0" indent="0">
              <a:buNone/>
            </a:pPr>
            <a:r>
              <a:rPr lang="en-GB" dirty="0" smtClean="0"/>
              <a:t>Many </a:t>
            </a:r>
            <a:r>
              <a:rPr lang="en-GB" dirty="0"/>
              <a:t>tourists </a:t>
            </a:r>
            <a:r>
              <a:rPr lang="en-GB" b="1" dirty="0"/>
              <a:t>have visited</a:t>
            </a:r>
            <a:r>
              <a:rPr lang="en-GB" dirty="0"/>
              <a:t> that castle. </a:t>
            </a:r>
            <a:r>
              <a:rPr lang="en-GB" i="1" dirty="0"/>
              <a:t>Active</a:t>
            </a:r>
            <a:endParaRPr lang="en-GB" dirty="0"/>
          </a:p>
          <a:p>
            <a:pPr marL="0" indent="0">
              <a:buNone/>
            </a:pPr>
            <a:r>
              <a:rPr lang="en-GB" dirty="0"/>
              <a:t>That castle </a:t>
            </a:r>
            <a:r>
              <a:rPr lang="en-GB" b="1" dirty="0"/>
              <a:t>has been visited</a:t>
            </a:r>
            <a:r>
              <a:rPr lang="en-GB" dirty="0"/>
              <a:t> by many tourists. </a:t>
            </a:r>
            <a:r>
              <a:rPr lang="en-GB" i="1" dirty="0"/>
              <a:t>Passive</a:t>
            </a:r>
            <a:endParaRPr lang="en-GB" dirty="0"/>
          </a:p>
          <a:p>
            <a:endParaRPr lang="en-GB" dirty="0"/>
          </a:p>
        </p:txBody>
      </p:sp>
    </p:spTree>
    <p:custDataLst>
      <p:tags r:id="rId1"/>
    </p:custDataLst>
    <p:extLst>
      <p:ext uri="{BB962C8B-B14F-4D97-AF65-F5344CB8AC3E}">
        <p14:creationId xmlns:p14="http://schemas.microsoft.com/office/powerpoint/2010/main" val="19897339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373216"/>
            <a:ext cx="8183880" cy="661824"/>
          </a:xfrm>
        </p:spPr>
        <p:txBody>
          <a:bodyPr/>
          <a:lstStyle/>
          <a:p>
            <a:r>
              <a:rPr lang="en-GB" dirty="0" smtClean="0"/>
              <a:t>Present perfect</a:t>
            </a:r>
            <a:endParaRPr lang="en-GB" dirty="0"/>
          </a:p>
        </p:txBody>
      </p:sp>
      <p:sp>
        <p:nvSpPr>
          <p:cNvPr id="3" name="Content Placeholder 2"/>
          <p:cNvSpPr>
            <a:spLocks noGrp="1"/>
          </p:cNvSpPr>
          <p:nvPr>
            <p:ph idx="1"/>
          </p:nvPr>
        </p:nvSpPr>
        <p:spPr>
          <a:xfrm>
            <a:off x="502920" y="530352"/>
            <a:ext cx="8183880" cy="4914872"/>
          </a:xfrm>
        </p:spPr>
        <p:txBody>
          <a:bodyPr>
            <a:normAutofit fontScale="55000" lnSpcReduction="20000"/>
          </a:bodyPr>
          <a:lstStyle/>
          <a:p>
            <a:pPr marL="0" indent="0">
              <a:buNone/>
            </a:pPr>
            <a:r>
              <a:rPr lang="en-GB" dirty="0"/>
              <a:t>The </a:t>
            </a:r>
            <a:r>
              <a:rPr lang="en-GB" b="1" dirty="0"/>
              <a:t>present perfect </a:t>
            </a:r>
            <a:r>
              <a:rPr lang="en-GB" dirty="0"/>
              <a:t>is formed from the present tense of the verb </a:t>
            </a:r>
            <a:r>
              <a:rPr lang="en-GB" b="1" i="1" dirty="0"/>
              <a:t>have</a:t>
            </a:r>
            <a:r>
              <a:rPr lang="en-GB" dirty="0"/>
              <a:t> and the </a:t>
            </a:r>
            <a:r>
              <a:rPr lang="en-GB" b="1" dirty="0"/>
              <a:t>past participle</a:t>
            </a:r>
            <a:r>
              <a:rPr lang="en-GB" dirty="0"/>
              <a:t> of a verb:</a:t>
            </a:r>
          </a:p>
          <a:p>
            <a:pPr marL="0" indent="0">
              <a:buNone/>
            </a:pPr>
            <a:endParaRPr lang="en-GB" dirty="0" smtClean="0"/>
          </a:p>
          <a:p>
            <a:pPr marL="0" indent="0">
              <a:buNone/>
            </a:pPr>
            <a:r>
              <a:rPr lang="en-GB" dirty="0" smtClean="0"/>
              <a:t>The </a:t>
            </a:r>
            <a:r>
              <a:rPr lang="en-GB" dirty="0"/>
              <a:t>present perfect </a:t>
            </a:r>
            <a:r>
              <a:rPr lang="en-GB" b="1" dirty="0"/>
              <a:t>continuous </a:t>
            </a:r>
            <a:r>
              <a:rPr lang="en-GB" dirty="0"/>
              <a:t>is formed with </a:t>
            </a:r>
            <a:r>
              <a:rPr lang="en-GB" b="1" i="1" dirty="0"/>
              <a:t>have/has been </a:t>
            </a:r>
            <a:r>
              <a:rPr lang="en-GB" dirty="0"/>
              <a:t>and the </a:t>
            </a:r>
            <a:r>
              <a:rPr lang="en-GB" b="1" i="1" dirty="0"/>
              <a:t>-</a:t>
            </a:r>
            <a:r>
              <a:rPr lang="en-GB" b="1" i="1" dirty="0" err="1"/>
              <a:t>ing</a:t>
            </a:r>
            <a:r>
              <a:rPr lang="en-GB" dirty="0"/>
              <a:t> form of the verb:</a:t>
            </a:r>
          </a:p>
          <a:p>
            <a:pPr marL="0" indent="0">
              <a:buNone/>
            </a:pPr>
            <a:endParaRPr lang="en-GB" b="1" dirty="0"/>
          </a:p>
          <a:p>
            <a:pPr marL="0" indent="0">
              <a:buNone/>
            </a:pPr>
            <a:r>
              <a:rPr lang="en-GB" dirty="0" smtClean="0"/>
              <a:t>We </a:t>
            </a:r>
            <a:r>
              <a:rPr lang="en-GB" dirty="0"/>
              <a:t>use the present perfect tense</a:t>
            </a:r>
            <a:r>
              <a:rPr lang="en-GB" dirty="0" smtClean="0"/>
              <a:t>:</a:t>
            </a:r>
          </a:p>
          <a:p>
            <a:pPr marL="0" indent="0">
              <a:buNone/>
            </a:pPr>
            <a:endParaRPr lang="en-GB" dirty="0"/>
          </a:p>
          <a:p>
            <a:pPr marL="0" indent="0">
              <a:buNone/>
            </a:pPr>
            <a:r>
              <a:rPr lang="en-GB" dirty="0" smtClean="0"/>
              <a:t>For </a:t>
            </a:r>
            <a:r>
              <a:rPr lang="en-GB" dirty="0"/>
              <a:t>something that started in the </a:t>
            </a:r>
            <a:r>
              <a:rPr lang="en-GB" b="1" dirty="0"/>
              <a:t>past </a:t>
            </a:r>
            <a:r>
              <a:rPr lang="en-GB" dirty="0"/>
              <a:t>and </a:t>
            </a:r>
            <a:r>
              <a:rPr lang="en-GB" b="1" dirty="0"/>
              <a:t>continues </a:t>
            </a:r>
            <a:r>
              <a:rPr lang="en-GB" dirty="0"/>
              <a:t>in the </a:t>
            </a:r>
            <a:r>
              <a:rPr lang="en-GB" b="1" dirty="0"/>
              <a:t>present</a:t>
            </a:r>
            <a:r>
              <a:rPr lang="en-GB" dirty="0"/>
              <a:t>:</a:t>
            </a:r>
          </a:p>
          <a:p>
            <a:r>
              <a:rPr lang="en-GB" dirty="0"/>
              <a:t>They</a:t>
            </a:r>
            <a:r>
              <a:rPr lang="en-GB" b="1" dirty="0"/>
              <a:t>’ve been married</a:t>
            </a:r>
            <a:r>
              <a:rPr lang="en-GB" dirty="0"/>
              <a:t> </a:t>
            </a:r>
            <a:r>
              <a:rPr lang="en-GB" u="sng" dirty="0"/>
              <a:t>for nearly fifty years</a:t>
            </a:r>
            <a:r>
              <a:rPr lang="en-GB" dirty="0"/>
              <a:t>.</a:t>
            </a:r>
            <a:br>
              <a:rPr lang="en-GB" dirty="0"/>
            </a:br>
            <a:r>
              <a:rPr lang="en-GB" dirty="0"/>
              <a:t>She </a:t>
            </a:r>
            <a:r>
              <a:rPr lang="en-GB" b="1" dirty="0"/>
              <a:t>has lived</a:t>
            </a:r>
            <a:r>
              <a:rPr lang="en-GB" dirty="0"/>
              <a:t> in Liverpool </a:t>
            </a:r>
            <a:r>
              <a:rPr lang="en-GB" u="sng" dirty="0"/>
              <a:t>all her life</a:t>
            </a:r>
            <a:r>
              <a:rPr lang="en-GB" dirty="0"/>
              <a:t>.</a:t>
            </a:r>
          </a:p>
          <a:p>
            <a:pPr marL="0" indent="0">
              <a:buNone/>
            </a:pPr>
            <a:endParaRPr lang="en-GB" b="1" dirty="0" smtClean="0"/>
          </a:p>
          <a:p>
            <a:pPr marL="0" indent="0">
              <a:buNone/>
            </a:pPr>
            <a:r>
              <a:rPr lang="en-GB" dirty="0" smtClean="0"/>
              <a:t>We </a:t>
            </a:r>
            <a:r>
              <a:rPr lang="en-GB" dirty="0"/>
              <a:t>normally use the present perfect continuous for this</a:t>
            </a:r>
            <a:r>
              <a:rPr lang="en-GB" dirty="0" smtClean="0"/>
              <a:t>:</a:t>
            </a:r>
          </a:p>
          <a:p>
            <a:pPr marL="0" indent="0">
              <a:buNone/>
            </a:pPr>
            <a:endParaRPr lang="en-GB" dirty="0"/>
          </a:p>
          <a:p>
            <a:r>
              <a:rPr lang="en-GB" dirty="0"/>
              <a:t>She </a:t>
            </a:r>
            <a:r>
              <a:rPr lang="en-GB" b="1" dirty="0"/>
              <a:t>has been living</a:t>
            </a:r>
            <a:r>
              <a:rPr lang="en-GB" dirty="0"/>
              <a:t> in Liverpool all her life.</a:t>
            </a:r>
            <a:br>
              <a:rPr lang="en-GB" dirty="0"/>
            </a:br>
            <a:r>
              <a:rPr lang="en-GB" dirty="0"/>
              <a:t>It</a:t>
            </a:r>
            <a:r>
              <a:rPr lang="en-GB" b="1" dirty="0"/>
              <a:t>’s been raining</a:t>
            </a:r>
            <a:r>
              <a:rPr lang="en-GB" dirty="0"/>
              <a:t> for hours</a:t>
            </a:r>
            <a:r>
              <a:rPr lang="en-GB" dirty="0" smtClean="0"/>
              <a:t>.</a:t>
            </a:r>
          </a:p>
          <a:p>
            <a:endParaRPr lang="en-GB" dirty="0"/>
          </a:p>
          <a:p>
            <a:pPr marL="0" indent="0">
              <a:buNone/>
            </a:pPr>
            <a:r>
              <a:rPr lang="en-GB" dirty="0" smtClean="0"/>
              <a:t>For </a:t>
            </a:r>
            <a:r>
              <a:rPr lang="en-GB" dirty="0"/>
              <a:t>something we have done </a:t>
            </a:r>
            <a:r>
              <a:rPr lang="en-GB" b="1" dirty="0"/>
              <a:t>several times</a:t>
            </a:r>
            <a:r>
              <a:rPr lang="en-GB" dirty="0"/>
              <a:t> in the </a:t>
            </a:r>
            <a:r>
              <a:rPr lang="en-GB" b="1" dirty="0"/>
              <a:t>past</a:t>
            </a:r>
            <a:r>
              <a:rPr lang="en-GB" dirty="0"/>
              <a:t> and </a:t>
            </a:r>
            <a:r>
              <a:rPr lang="en-GB" b="1" dirty="0"/>
              <a:t>continue</a:t>
            </a:r>
            <a:r>
              <a:rPr lang="en-GB" dirty="0"/>
              <a:t> to do</a:t>
            </a:r>
            <a:r>
              <a:rPr lang="en-GB" dirty="0" smtClean="0"/>
              <a:t>:</a:t>
            </a:r>
          </a:p>
          <a:p>
            <a:pPr marL="0" indent="0">
              <a:buNone/>
            </a:pPr>
            <a:endParaRPr lang="en-GB" dirty="0"/>
          </a:p>
          <a:p>
            <a:r>
              <a:rPr lang="en-GB" dirty="0"/>
              <a:t>I</a:t>
            </a:r>
            <a:r>
              <a:rPr lang="en-GB" b="1" dirty="0"/>
              <a:t>’ve played</a:t>
            </a:r>
            <a:r>
              <a:rPr lang="en-GB" dirty="0"/>
              <a:t> the guitar ever since I was a teenager.</a:t>
            </a:r>
            <a:br>
              <a:rPr lang="en-GB" dirty="0"/>
            </a:br>
            <a:r>
              <a:rPr lang="en-GB" dirty="0"/>
              <a:t>He </a:t>
            </a:r>
            <a:r>
              <a:rPr lang="en-GB" b="1" dirty="0"/>
              <a:t>has written</a:t>
            </a:r>
            <a:r>
              <a:rPr lang="en-GB" dirty="0"/>
              <a:t> three books and he is working on another one.</a:t>
            </a:r>
            <a:br>
              <a:rPr lang="en-GB" dirty="0"/>
            </a:br>
            <a:r>
              <a:rPr lang="en-GB" dirty="0"/>
              <a:t>I</a:t>
            </a:r>
            <a:r>
              <a:rPr lang="en-GB" b="1" dirty="0"/>
              <a:t>’ve been watching</a:t>
            </a:r>
            <a:r>
              <a:rPr lang="en-GB" dirty="0"/>
              <a:t> that programme every week.</a:t>
            </a:r>
          </a:p>
          <a:p>
            <a:pPr marL="0" indent="0">
              <a:buNone/>
            </a:pPr>
            <a:endParaRPr lang="en-GB" dirty="0"/>
          </a:p>
        </p:txBody>
      </p:sp>
    </p:spTree>
    <p:custDataLst>
      <p:tags r:id="rId1"/>
    </p:custDataLst>
    <p:extLst>
      <p:ext uri="{BB962C8B-B14F-4D97-AF65-F5344CB8AC3E}">
        <p14:creationId xmlns:p14="http://schemas.microsoft.com/office/powerpoint/2010/main" val="40061429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Autofit/>
          </a:bodyPr>
          <a:lstStyle/>
          <a:p>
            <a:pPr marL="0" indent="0">
              <a:buNone/>
            </a:pPr>
            <a:r>
              <a:rPr lang="en-GB" sz="1600" dirty="0"/>
              <a:t>We often use a clause with since to show when something started in the past: </a:t>
            </a:r>
            <a:endParaRPr lang="en-GB" sz="1600" dirty="0" smtClean="0"/>
          </a:p>
          <a:p>
            <a:pPr marL="0" indent="0">
              <a:buNone/>
            </a:pPr>
            <a:endParaRPr lang="en-GB" sz="1600" dirty="0"/>
          </a:p>
          <a:p>
            <a:pPr marL="0" indent="0">
              <a:buNone/>
            </a:pPr>
            <a:r>
              <a:rPr lang="en-GB" sz="1600" dirty="0" smtClean="0"/>
              <a:t>They’ve </a:t>
            </a:r>
            <a:r>
              <a:rPr lang="en-GB" sz="1600" dirty="0"/>
              <a:t>been staying with us since last week. </a:t>
            </a:r>
            <a:endParaRPr lang="en-GB" sz="1600" dirty="0" smtClean="0"/>
          </a:p>
          <a:p>
            <a:pPr marL="0" indent="0">
              <a:buNone/>
            </a:pPr>
            <a:r>
              <a:rPr lang="en-GB" sz="1600" dirty="0" smtClean="0"/>
              <a:t>I </a:t>
            </a:r>
            <a:r>
              <a:rPr lang="en-GB" sz="1600" dirty="0"/>
              <a:t>have worked here since I left school. </a:t>
            </a:r>
            <a:endParaRPr lang="en-GB" sz="1600" dirty="0" smtClean="0"/>
          </a:p>
          <a:p>
            <a:pPr marL="0" indent="0">
              <a:buNone/>
            </a:pPr>
            <a:r>
              <a:rPr lang="en-GB" sz="1600" dirty="0" smtClean="0"/>
              <a:t>I’ve </a:t>
            </a:r>
            <a:r>
              <a:rPr lang="en-GB" sz="1600" dirty="0"/>
              <a:t>been watching that programme every week since it started. </a:t>
            </a:r>
            <a:endParaRPr lang="en-GB" sz="1600" dirty="0" smtClean="0"/>
          </a:p>
          <a:p>
            <a:pPr marL="0" indent="0">
              <a:buNone/>
            </a:pPr>
            <a:endParaRPr lang="en-GB" sz="1600" dirty="0"/>
          </a:p>
          <a:p>
            <a:pPr marL="0" indent="0">
              <a:buNone/>
            </a:pPr>
            <a:r>
              <a:rPr lang="en-GB" sz="1600" dirty="0" smtClean="0"/>
              <a:t>When </a:t>
            </a:r>
            <a:r>
              <a:rPr lang="en-GB" sz="1600" dirty="0"/>
              <a:t>we are talking about our experience up to the present: </a:t>
            </a:r>
            <a:endParaRPr lang="en-GB" sz="1600" dirty="0" smtClean="0"/>
          </a:p>
          <a:p>
            <a:pPr marL="0" indent="0">
              <a:buNone/>
            </a:pPr>
            <a:r>
              <a:rPr lang="en-GB" sz="1600" dirty="0" smtClean="0"/>
              <a:t>We often </a:t>
            </a:r>
            <a:r>
              <a:rPr lang="en-GB" sz="1600" dirty="0"/>
              <a:t>use the adverb ever to talk about experience up to the present: </a:t>
            </a:r>
            <a:endParaRPr lang="en-GB" sz="1600" dirty="0" smtClean="0"/>
          </a:p>
          <a:p>
            <a:pPr marL="0" indent="0">
              <a:buNone/>
            </a:pPr>
            <a:r>
              <a:rPr lang="en-GB" sz="1600" dirty="0" smtClean="0"/>
              <a:t>My </a:t>
            </a:r>
            <a:r>
              <a:rPr lang="en-GB" sz="1600" dirty="0"/>
              <a:t>last birthday was the worst day I have ever had. </a:t>
            </a:r>
            <a:endParaRPr lang="en-GB" sz="1600" dirty="0" smtClean="0"/>
          </a:p>
          <a:p>
            <a:pPr marL="0" indent="0">
              <a:buNone/>
            </a:pPr>
            <a:endParaRPr lang="en-GB" sz="1600" dirty="0"/>
          </a:p>
          <a:p>
            <a:pPr marL="0" indent="0">
              <a:buNone/>
            </a:pPr>
            <a:r>
              <a:rPr lang="en-GB" sz="1600" dirty="0"/>
              <a:t>A</a:t>
            </a:r>
            <a:r>
              <a:rPr lang="en-GB" sz="1600" dirty="0" smtClean="0"/>
              <a:t>nd </a:t>
            </a:r>
            <a:r>
              <a:rPr lang="en-GB" sz="1600" dirty="0"/>
              <a:t>we use </a:t>
            </a:r>
            <a:r>
              <a:rPr lang="en-GB" sz="1600" dirty="0" smtClean="0"/>
              <a:t>‘never’ </a:t>
            </a:r>
            <a:r>
              <a:rPr lang="en-GB" sz="1600" dirty="0"/>
              <a:t>for the negative form: </a:t>
            </a:r>
            <a:endParaRPr lang="en-GB" sz="1600" dirty="0" smtClean="0"/>
          </a:p>
          <a:p>
            <a:pPr marL="0" indent="0">
              <a:buNone/>
            </a:pPr>
            <a:r>
              <a:rPr lang="en-GB" sz="1600" dirty="0" smtClean="0"/>
              <a:t>Have </a:t>
            </a:r>
            <a:r>
              <a:rPr lang="en-GB" sz="1600" dirty="0"/>
              <a:t>you ever met George? Yes, but I’ve never met his wife. </a:t>
            </a:r>
            <a:endParaRPr lang="en-GB" sz="1600" dirty="0" smtClean="0"/>
          </a:p>
          <a:p>
            <a:pPr marL="0" indent="0">
              <a:buNone/>
            </a:pPr>
            <a:endParaRPr lang="en-GB" sz="1600" dirty="0" smtClean="0"/>
          </a:p>
          <a:p>
            <a:pPr marL="0" indent="0">
              <a:buNone/>
            </a:pPr>
            <a:r>
              <a:rPr lang="en-GB" sz="1600" dirty="0" smtClean="0"/>
              <a:t>For </a:t>
            </a:r>
            <a:r>
              <a:rPr lang="en-GB" sz="1600" dirty="0"/>
              <a:t>something that happened in the past but is important at the time of speaking</a:t>
            </a:r>
            <a:r>
              <a:rPr lang="en-GB" sz="1600" dirty="0" smtClean="0"/>
              <a:t>:</a:t>
            </a:r>
          </a:p>
          <a:p>
            <a:pPr marL="0" indent="0">
              <a:buNone/>
            </a:pPr>
            <a:r>
              <a:rPr lang="en-GB" sz="1600" dirty="0" smtClean="0"/>
              <a:t>I </a:t>
            </a:r>
            <a:r>
              <a:rPr lang="en-GB" sz="1600" dirty="0"/>
              <a:t>can’t get in the house. I’ve lost my keys. Teresa isn’t at home. I think she has gone shopping. I’m tired out. I’ve been </a:t>
            </a:r>
            <a:r>
              <a:rPr lang="en-GB" sz="1600" dirty="0" smtClean="0"/>
              <a:t>working </a:t>
            </a:r>
            <a:r>
              <a:rPr lang="en-GB" sz="1600" dirty="0"/>
              <a:t>all day</a:t>
            </a:r>
            <a:r>
              <a:rPr lang="en-GB" sz="1600" dirty="0" smtClean="0"/>
              <a:t>.</a:t>
            </a:r>
            <a:endParaRPr lang="en-GB" sz="1600" i="1" dirty="0"/>
          </a:p>
        </p:txBody>
      </p:sp>
    </p:spTree>
    <p:custDataLst>
      <p:tags r:id="rId1"/>
    </p:custDataLst>
    <p:extLst>
      <p:ext uri="{BB962C8B-B14F-4D97-AF65-F5344CB8AC3E}">
        <p14:creationId xmlns:p14="http://schemas.microsoft.com/office/powerpoint/2010/main" val="14099858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55000" lnSpcReduction="20000"/>
          </a:bodyPr>
          <a:lstStyle/>
          <a:p>
            <a:pPr marL="0" indent="0">
              <a:buNone/>
            </a:pPr>
            <a:r>
              <a:rPr lang="en-GB" dirty="0"/>
              <a:t>We use the present perfect of </a:t>
            </a:r>
            <a:r>
              <a:rPr lang="en-GB" b="1" i="1" dirty="0"/>
              <a:t>be</a:t>
            </a:r>
            <a:r>
              <a:rPr lang="en-GB" dirty="0"/>
              <a:t> when someone has </a:t>
            </a:r>
            <a:r>
              <a:rPr lang="en-GB" b="1" dirty="0"/>
              <a:t>gone </a:t>
            </a:r>
            <a:r>
              <a:rPr lang="en-GB" dirty="0"/>
              <a:t>to a place and </a:t>
            </a:r>
            <a:r>
              <a:rPr lang="en-GB" b="1" dirty="0"/>
              <a:t>returned</a:t>
            </a:r>
            <a:r>
              <a:rPr lang="en-GB" dirty="0"/>
              <a:t>:</a:t>
            </a:r>
          </a:p>
          <a:p>
            <a:r>
              <a:rPr lang="en-GB" dirty="0"/>
              <a:t>A: Where </a:t>
            </a:r>
            <a:r>
              <a:rPr lang="en-GB" b="1" dirty="0"/>
              <a:t>have you been</a:t>
            </a:r>
            <a:r>
              <a:rPr lang="en-GB" dirty="0"/>
              <a:t>?</a:t>
            </a:r>
            <a:br>
              <a:rPr lang="en-GB" dirty="0"/>
            </a:br>
            <a:r>
              <a:rPr lang="en-GB" dirty="0"/>
              <a:t>B: I’ve </a:t>
            </a:r>
            <a:r>
              <a:rPr lang="en-GB" b="1" dirty="0"/>
              <a:t>just been out to the supermarket</a:t>
            </a:r>
            <a:r>
              <a:rPr lang="en-GB" dirty="0" smtClean="0"/>
              <a:t>.</a:t>
            </a:r>
          </a:p>
          <a:p>
            <a:endParaRPr lang="en-GB" dirty="0"/>
          </a:p>
          <a:p>
            <a:r>
              <a:rPr lang="en-GB" dirty="0"/>
              <a:t>A: </a:t>
            </a:r>
            <a:r>
              <a:rPr lang="en-GB" b="1" dirty="0"/>
              <a:t>Have you ever been to </a:t>
            </a:r>
            <a:r>
              <a:rPr lang="en-GB" dirty="0"/>
              <a:t>San Francisco?</a:t>
            </a:r>
            <a:br>
              <a:rPr lang="en-GB" dirty="0"/>
            </a:br>
            <a:r>
              <a:rPr lang="en-GB" dirty="0"/>
              <a:t>B: No, but </a:t>
            </a:r>
            <a:r>
              <a:rPr lang="en-GB" b="1" dirty="0"/>
              <a:t>I’ve been</a:t>
            </a:r>
            <a:r>
              <a:rPr lang="en-GB" dirty="0"/>
              <a:t> to Los Angeles.</a:t>
            </a:r>
          </a:p>
          <a:p>
            <a:pPr marL="0" indent="0">
              <a:buNone/>
            </a:pPr>
            <a:endParaRPr lang="en-GB" dirty="0" smtClean="0"/>
          </a:p>
          <a:p>
            <a:pPr marL="0" indent="0">
              <a:buNone/>
            </a:pPr>
            <a:r>
              <a:rPr lang="en-GB" dirty="0" smtClean="0"/>
              <a:t>But </a:t>
            </a:r>
            <a:r>
              <a:rPr lang="en-GB" dirty="0"/>
              <a:t>when someone </a:t>
            </a:r>
            <a:r>
              <a:rPr lang="en-GB" b="1" dirty="0"/>
              <a:t>has not returned </a:t>
            </a:r>
            <a:r>
              <a:rPr lang="en-GB" dirty="0"/>
              <a:t>we use </a:t>
            </a:r>
            <a:r>
              <a:rPr lang="en-GB" b="1" i="1" dirty="0"/>
              <a:t>have/has gone</a:t>
            </a:r>
            <a:r>
              <a:rPr lang="en-GB" dirty="0"/>
              <a:t>:</a:t>
            </a:r>
          </a:p>
          <a:p>
            <a:r>
              <a:rPr lang="en-GB" dirty="0"/>
              <a:t>A: Where is Maria? I haven’t seen her for weeks. </a:t>
            </a:r>
            <a:br>
              <a:rPr lang="en-GB" dirty="0"/>
            </a:br>
            <a:r>
              <a:rPr lang="en-GB" dirty="0"/>
              <a:t>B: </a:t>
            </a:r>
            <a:r>
              <a:rPr lang="en-GB" b="1" dirty="0"/>
              <a:t>She's gone to </a:t>
            </a:r>
            <a:r>
              <a:rPr lang="en-GB" dirty="0"/>
              <a:t>Paris for a week. </a:t>
            </a:r>
            <a:r>
              <a:rPr lang="en-GB" u="sng" dirty="0"/>
              <a:t>She’ll be back tomorrow</a:t>
            </a:r>
            <a:r>
              <a:rPr lang="en-GB" dirty="0"/>
              <a:t>.</a:t>
            </a:r>
          </a:p>
          <a:p>
            <a:pPr marL="0" indent="0">
              <a:buNone/>
            </a:pPr>
            <a:endParaRPr lang="en-GB" dirty="0" smtClean="0"/>
          </a:p>
          <a:p>
            <a:pPr marL="0" indent="0">
              <a:buNone/>
            </a:pPr>
            <a:r>
              <a:rPr lang="en-GB" dirty="0" smtClean="0"/>
              <a:t>We </a:t>
            </a:r>
            <a:r>
              <a:rPr lang="en-GB" dirty="0"/>
              <a:t>often use the present perfect with </a:t>
            </a:r>
            <a:r>
              <a:rPr lang="en-GB" b="1" dirty="0"/>
              <a:t>time adverbials </a:t>
            </a:r>
            <a:r>
              <a:rPr lang="en-GB" dirty="0"/>
              <a:t>which refer to the </a:t>
            </a:r>
            <a:r>
              <a:rPr lang="en-GB" b="1" dirty="0"/>
              <a:t>recent past</a:t>
            </a:r>
            <a:r>
              <a:rPr lang="en-GB" dirty="0"/>
              <a:t>:</a:t>
            </a:r>
          </a:p>
          <a:p>
            <a:r>
              <a:rPr lang="en-GB" b="1" i="1" dirty="0"/>
              <a:t>just; only just; recently</a:t>
            </a:r>
            <a:r>
              <a:rPr lang="en-GB" dirty="0"/>
              <a:t>;</a:t>
            </a:r>
          </a:p>
          <a:p>
            <a:r>
              <a:rPr lang="en-GB" dirty="0"/>
              <a:t>Scientists </a:t>
            </a:r>
            <a:r>
              <a:rPr lang="en-GB" b="1" dirty="0"/>
              <a:t>have </a:t>
            </a:r>
            <a:r>
              <a:rPr lang="en-GB" b="1" u="sng" dirty="0"/>
              <a:t>recently</a:t>
            </a:r>
            <a:r>
              <a:rPr lang="en-GB" b="1" dirty="0"/>
              <a:t> discovered</a:t>
            </a:r>
            <a:r>
              <a:rPr lang="en-GB" dirty="0"/>
              <a:t> a new breed of monkey. </a:t>
            </a:r>
            <a:br>
              <a:rPr lang="en-GB" dirty="0"/>
            </a:br>
            <a:r>
              <a:rPr lang="en-GB" dirty="0"/>
              <a:t>We </a:t>
            </a:r>
            <a:r>
              <a:rPr lang="en-GB" b="1" dirty="0"/>
              <a:t>have </a:t>
            </a:r>
            <a:r>
              <a:rPr lang="en-GB" b="1" u="sng" dirty="0"/>
              <a:t>just</a:t>
            </a:r>
            <a:r>
              <a:rPr lang="en-GB" b="1" dirty="0"/>
              <a:t> got</a:t>
            </a:r>
            <a:r>
              <a:rPr lang="en-GB" dirty="0"/>
              <a:t> back from our holidays.</a:t>
            </a:r>
          </a:p>
          <a:p>
            <a:pPr marL="0" indent="0">
              <a:buNone/>
            </a:pPr>
            <a:endParaRPr lang="en-GB" dirty="0" smtClean="0"/>
          </a:p>
          <a:p>
            <a:pPr marL="0" indent="0">
              <a:buNone/>
            </a:pPr>
            <a:r>
              <a:rPr lang="en-GB" dirty="0" smtClean="0"/>
              <a:t>or </a:t>
            </a:r>
            <a:r>
              <a:rPr lang="en-GB" dirty="0"/>
              <a:t>adverbials which </a:t>
            </a:r>
            <a:r>
              <a:rPr lang="en-GB" b="1" dirty="0"/>
              <a:t>include the present</a:t>
            </a:r>
            <a:r>
              <a:rPr lang="en-GB" dirty="0"/>
              <a:t>:</a:t>
            </a:r>
          </a:p>
          <a:p>
            <a:r>
              <a:rPr lang="en-GB" b="1" i="1" dirty="0"/>
              <a:t>ever </a:t>
            </a:r>
            <a:r>
              <a:rPr lang="en-GB" dirty="0"/>
              <a:t>(in questions); </a:t>
            </a:r>
            <a:r>
              <a:rPr lang="en-GB" b="1" i="1" dirty="0"/>
              <a:t>so far</a:t>
            </a:r>
            <a:r>
              <a:rPr lang="en-GB" dirty="0"/>
              <a:t>; </a:t>
            </a:r>
            <a:r>
              <a:rPr lang="en-GB" b="1" i="1" dirty="0"/>
              <a:t>until now</a:t>
            </a:r>
            <a:r>
              <a:rPr lang="en-GB" dirty="0"/>
              <a:t>; </a:t>
            </a:r>
            <a:r>
              <a:rPr lang="en-GB" b="1" i="1" dirty="0"/>
              <a:t>up to now</a:t>
            </a:r>
            <a:r>
              <a:rPr lang="en-GB" dirty="0"/>
              <a:t>; </a:t>
            </a:r>
            <a:r>
              <a:rPr lang="en-GB" b="1" i="1" dirty="0"/>
              <a:t>yet</a:t>
            </a:r>
            <a:r>
              <a:rPr lang="en-GB" dirty="0"/>
              <a:t> (in questions and negatives)</a:t>
            </a:r>
          </a:p>
          <a:p>
            <a:r>
              <a:rPr lang="en-GB" b="1" dirty="0"/>
              <a:t>Have you </a:t>
            </a:r>
            <a:r>
              <a:rPr lang="en-GB" u="sng" dirty="0"/>
              <a:t>ever</a:t>
            </a:r>
            <a:r>
              <a:rPr lang="en-GB" b="1" dirty="0"/>
              <a:t> seen</a:t>
            </a:r>
            <a:r>
              <a:rPr lang="en-GB" dirty="0"/>
              <a:t> a ghost?</a:t>
            </a:r>
            <a:br>
              <a:rPr lang="en-GB" dirty="0"/>
            </a:br>
            <a:r>
              <a:rPr lang="en-GB" b="1" dirty="0"/>
              <a:t>Where have you been</a:t>
            </a:r>
            <a:r>
              <a:rPr lang="en-GB" dirty="0"/>
              <a:t> </a:t>
            </a:r>
            <a:r>
              <a:rPr lang="en-GB" u="sng" dirty="0"/>
              <a:t>up to now</a:t>
            </a:r>
            <a:r>
              <a:rPr lang="en-GB" dirty="0"/>
              <a:t>?</a:t>
            </a:r>
            <a:br>
              <a:rPr lang="en-GB" dirty="0"/>
            </a:br>
            <a:r>
              <a:rPr lang="en-GB" b="1" dirty="0"/>
              <a:t>Have you finished</a:t>
            </a:r>
            <a:r>
              <a:rPr lang="en-GB" dirty="0"/>
              <a:t> your homework </a:t>
            </a:r>
            <a:r>
              <a:rPr lang="en-GB" u="sng" dirty="0"/>
              <a:t>yet</a:t>
            </a:r>
            <a:r>
              <a:rPr lang="en-GB" dirty="0"/>
              <a:t>?</a:t>
            </a:r>
            <a:br>
              <a:rPr lang="en-GB" dirty="0"/>
            </a:br>
            <a:r>
              <a:rPr lang="en-GB" dirty="0"/>
              <a:t>No, </a:t>
            </a:r>
            <a:r>
              <a:rPr lang="en-GB" u="sng" dirty="0"/>
              <a:t>so far</a:t>
            </a:r>
            <a:r>
              <a:rPr lang="en-GB" dirty="0"/>
              <a:t> I</a:t>
            </a:r>
            <a:r>
              <a:rPr lang="en-GB" b="1" dirty="0"/>
              <a:t>’ve</a:t>
            </a:r>
            <a:r>
              <a:rPr lang="en-GB" dirty="0"/>
              <a:t> only </a:t>
            </a:r>
            <a:r>
              <a:rPr lang="en-GB" b="1" dirty="0"/>
              <a:t>done</a:t>
            </a:r>
            <a:r>
              <a:rPr lang="en-GB" dirty="0"/>
              <a:t> my history</a:t>
            </a:r>
            <a:r>
              <a:rPr lang="en-GB" dirty="0" smtClean="0"/>
              <a:t>.</a:t>
            </a:r>
            <a:endParaRPr lang="en-GB" dirty="0"/>
          </a:p>
        </p:txBody>
      </p:sp>
    </p:spTree>
    <p:custDataLst>
      <p:tags r:id="rId1"/>
    </p:custDataLst>
    <p:extLst>
      <p:ext uri="{BB962C8B-B14F-4D97-AF65-F5344CB8AC3E}">
        <p14:creationId xmlns:p14="http://schemas.microsoft.com/office/powerpoint/2010/main" val="26160912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7500" lnSpcReduction="20000"/>
          </a:bodyPr>
          <a:lstStyle/>
          <a:p>
            <a:pPr marL="0" indent="0">
              <a:buNone/>
            </a:pPr>
            <a:r>
              <a:rPr lang="en-GB" dirty="0"/>
              <a:t>WARNING: </a:t>
            </a:r>
            <a:endParaRPr lang="en-GB" dirty="0" smtClean="0"/>
          </a:p>
          <a:p>
            <a:pPr marL="0" indent="0">
              <a:buNone/>
            </a:pPr>
            <a:endParaRPr lang="en-GB" dirty="0"/>
          </a:p>
          <a:p>
            <a:pPr marL="0" indent="0">
              <a:buNone/>
            </a:pPr>
            <a:r>
              <a:rPr lang="en-GB" dirty="0" smtClean="0"/>
              <a:t>We </a:t>
            </a:r>
            <a:r>
              <a:rPr lang="en-GB" dirty="0"/>
              <a:t>do not use the present perfect with an adverbial which refers to past time which is finished: </a:t>
            </a:r>
            <a:endParaRPr lang="en-GB" dirty="0" smtClean="0"/>
          </a:p>
          <a:p>
            <a:pPr marL="0" indent="0">
              <a:buNone/>
            </a:pPr>
            <a:endParaRPr lang="en-GB" dirty="0"/>
          </a:p>
          <a:p>
            <a:pPr marL="0" indent="0">
              <a:buNone/>
            </a:pPr>
            <a:r>
              <a:rPr lang="en-GB" dirty="0" smtClean="0"/>
              <a:t>I </a:t>
            </a:r>
            <a:r>
              <a:rPr lang="en-GB" dirty="0"/>
              <a:t>have seen that film yesterday. We have just bought a new car last week</a:t>
            </a:r>
            <a:r>
              <a:rPr lang="en-GB" dirty="0" smtClean="0"/>
              <a:t>.</a:t>
            </a:r>
          </a:p>
          <a:p>
            <a:pPr marL="0" indent="0">
              <a:buNone/>
            </a:pPr>
            <a:endParaRPr lang="en-GB" dirty="0"/>
          </a:p>
          <a:p>
            <a:pPr marL="0" indent="0">
              <a:buNone/>
            </a:pPr>
            <a:r>
              <a:rPr lang="en-GB" dirty="0" smtClean="0"/>
              <a:t>When </a:t>
            </a:r>
            <a:r>
              <a:rPr lang="en-GB" dirty="0"/>
              <a:t>we were children we have been to California. </a:t>
            </a:r>
            <a:endParaRPr lang="en-GB" dirty="0" smtClean="0"/>
          </a:p>
          <a:p>
            <a:pPr marL="0" indent="0">
              <a:buNone/>
            </a:pPr>
            <a:endParaRPr lang="en-GB" dirty="0"/>
          </a:p>
          <a:p>
            <a:pPr marL="0" indent="0">
              <a:buNone/>
            </a:pPr>
            <a:r>
              <a:rPr lang="en-GB" dirty="0" smtClean="0"/>
              <a:t>But </a:t>
            </a:r>
            <a:r>
              <a:rPr lang="en-GB" dirty="0"/>
              <a:t>we can use it to refer to a time which is not yet finished: </a:t>
            </a:r>
            <a:endParaRPr lang="en-GB" dirty="0" smtClean="0"/>
          </a:p>
          <a:p>
            <a:pPr marL="0" indent="0">
              <a:buNone/>
            </a:pPr>
            <a:endParaRPr lang="en-GB" dirty="0"/>
          </a:p>
          <a:p>
            <a:pPr marL="0" indent="0">
              <a:buNone/>
            </a:pPr>
            <a:r>
              <a:rPr lang="en-GB" dirty="0" smtClean="0"/>
              <a:t>Have </a:t>
            </a:r>
            <a:r>
              <a:rPr lang="en-GB" dirty="0"/>
              <a:t>you seen Helen today? </a:t>
            </a:r>
            <a:endParaRPr lang="en-GB" dirty="0" smtClean="0"/>
          </a:p>
          <a:p>
            <a:pPr marL="0" indent="0">
              <a:buNone/>
            </a:pPr>
            <a:endParaRPr lang="en-GB" dirty="0"/>
          </a:p>
          <a:p>
            <a:pPr marL="0" indent="0">
              <a:buNone/>
            </a:pPr>
            <a:r>
              <a:rPr lang="en-GB" dirty="0" smtClean="0"/>
              <a:t>We </a:t>
            </a:r>
            <a:r>
              <a:rPr lang="en-GB" dirty="0"/>
              <a:t>have bought a new car this week. </a:t>
            </a:r>
          </a:p>
        </p:txBody>
      </p:sp>
    </p:spTree>
    <p:custDataLst>
      <p:tags r:id="rId1"/>
    </p:custDataLst>
    <p:extLst>
      <p:ext uri="{BB962C8B-B14F-4D97-AF65-F5344CB8AC3E}">
        <p14:creationId xmlns:p14="http://schemas.microsoft.com/office/powerpoint/2010/main" val="18328265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Past perfect</a:t>
            </a:r>
            <a:endParaRPr lang="en-GB" dirty="0"/>
          </a:p>
        </p:txBody>
      </p:sp>
      <p:sp>
        <p:nvSpPr>
          <p:cNvPr id="3" name="Content Placeholder 2"/>
          <p:cNvSpPr>
            <a:spLocks noGrp="1"/>
          </p:cNvSpPr>
          <p:nvPr>
            <p:ph idx="1"/>
          </p:nvPr>
        </p:nvSpPr>
        <p:spPr>
          <a:xfrm>
            <a:off x="502920" y="530352"/>
            <a:ext cx="8183880" cy="4842864"/>
          </a:xfrm>
        </p:spPr>
        <p:txBody>
          <a:bodyPr>
            <a:normAutofit fontScale="77500" lnSpcReduction="20000"/>
          </a:bodyPr>
          <a:lstStyle/>
          <a:p>
            <a:pPr marL="0" indent="0">
              <a:buNone/>
            </a:pPr>
            <a:r>
              <a:rPr lang="en-GB" dirty="0"/>
              <a:t>When we talk about something that happened in the past we sometimes want to refer back to something that happened before that time. We can use the </a:t>
            </a:r>
            <a:r>
              <a:rPr lang="en-GB" b="1" dirty="0"/>
              <a:t>past perfect </a:t>
            </a:r>
            <a:r>
              <a:rPr lang="en-GB" dirty="0"/>
              <a:t>tense (</a:t>
            </a:r>
            <a:r>
              <a:rPr lang="en-GB" b="1" dirty="0"/>
              <a:t>had + past participle</a:t>
            </a:r>
            <a:r>
              <a:rPr lang="en-GB" dirty="0"/>
              <a:t>) to do this.</a:t>
            </a:r>
          </a:p>
          <a:p>
            <a:pPr marL="0" indent="0">
              <a:buNone/>
            </a:pPr>
            <a:r>
              <a:rPr lang="en-GB" dirty="0"/>
              <a:t/>
            </a:r>
            <a:br>
              <a:rPr lang="en-GB" dirty="0"/>
            </a:br>
            <a:r>
              <a:rPr lang="en-GB" dirty="0"/>
              <a:t>Look at these two sentences</a:t>
            </a:r>
            <a:r>
              <a:rPr lang="en-GB" dirty="0" smtClean="0"/>
              <a:t>.</a:t>
            </a:r>
          </a:p>
          <a:p>
            <a:pPr marL="0" indent="0">
              <a:buNone/>
            </a:pPr>
            <a:endParaRPr lang="en-GB" i="1" dirty="0"/>
          </a:p>
          <a:p>
            <a:pPr marL="0" indent="0">
              <a:buNone/>
            </a:pPr>
            <a:r>
              <a:rPr lang="en-GB" i="1" dirty="0" smtClean="0"/>
              <a:t>John </a:t>
            </a:r>
            <a:r>
              <a:rPr lang="en-GB" i="1" dirty="0"/>
              <a:t>left the house at 7:30 yesterday morning.</a:t>
            </a:r>
            <a:endParaRPr lang="en-GB" dirty="0"/>
          </a:p>
          <a:p>
            <a:pPr marL="0" indent="0">
              <a:buNone/>
            </a:pPr>
            <a:r>
              <a:rPr lang="en-GB" i="1" dirty="0"/>
              <a:t>Mary rang John’s doorbell at 8:15 yesterday</a:t>
            </a:r>
            <a:r>
              <a:rPr lang="en-GB" i="1" dirty="0" smtClean="0"/>
              <a:t>.</a:t>
            </a:r>
          </a:p>
          <a:p>
            <a:pPr marL="0" indent="0">
              <a:buNone/>
            </a:pPr>
            <a:endParaRPr lang="en-GB" dirty="0"/>
          </a:p>
          <a:p>
            <a:pPr marL="0" indent="0">
              <a:buNone/>
            </a:pPr>
            <a:r>
              <a:rPr lang="en-GB" dirty="0"/>
              <a:t>Both actions happened in the past so we use the </a:t>
            </a:r>
            <a:r>
              <a:rPr lang="en-GB" b="1" dirty="0"/>
              <a:t>past simple</a:t>
            </a:r>
            <a:r>
              <a:rPr lang="en-GB" dirty="0"/>
              <a:t> tense. But look at how we can combine the sentences</a:t>
            </a:r>
            <a:r>
              <a:rPr lang="en-GB" dirty="0" smtClean="0"/>
              <a:t>.</a:t>
            </a:r>
          </a:p>
          <a:p>
            <a:pPr marL="0" indent="0">
              <a:buNone/>
            </a:pPr>
            <a:endParaRPr lang="en-GB" dirty="0"/>
          </a:p>
          <a:p>
            <a:pPr marL="0" indent="0">
              <a:buNone/>
            </a:pPr>
            <a:r>
              <a:rPr lang="en-GB" i="1" dirty="0"/>
              <a:t>Mary rang John’s doorbell at 8:15 yesterday but John had already left the house</a:t>
            </a:r>
            <a:r>
              <a:rPr lang="en-GB" i="1" dirty="0" smtClean="0"/>
              <a:t>.</a:t>
            </a:r>
            <a:endParaRPr lang="en-GB" dirty="0"/>
          </a:p>
        </p:txBody>
      </p:sp>
    </p:spTree>
    <p:custDataLst>
      <p:tags r:id="rId1"/>
    </p:custDataLst>
    <p:extLst>
      <p:ext uri="{BB962C8B-B14F-4D97-AF65-F5344CB8AC3E}">
        <p14:creationId xmlns:p14="http://schemas.microsoft.com/office/powerpoint/2010/main" val="14774563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634952"/>
          </a:xfrm>
        </p:spPr>
        <p:txBody>
          <a:bodyPr>
            <a:normAutofit fontScale="70000" lnSpcReduction="20000"/>
          </a:bodyPr>
          <a:lstStyle/>
          <a:p>
            <a:pPr marL="0" indent="0">
              <a:buNone/>
            </a:pPr>
            <a:r>
              <a:rPr lang="en-GB" dirty="0"/>
              <a:t>We use the past perfect (had left) because the action happened before another action in the past (Mary rang the doorbell.) </a:t>
            </a:r>
            <a:endParaRPr lang="en-GB" dirty="0" smtClean="0"/>
          </a:p>
          <a:p>
            <a:pPr marL="0" indent="0">
              <a:buNone/>
            </a:pPr>
            <a:endParaRPr lang="en-GB" dirty="0" smtClean="0"/>
          </a:p>
          <a:p>
            <a:pPr marL="0" indent="0">
              <a:buNone/>
            </a:pPr>
            <a:r>
              <a:rPr lang="en-GB" dirty="0" smtClean="0"/>
              <a:t>Look </a:t>
            </a:r>
            <a:r>
              <a:rPr lang="en-GB" dirty="0"/>
              <a:t>at some more examples of the past perfect. </a:t>
            </a:r>
            <a:endParaRPr lang="en-GB" dirty="0" smtClean="0"/>
          </a:p>
          <a:p>
            <a:pPr marL="0" indent="0">
              <a:buNone/>
            </a:pPr>
            <a:endParaRPr lang="en-GB" dirty="0" smtClean="0"/>
          </a:p>
          <a:p>
            <a:pPr marL="0" indent="0">
              <a:buNone/>
            </a:pPr>
            <a:r>
              <a:rPr lang="en-GB" dirty="0" smtClean="0"/>
              <a:t>When </a:t>
            </a:r>
            <a:r>
              <a:rPr lang="en-GB" dirty="0"/>
              <a:t>Mrs Brown opened the washing machine she realised she had washed the cat. </a:t>
            </a:r>
            <a:endParaRPr lang="en-GB" dirty="0" smtClean="0"/>
          </a:p>
          <a:p>
            <a:pPr marL="0" indent="0">
              <a:buNone/>
            </a:pPr>
            <a:r>
              <a:rPr lang="en-GB" dirty="0" smtClean="0"/>
              <a:t>I </a:t>
            </a:r>
            <a:r>
              <a:rPr lang="en-GB" dirty="0"/>
              <a:t>got a letter from Jim last week. We’d been at school together but we’d lost touch with each other. </a:t>
            </a:r>
            <a:endParaRPr lang="en-GB" dirty="0" smtClean="0"/>
          </a:p>
          <a:p>
            <a:pPr marL="0" indent="0">
              <a:buNone/>
            </a:pPr>
            <a:endParaRPr lang="en-GB" dirty="0"/>
          </a:p>
          <a:p>
            <a:pPr marL="0" indent="0">
              <a:buNone/>
            </a:pPr>
            <a:r>
              <a:rPr lang="en-GB" dirty="0" smtClean="0"/>
              <a:t>The </a:t>
            </a:r>
            <a:r>
              <a:rPr lang="en-GB" dirty="0"/>
              <a:t>past perfect is used because they were at school before he received the letter. It refers to an earlier past. </a:t>
            </a:r>
            <a:endParaRPr lang="en-GB" dirty="0" smtClean="0"/>
          </a:p>
          <a:p>
            <a:pPr marL="0" indent="0">
              <a:buNone/>
            </a:pPr>
            <a:r>
              <a:rPr lang="en-GB" dirty="0" smtClean="0"/>
              <a:t>Look </a:t>
            </a:r>
            <a:r>
              <a:rPr lang="en-GB" dirty="0"/>
              <a:t>at these 2 sentences. </a:t>
            </a:r>
            <a:endParaRPr lang="en-GB" dirty="0" smtClean="0"/>
          </a:p>
          <a:p>
            <a:pPr marL="0" indent="0">
              <a:buNone/>
            </a:pPr>
            <a:r>
              <a:rPr lang="en-GB" dirty="0" smtClean="0"/>
              <a:t>James </a:t>
            </a:r>
            <a:r>
              <a:rPr lang="en-GB" dirty="0"/>
              <a:t>had cooked breakfast when we got up. </a:t>
            </a:r>
            <a:endParaRPr lang="en-GB" dirty="0" smtClean="0"/>
          </a:p>
          <a:p>
            <a:pPr marL="0" indent="0">
              <a:buNone/>
            </a:pPr>
            <a:r>
              <a:rPr lang="en-GB" dirty="0" smtClean="0"/>
              <a:t>James </a:t>
            </a:r>
            <a:r>
              <a:rPr lang="en-GB" dirty="0"/>
              <a:t>cooked breakfast when we got up. </a:t>
            </a:r>
            <a:endParaRPr lang="en-GB" dirty="0" smtClean="0"/>
          </a:p>
          <a:p>
            <a:pPr marL="0" indent="0">
              <a:buNone/>
            </a:pPr>
            <a:endParaRPr lang="en-GB" dirty="0"/>
          </a:p>
          <a:p>
            <a:pPr marL="0" indent="0">
              <a:buNone/>
            </a:pPr>
            <a:r>
              <a:rPr lang="en-GB" dirty="0" smtClean="0"/>
              <a:t>In </a:t>
            </a:r>
            <a:r>
              <a:rPr lang="en-GB" dirty="0"/>
              <a:t>the first sentence, the past perfect tells us that James cooked breakfast before we got up. In the second sentence, first we got up and then James cooked breakfast</a:t>
            </a:r>
            <a:r>
              <a:rPr lang="en-GB" dirty="0" smtClean="0"/>
              <a:t>.</a:t>
            </a:r>
            <a:endParaRPr lang="en-GB" dirty="0"/>
          </a:p>
        </p:txBody>
      </p:sp>
    </p:spTree>
    <p:custDataLst>
      <p:tags r:id="rId1"/>
    </p:custDataLst>
    <p:extLst>
      <p:ext uri="{BB962C8B-B14F-4D97-AF65-F5344CB8AC3E}">
        <p14:creationId xmlns:p14="http://schemas.microsoft.com/office/powerpoint/2010/main" val="27385079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Past perfect continuous</a:t>
            </a:r>
            <a:endParaRPr lang="en-GB" dirty="0"/>
          </a:p>
        </p:txBody>
      </p:sp>
      <p:sp>
        <p:nvSpPr>
          <p:cNvPr id="3" name="Content Placeholder 2"/>
          <p:cNvSpPr>
            <a:spLocks noGrp="1"/>
          </p:cNvSpPr>
          <p:nvPr>
            <p:ph idx="1"/>
          </p:nvPr>
        </p:nvSpPr>
        <p:spPr>
          <a:xfrm>
            <a:off x="502920" y="530352"/>
            <a:ext cx="8183880" cy="4626840"/>
          </a:xfrm>
        </p:spPr>
        <p:txBody>
          <a:bodyPr>
            <a:normAutofit fontScale="62500" lnSpcReduction="20000"/>
          </a:bodyPr>
          <a:lstStyle/>
          <a:p>
            <a:pPr marL="0" indent="0">
              <a:buNone/>
            </a:pPr>
            <a:r>
              <a:rPr lang="en-GB" dirty="0"/>
              <a:t>Past perfect continuous </a:t>
            </a:r>
            <a:endParaRPr lang="en-GB" dirty="0" smtClean="0"/>
          </a:p>
          <a:p>
            <a:pPr marL="0" indent="0">
              <a:buNone/>
            </a:pPr>
            <a:endParaRPr lang="en-GB" dirty="0"/>
          </a:p>
          <a:p>
            <a:pPr marL="0" indent="0">
              <a:buNone/>
            </a:pPr>
            <a:r>
              <a:rPr lang="en-GB" dirty="0" smtClean="0"/>
              <a:t>The </a:t>
            </a:r>
            <a:r>
              <a:rPr lang="en-GB" dirty="0"/>
              <a:t>past perfect can also be used in the continuous. I realised I had been working too hard so I decided to have a holiday. </a:t>
            </a:r>
            <a:endParaRPr lang="en-GB" dirty="0" smtClean="0"/>
          </a:p>
          <a:p>
            <a:pPr marL="0" indent="0">
              <a:buNone/>
            </a:pPr>
            <a:endParaRPr lang="en-GB" dirty="0"/>
          </a:p>
          <a:p>
            <a:pPr marL="0" indent="0">
              <a:buNone/>
            </a:pPr>
            <a:r>
              <a:rPr lang="en-GB" dirty="0" smtClean="0"/>
              <a:t>By </a:t>
            </a:r>
            <a:r>
              <a:rPr lang="en-GB" dirty="0"/>
              <a:t>the time Jane arrived we had been waiting for 3 hours. </a:t>
            </a:r>
            <a:endParaRPr lang="en-GB" dirty="0" smtClean="0"/>
          </a:p>
          <a:p>
            <a:pPr marL="0" indent="0">
              <a:buNone/>
            </a:pPr>
            <a:endParaRPr lang="en-GB" dirty="0"/>
          </a:p>
          <a:p>
            <a:pPr marL="0" indent="0">
              <a:buNone/>
            </a:pPr>
            <a:r>
              <a:rPr lang="en-GB" dirty="0" smtClean="0"/>
              <a:t>NOTE </a:t>
            </a:r>
            <a:r>
              <a:rPr lang="en-GB" dirty="0"/>
              <a:t>The most common mistake with the past perfect is to overuse it or to use it simply because we are talking about a time in the distant past. </a:t>
            </a:r>
            <a:endParaRPr lang="en-GB" dirty="0" smtClean="0"/>
          </a:p>
          <a:p>
            <a:pPr marL="0" indent="0">
              <a:buNone/>
            </a:pPr>
            <a:endParaRPr lang="en-GB" dirty="0"/>
          </a:p>
          <a:p>
            <a:pPr marL="0" indent="0">
              <a:buNone/>
            </a:pPr>
            <a:r>
              <a:rPr lang="en-GB" dirty="0" smtClean="0"/>
              <a:t>The </a:t>
            </a:r>
            <a:r>
              <a:rPr lang="en-GB" dirty="0"/>
              <a:t>Romans had spoken </a:t>
            </a:r>
            <a:r>
              <a:rPr lang="en-GB" dirty="0" smtClean="0"/>
              <a:t>Latin.</a:t>
            </a:r>
          </a:p>
          <a:p>
            <a:pPr marL="0" indent="0">
              <a:buNone/>
            </a:pPr>
            <a:endParaRPr lang="en-GB" dirty="0"/>
          </a:p>
          <a:p>
            <a:pPr marL="0" indent="0">
              <a:buNone/>
            </a:pPr>
            <a:r>
              <a:rPr lang="en-GB" dirty="0" smtClean="0"/>
              <a:t>Remember </a:t>
            </a:r>
            <a:r>
              <a:rPr lang="en-GB" dirty="0"/>
              <a:t>that we only use the past perfect when we want to refer to a past that is earlier than another time in the narrative. </a:t>
            </a:r>
          </a:p>
        </p:txBody>
      </p:sp>
    </p:spTree>
    <p:custDataLst>
      <p:tags r:id="rId1"/>
    </p:custDataLst>
    <p:extLst>
      <p:ext uri="{BB962C8B-B14F-4D97-AF65-F5344CB8AC3E}">
        <p14:creationId xmlns:p14="http://schemas.microsoft.com/office/powerpoint/2010/main" val="31751873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Future perfect</a:t>
            </a:r>
            <a:endParaRPr lang="en-GB" dirty="0"/>
          </a:p>
        </p:txBody>
      </p:sp>
      <p:sp>
        <p:nvSpPr>
          <p:cNvPr id="3" name="Content Placeholder 2"/>
          <p:cNvSpPr>
            <a:spLocks noGrp="1"/>
          </p:cNvSpPr>
          <p:nvPr>
            <p:ph idx="1"/>
          </p:nvPr>
        </p:nvSpPr>
        <p:spPr>
          <a:xfrm>
            <a:off x="502920" y="530352"/>
            <a:ext cx="8183880" cy="4842864"/>
          </a:xfrm>
        </p:spPr>
        <p:txBody>
          <a:bodyPr>
            <a:normAutofit fontScale="85000" lnSpcReduction="20000"/>
          </a:bodyPr>
          <a:lstStyle/>
          <a:p>
            <a:pPr marL="0" indent="0">
              <a:buNone/>
            </a:pPr>
            <a:r>
              <a:rPr lang="en-GB" dirty="0"/>
              <a:t>Future Perfect has two different forms: </a:t>
            </a:r>
            <a:endParaRPr lang="en-GB" dirty="0" smtClean="0"/>
          </a:p>
          <a:p>
            <a:pPr marL="0" indent="0">
              <a:buNone/>
            </a:pPr>
            <a:r>
              <a:rPr lang="en-GB" dirty="0" smtClean="0"/>
              <a:t>"</a:t>
            </a:r>
            <a:r>
              <a:rPr lang="en-GB" sz="2400" i="1" dirty="0"/>
              <a:t>will have </a:t>
            </a:r>
            <a:r>
              <a:rPr lang="en-GB" sz="2400" i="1" dirty="0" smtClean="0"/>
              <a:t>done</a:t>
            </a:r>
            <a:r>
              <a:rPr lang="en-GB" dirty="0"/>
              <a:t>" and "</a:t>
            </a:r>
            <a:r>
              <a:rPr lang="en-GB" sz="2400" i="1" dirty="0"/>
              <a:t>be going to have done</a:t>
            </a:r>
            <a:r>
              <a:rPr lang="en-GB" sz="2400" i="1" dirty="0" smtClean="0"/>
              <a:t>.“</a:t>
            </a:r>
          </a:p>
          <a:p>
            <a:pPr marL="0" indent="0">
              <a:buNone/>
            </a:pPr>
            <a:endParaRPr lang="en-GB" sz="2400" i="1" dirty="0"/>
          </a:p>
          <a:p>
            <a:pPr marL="0" indent="0">
              <a:buNone/>
            </a:pPr>
            <a:r>
              <a:rPr lang="en-GB" sz="2400" b="1" dirty="0"/>
              <a:t>FORM Future Perfect with "Be Going To"</a:t>
            </a:r>
          </a:p>
          <a:p>
            <a:r>
              <a:rPr lang="en-GB" sz="2400" dirty="0"/>
              <a:t>[am/is/are + going to have + past participle]</a:t>
            </a:r>
          </a:p>
          <a:p>
            <a:endParaRPr lang="en-GB" sz="2400" dirty="0" smtClean="0"/>
          </a:p>
          <a:p>
            <a:pPr marL="0" indent="0">
              <a:buNone/>
            </a:pPr>
            <a:r>
              <a:rPr lang="en-GB" sz="2400" dirty="0" smtClean="0"/>
              <a:t>Examples</a:t>
            </a:r>
            <a:r>
              <a:rPr lang="en-GB" sz="2400" dirty="0"/>
              <a:t>:</a:t>
            </a:r>
          </a:p>
          <a:p>
            <a:r>
              <a:rPr lang="en-GB" sz="2400" dirty="0"/>
              <a:t>You </a:t>
            </a:r>
            <a:r>
              <a:rPr lang="en-GB" sz="2400" b="1" dirty="0"/>
              <a:t>are going to have perfected</a:t>
            </a:r>
            <a:r>
              <a:rPr lang="en-GB" sz="2400" dirty="0"/>
              <a:t> your English by the time you come back from the U.S.</a:t>
            </a:r>
          </a:p>
          <a:p>
            <a:r>
              <a:rPr lang="en-GB" sz="2400" b="1" dirty="0"/>
              <a:t>Are</a:t>
            </a:r>
            <a:r>
              <a:rPr lang="en-GB" sz="2400" dirty="0"/>
              <a:t> you </a:t>
            </a:r>
            <a:r>
              <a:rPr lang="en-GB" sz="2400" b="1" dirty="0"/>
              <a:t>going to have perfected</a:t>
            </a:r>
            <a:r>
              <a:rPr lang="en-GB" sz="2400" dirty="0"/>
              <a:t> your English by the time you come back from the U.S.?</a:t>
            </a:r>
          </a:p>
          <a:p>
            <a:r>
              <a:rPr lang="en-GB" sz="2400" dirty="0"/>
              <a:t>You </a:t>
            </a:r>
            <a:r>
              <a:rPr lang="en-GB" sz="2400" b="1" dirty="0"/>
              <a:t>are not going to have perfected</a:t>
            </a:r>
            <a:r>
              <a:rPr lang="en-GB" sz="2400" dirty="0"/>
              <a:t> your English by the time you come back from the U.S.</a:t>
            </a:r>
          </a:p>
          <a:p>
            <a:pPr marL="0" indent="0">
              <a:buNone/>
            </a:pPr>
            <a:endParaRPr lang="en-GB" sz="2400" dirty="0" smtClean="0"/>
          </a:p>
          <a:p>
            <a:pPr marL="0" indent="0">
              <a:buNone/>
            </a:pPr>
            <a:r>
              <a:rPr lang="en-GB" sz="2400" dirty="0" smtClean="0"/>
              <a:t>NOTE</a:t>
            </a:r>
            <a:r>
              <a:rPr lang="en-GB" sz="2400" dirty="0"/>
              <a:t>: It is possible to use either "will" or "be going to" to create the Future Perfect with little or no difference in meaning.</a:t>
            </a:r>
          </a:p>
          <a:p>
            <a:pPr marL="0" indent="0">
              <a:buNone/>
            </a:pPr>
            <a:endParaRPr lang="en-GB" sz="2400" i="1" dirty="0"/>
          </a:p>
        </p:txBody>
      </p:sp>
    </p:spTree>
    <p:custDataLst>
      <p:tags r:id="rId1"/>
    </p:custDataLst>
    <p:extLst>
      <p:ext uri="{BB962C8B-B14F-4D97-AF65-F5344CB8AC3E}">
        <p14:creationId xmlns:p14="http://schemas.microsoft.com/office/powerpoint/2010/main" val="37382179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944" y="5517232"/>
            <a:ext cx="3414808" cy="1025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502920" y="530352"/>
            <a:ext cx="8183880" cy="5346920"/>
          </a:xfrm>
        </p:spPr>
        <p:txBody>
          <a:bodyPr>
            <a:normAutofit fontScale="55000" lnSpcReduction="20000"/>
          </a:bodyPr>
          <a:lstStyle/>
          <a:p>
            <a:pPr marL="0" indent="0">
              <a:buNone/>
            </a:pPr>
            <a:r>
              <a:rPr lang="en-GB" b="1" dirty="0"/>
              <a:t>Completed Action Before Something in the </a:t>
            </a:r>
            <a:r>
              <a:rPr lang="en-GB" b="1" dirty="0" smtClean="0"/>
              <a:t>Future</a:t>
            </a:r>
          </a:p>
          <a:p>
            <a:pPr marL="0" indent="0">
              <a:buNone/>
            </a:pPr>
            <a:endParaRPr lang="en-GB" dirty="0" smtClean="0"/>
          </a:p>
          <a:p>
            <a:pPr marL="0" indent="0">
              <a:buNone/>
            </a:pPr>
            <a:r>
              <a:rPr lang="en-GB" dirty="0" smtClean="0"/>
              <a:t>The </a:t>
            </a:r>
            <a:r>
              <a:rPr lang="en-GB" dirty="0"/>
              <a:t>Future Perfect expresses the idea that something will occur before another action in the future. It can also show that something will happen before a specific time in the future.</a:t>
            </a:r>
          </a:p>
          <a:p>
            <a:pPr marL="0" indent="0">
              <a:buNone/>
            </a:pPr>
            <a:endParaRPr lang="en-GB" dirty="0" smtClean="0"/>
          </a:p>
          <a:p>
            <a:pPr marL="0" indent="0">
              <a:buNone/>
            </a:pPr>
            <a:r>
              <a:rPr lang="en-GB" dirty="0" smtClean="0"/>
              <a:t>Examples</a:t>
            </a:r>
            <a:r>
              <a:rPr lang="en-GB" dirty="0"/>
              <a:t>:</a:t>
            </a:r>
          </a:p>
          <a:p>
            <a:r>
              <a:rPr lang="en-GB" dirty="0"/>
              <a:t>By next November, I </a:t>
            </a:r>
            <a:r>
              <a:rPr lang="en-GB" b="1" dirty="0"/>
              <a:t>will have received</a:t>
            </a:r>
            <a:r>
              <a:rPr lang="en-GB" dirty="0"/>
              <a:t> my promotion.</a:t>
            </a:r>
          </a:p>
          <a:p>
            <a:r>
              <a:rPr lang="en-GB" dirty="0"/>
              <a:t>By the time he </a:t>
            </a:r>
            <a:r>
              <a:rPr lang="en-GB" i="1" dirty="0"/>
              <a:t>gets</a:t>
            </a:r>
            <a:r>
              <a:rPr lang="en-GB" dirty="0"/>
              <a:t> home, she </a:t>
            </a:r>
            <a:r>
              <a:rPr lang="en-GB" b="1" dirty="0"/>
              <a:t>is going to have cleaned</a:t>
            </a:r>
            <a:r>
              <a:rPr lang="en-GB" dirty="0"/>
              <a:t> the entire house.</a:t>
            </a:r>
          </a:p>
          <a:p>
            <a:r>
              <a:rPr lang="en-GB" dirty="0"/>
              <a:t>I </a:t>
            </a:r>
            <a:r>
              <a:rPr lang="en-GB" b="1" dirty="0"/>
              <a:t>am not going to have finished</a:t>
            </a:r>
            <a:r>
              <a:rPr lang="en-GB" dirty="0"/>
              <a:t> this test by 3 o'clock.</a:t>
            </a:r>
          </a:p>
          <a:p>
            <a:r>
              <a:rPr lang="en-GB" b="1" dirty="0"/>
              <a:t>Will</a:t>
            </a:r>
            <a:r>
              <a:rPr lang="en-GB" dirty="0"/>
              <a:t> she </a:t>
            </a:r>
            <a:r>
              <a:rPr lang="en-GB" b="1" dirty="0"/>
              <a:t>have learned</a:t>
            </a:r>
            <a:r>
              <a:rPr lang="en-GB" dirty="0"/>
              <a:t> enough Chinese to communicate before she </a:t>
            </a:r>
            <a:r>
              <a:rPr lang="en-GB" i="1" dirty="0"/>
              <a:t>moves</a:t>
            </a:r>
            <a:r>
              <a:rPr lang="en-GB" dirty="0"/>
              <a:t> to Beijing?</a:t>
            </a:r>
          </a:p>
          <a:p>
            <a:r>
              <a:rPr lang="en-GB" dirty="0"/>
              <a:t>Sam </a:t>
            </a:r>
            <a:r>
              <a:rPr lang="en-GB" b="1" dirty="0"/>
              <a:t>is</a:t>
            </a:r>
            <a:r>
              <a:rPr lang="en-GB" dirty="0"/>
              <a:t> probably </a:t>
            </a:r>
            <a:r>
              <a:rPr lang="en-GB" b="1" dirty="0"/>
              <a:t>going to have completed</a:t>
            </a:r>
            <a:r>
              <a:rPr lang="en-GB" dirty="0"/>
              <a:t> the proposal by the time he </a:t>
            </a:r>
            <a:r>
              <a:rPr lang="en-GB" i="1" dirty="0"/>
              <a:t>leaves</a:t>
            </a:r>
            <a:r>
              <a:rPr lang="en-GB" dirty="0"/>
              <a:t> this afternoon.</a:t>
            </a:r>
          </a:p>
          <a:p>
            <a:r>
              <a:rPr lang="en-GB" dirty="0"/>
              <a:t>By the time I </a:t>
            </a:r>
            <a:r>
              <a:rPr lang="en-GB" i="1" dirty="0"/>
              <a:t>finish</a:t>
            </a:r>
            <a:r>
              <a:rPr lang="en-GB" dirty="0"/>
              <a:t> this course, I </a:t>
            </a:r>
            <a:r>
              <a:rPr lang="en-GB" b="1" dirty="0"/>
              <a:t>will have taken</a:t>
            </a:r>
            <a:r>
              <a:rPr lang="en-GB" dirty="0"/>
              <a:t> ten tests. </a:t>
            </a:r>
          </a:p>
          <a:p>
            <a:r>
              <a:rPr lang="en-GB" dirty="0"/>
              <a:t>How many countries </a:t>
            </a:r>
            <a:r>
              <a:rPr lang="en-GB" b="1" dirty="0"/>
              <a:t>are</a:t>
            </a:r>
            <a:r>
              <a:rPr lang="en-GB" dirty="0"/>
              <a:t> you </a:t>
            </a:r>
            <a:r>
              <a:rPr lang="en-GB" b="1" dirty="0"/>
              <a:t>going to have visited</a:t>
            </a:r>
            <a:r>
              <a:rPr lang="en-GB" dirty="0"/>
              <a:t> by the time you </a:t>
            </a:r>
            <a:r>
              <a:rPr lang="en-GB" i="1" dirty="0"/>
              <a:t>turn</a:t>
            </a:r>
            <a:r>
              <a:rPr lang="en-GB" dirty="0"/>
              <a:t> 50?</a:t>
            </a:r>
          </a:p>
          <a:p>
            <a:pPr marL="0" indent="0">
              <a:buNone/>
            </a:pPr>
            <a:endParaRPr lang="en-GB" dirty="0" smtClean="0"/>
          </a:p>
          <a:p>
            <a:pPr marL="0" indent="0">
              <a:buNone/>
            </a:pPr>
            <a:r>
              <a:rPr lang="en-GB" dirty="0" smtClean="0"/>
              <a:t>Notice </a:t>
            </a:r>
            <a:r>
              <a:rPr lang="en-GB" dirty="0"/>
              <a:t>in the examples above that the reference points (</a:t>
            </a:r>
            <a:r>
              <a:rPr lang="en-GB" i="1" dirty="0"/>
              <a:t>marked in italics</a:t>
            </a:r>
            <a:r>
              <a:rPr lang="en-GB" dirty="0"/>
              <a:t>) are in </a:t>
            </a:r>
            <a:r>
              <a:rPr lang="en-GB" dirty="0" smtClean="0"/>
              <a:t>Simple Present rather </a:t>
            </a:r>
            <a:r>
              <a:rPr lang="en-GB" dirty="0"/>
              <a:t>than Simple </a:t>
            </a:r>
            <a:r>
              <a:rPr lang="en-GB" dirty="0" smtClean="0"/>
              <a:t>Future. </a:t>
            </a:r>
          </a:p>
          <a:p>
            <a:pPr marL="0" indent="0">
              <a:buNone/>
            </a:pPr>
            <a:r>
              <a:rPr lang="en-GB" dirty="0" smtClean="0"/>
              <a:t>This </a:t>
            </a:r>
            <a:r>
              <a:rPr lang="en-GB" dirty="0"/>
              <a:t>is because the interruptions are in time </a:t>
            </a:r>
            <a:r>
              <a:rPr lang="en-GB" dirty="0" smtClean="0"/>
              <a:t>clauses, </a:t>
            </a:r>
            <a:r>
              <a:rPr lang="en-GB" dirty="0"/>
              <a:t>and you cannot use future tenses in time clauses.</a:t>
            </a:r>
          </a:p>
          <a:p>
            <a:pPr marL="0" indent="0">
              <a:buNone/>
            </a:pPr>
            <a:endParaRPr lang="en-GB" dirty="0"/>
          </a:p>
        </p:txBody>
      </p:sp>
    </p:spTree>
    <p:custDataLst>
      <p:tags r:id="rId1"/>
    </p:custDataLst>
    <p:extLst>
      <p:ext uri="{BB962C8B-B14F-4D97-AF65-F5344CB8AC3E}">
        <p14:creationId xmlns:p14="http://schemas.microsoft.com/office/powerpoint/2010/main" val="28983963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02920" y="404664"/>
            <a:ext cx="8173536" cy="5472608"/>
          </a:xfrm>
        </p:spPr>
        <p:txBody>
          <a:bodyPr>
            <a:normAutofit fontScale="55000" lnSpcReduction="20000"/>
          </a:bodyPr>
          <a:lstStyle/>
          <a:p>
            <a:pPr marL="0" indent="0">
              <a:buNone/>
            </a:pPr>
            <a:r>
              <a:rPr lang="en-GB" b="1" dirty="0"/>
              <a:t>Duration Before Something in the Future (Non-Continuous Verbs</a:t>
            </a:r>
            <a:r>
              <a:rPr lang="en-GB" b="1" dirty="0" smtClean="0"/>
              <a:t>)</a:t>
            </a:r>
          </a:p>
          <a:p>
            <a:pPr marL="0" indent="0">
              <a:buNone/>
            </a:pPr>
            <a:endParaRPr lang="en-GB" dirty="0" smtClean="0"/>
          </a:p>
          <a:p>
            <a:pPr marL="0" indent="0">
              <a:buNone/>
            </a:pPr>
            <a:r>
              <a:rPr lang="en-GB" dirty="0" smtClean="0"/>
              <a:t>With </a:t>
            </a:r>
            <a:r>
              <a:rPr lang="en-GB" dirty="0"/>
              <a:t>Non-Continuous </a:t>
            </a:r>
            <a:r>
              <a:rPr lang="en-GB" dirty="0" smtClean="0"/>
              <a:t>Verbs, </a:t>
            </a:r>
            <a:r>
              <a:rPr lang="en-GB" dirty="0"/>
              <a:t>we use the Future Perfect to show that something will continue up until another action in the future.</a:t>
            </a:r>
          </a:p>
          <a:p>
            <a:pPr marL="0" indent="0">
              <a:buNone/>
            </a:pPr>
            <a:endParaRPr lang="en-GB" dirty="0" smtClean="0"/>
          </a:p>
          <a:p>
            <a:pPr marL="0" indent="0">
              <a:buNone/>
            </a:pPr>
            <a:r>
              <a:rPr lang="en-GB" dirty="0" smtClean="0"/>
              <a:t>Examples</a:t>
            </a:r>
            <a:r>
              <a:rPr lang="en-GB" dirty="0"/>
              <a:t>:</a:t>
            </a:r>
          </a:p>
          <a:p>
            <a:r>
              <a:rPr lang="en-GB" dirty="0"/>
              <a:t>I </a:t>
            </a:r>
            <a:r>
              <a:rPr lang="en-GB" b="1" dirty="0"/>
              <a:t>will have been</a:t>
            </a:r>
            <a:r>
              <a:rPr lang="en-GB" dirty="0"/>
              <a:t> in London for six months by the time I leave.</a:t>
            </a:r>
          </a:p>
          <a:p>
            <a:r>
              <a:rPr lang="en-GB" dirty="0"/>
              <a:t>By Monday, Susan </a:t>
            </a:r>
            <a:r>
              <a:rPr lang="en-GB" b="1" dirty="0"/>
              <a:t>is going to have had</a:t>
            </a:r>
            <a:r>
              <a:rPr lang="en-GB" dirty="0"/>
              <a:t> my book for a week.</a:t>
            </a:r>
          </a:p>
          <a:p>
            <a:pPr marL="0" indent="0">
              <a:buNone/>
            </a:pPr>
            <a:endParaRPr lang="en-GB" dirty="0" smtClean="0"/>
          </a:p>
          <a:p>
            <a:pPr marL="0" indent="0">
              <a:buNone/>
            </a:pPr>
            <a:r>
              <a:rPr lang="en-GB" dirty="0" smtClean="0"/>
              <a:t>Although </a:t>
            </a:r>
            <a:r>
              <a:rPr lang="en-GB" dirty="0"/>
              <a:t>the above use of Future Perfect is normally limited to Non-Continuous Verbs and non-continuous uses of Mixed Verbs, the words "live," "work," "teach," and "study" are sometimes used in this way even though they are NOT Non-Continuous Verbs.</a:t>
            </a:r>
          </a:p>
          <a:p>
            <a:pPr marL="0" indent="0">
              <a:buNone/>
            </a:pPr>
            <a:endParaRPr lang="en-GB" b="1" dirty="0" smtClean="0"/>
          </a:p>
          <a:p>
            <a:pPr marL="0" indent="0">
              <a:buNone/>
            </a:pPr>
            <a:r>
              <a:rPr lang="en-GB" b="1" dirty="0" smtClean="0"/>
              <a:t>REMEMBER </a:t>
            </a:r>
            <a:r>
              <a:rPr lang="en-GB" b="1" dirty="0"/>
              <a:t>No Future in Time Clauses</a:t>
            </a:r>
          </a:p>
          <a:p>
            <a:pPr marL="0" indent="0">
              <a:buNone/>
            </a:pPr>
            <a:endParaRPr lang="en-GB" dirty="0" smtClean="0"/>
          </a:p>
          <a:p>
            <a:pPr marL="0" indent="0">
              <a:buNone/>
            </a:pPr>
            <a:r>
              <a:rPr lang="en-GB" dirty="0" smtClean="0"/>
              <a:t>Like </a:t>
            </a:r>
            <a:r>
              <a:rPr lang="en-GB" dirty="0"/>
              <a:t>all future forms, the Future Perfect cannot be used in clauses beginning with time expressions such as: when, while, before, after, by the time, as soon as, if, unless, etc. Instead of Future Perfect, </a:t>
            </a:r>
            <a:r>
              <a:rPr lang="en-GB" dirty="0">
                <a:hlinkClick r:id="rId3" action="ppaction://hlinkfile"/>
              </a:rPr>
              <a:t>Present Perfect</a:t>
            </a:r>
            <a:r>
              <a:rPr lang="en-GB" dirty="0"/>
              <a:t> is used. </a:t>
            </a:r>
          </a:p>
          <a:p>
            <a:pPr marL="0" indent="0">
              <a:buNone/>
            </a:pPr>
            <a:endParaRPr lang="en-GB" dirty="0" smtClean="0"/>
          </a:p>
          <a:p>
            <a:pPr marL="0" indent="0">
              <a:buNone/>
            </a:pPr>
            <a:r>
              <a:rPr lang="en-GB" dirty="0" smtClean="0"/>
              <a:t>Examples</a:t>
            </a:r>
            <a:r>
              <a:rPr lang="en-GB" dirty="0"/>
              <a:t>:</a:t>
            </a:r>
          </a:p>
          <a:p>
            <a:r>
              <a:rPr lang="en-GB" b="1" dirty="0">
                <a:solidFill>
                  <a:srgbClr val="FF0000"/>
                </a:solidFill>
              </a:rPr>
              <a:t>I am going to see a movie when I will have finished my homework. </a:t>
            </a:r>
            <a:r>
              <a:rPr lang="en-GB" b="1" i="1" dirty="0">
                <a:solidFill>
                  <a:srgbClr val="FF0000"/>
                </a:solidFill>
              </a:rPr>
              <a:t>Not Correct</a:t>
            </a:r>
            <a:endParaRPr lang="en-GB" b="1" dirty="0">
              <a:solidFill>
                <a:srgbClr val="FF0000"/>
              </a:solidFill>
            </a:endParaRPr>
          </a:p>
          <a:p>
            <a:r>
              <a:rPr lang="en-GB" b="1" dirty="0">
                <a:solidFill>
                  <a:srgbClr val="00B050"/>
                </a:solidFill>
              </a:rPr>
              <a:t>I am going to see a movie when I have finished my homework. </a:t>
            </a:r>
            <a:r>
              <a:rPr lang="en-GB" b="1" i="1" dirty="0" smtClean="0">
                <a:solidFill>
                  <a:srgbClr val="00B050"/>
                </a:solidFill>
              </a:rPr>
              <a:t>Correct</a:t>
            </a:r>
            <a:endParaRPr lang="en-GB" b="1" dirty="0">
              <a:solidFill>
                <a:srgbClr val="00B050"/>
              </a:solidFill>
            </a:endParaRPr>
          </a:p>
          <a:p>
            <a:pPr marL="0" indent="0">
              <a:buNone/>
            </a:pPr>
            <a:endParaRPr lang="en-GB" dirty="0"/>
          </a:p>
        </p:txBody>
      </p:sp>
    </p:spTree>
    <p:custDataLst>
      <p:tags r:id="rId1"/>
    </p:custDataLst>
    <p:extLst>
      <p:ext uri="{BB962C8B-B14F-4D97-AF65-F5344CB8AC3E}">
        <p14:creationId xmlns:p14="http://schemas.microsoft.com/office/powerpoint/2010/main" val="12393458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9.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0.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9.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0.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F9BDA4-1772-4CB7-95BE-D8CB01B33328}"/>
</file>

<file path=customXml/itemProps2.xml><?xml version="1.0" encoding="utf-8"?>
<ds:datastoreItem xmlns:ds="http://schemas.openxmlformats.org/officeDocument/2006/customXml" ds:itemID="{00A3282A-ABBB-469B-890C-3B4C754BB2B7}"/>
</file>

<file path=customXml/itemProps3.xml><?xml version="1.0" encoding="utf-8"?>
<ds:datastoreItem xmlns:ds="http://schemas.openxmlformats.org/officeDocument/2006/customXml" ds:itemID="{275A54D3-F9D1-463C-A1CD-C11C06C67189}"/>
</file>

<file path=docProps/app.xml><?xml version="1.0" encoding="utf-8"?>
<Properties xmlns="http://schemas.openxmlformats.org/officeDocument/2006/extended-properties" xmlns:vt="http://schemas.openxmlformats.org/officeDocument/2006/docPropsVTypes">
  <Template>Aspect</Template>
  <TotalTime>292</TotalTime>
  <Words>2128</Words>
  <Application>Microsoft Office PowerPoint</Application>
  <PresentationFormat>On-screen Show (4:3)</PresentationFormat>
  <Paragraphs>316</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Aspect</vt:lpstr>
      <vt:lpstr>Perfect Verbs</vt:lpstr>
      <vt:lpstr>Verbs… basic parts</vt:lpstr>
      <vt:lpstr>PowerPoint Presentation</vt:lpstr>
      <vt:lpstr>Present perfect</vt:lpstr>
      <vt:lpstr>7.1</vt:lpstr>
      <vt:lpstr>7.2</vt:lpstr>
      <vt:lpstr>7.3</vt:lpstr>
      <vt:lpstr>7.4</vt:lpstr>
      <vt:lpstr>PowerPoint Presentation</vt:lpstr>
      <vt:lpstr>Exercise</vt:lpstr>
      <vt:lpstr>PowerPoint Presentation</vt:lpstr>
      <vt:lpstr>PowerPoint Presentation</vt:lpstr>
      <vt:lpstr>PowerPoint Presentation</vt:lpstr>
      <vt:lpstr>PowerPoint Presentation</vt:lpstr>
      <vt:lpstr>PowerPoint Presentation</vt:lpstr>
      <vt:lpstr>PowerPoint Presentation</vt:lpstr>
      <vt:lpstr>Present Perfect</vt:lpstr>
      <vt:lpstr>PowerPoint Presentation</vt:lpstr>
      <vt:lpstr>Present perfect</vt:lpstr>
      <vt:lpstr>PowerPoint Presentation</vt:lpstr>
      <vt:lpstr>PowerPoint Presentation</vt:lpstr>
      <vt:lpstr>PowerPoint Presentation</vt:lpstr>
      <vt:lpstr>Past perfect</vt:lpstr>
      <vt:lpstr>PowerPoint Presentation</vt:lpstr>
      <vt:lpstr>Past perfect continuous</vt:lpstr>
      <vt:lpstr>Future perfect</vt:lpstr>
      <vt:lpstr>PowerPoint Presentation</vt:lpstr>
      <vt:lpstr>PowerPoint Presentation</vt:lpstr>
    </vt:vector>
  </TitlesOfParts>
  <Company>Cardiff and Vale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Perfect Verbs</dc:title>
  <dc:creator>Rio Judson</dc:creator>
  <cp:lastModifiedBy>Rio Judson</cp:lastModifiedBy>
  <cp:revision>26</cp:revision>
  <cp:lastPrinted>2015-03-25T11:32:44Z</cp:lastPrinted>
  <dcterms:created xsi:type="dcterms:W3CDTF">2015-03-18T12:09:04Z</dcterms:created>
  <dcterms:modified xsi:type="dcterms:W3CDTF">2016-03-15T14:24:50Z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TaxKeyword">
    <vt:lpwstr/>
  </property>
  <property fmtid="{D5CDD505-2E9C-101B-9397-08002B2CF9AE}" pid="4" name="Order">
    <vt:r8>1058700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