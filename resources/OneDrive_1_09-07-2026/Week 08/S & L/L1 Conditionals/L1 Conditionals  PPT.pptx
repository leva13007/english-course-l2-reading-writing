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8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1.xml" ContentType="application/vnd.openxmlformats-officedocument.presentationml.tags+xml"/>
  <Override PartName="/ppt/tags/tag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6.xml" ContentType="application/vnd.openxmlformats-officedocument.presentationml.tag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08" r:id="rId3"/>
  </p:sldMasterIdLst>
  <p:notesMasterIdLst>
    <p:notesMasterId r:id="rId13"/>
  </p:notesMasterIdLst>
  <p:handoutMasterIdLst>
    <p:handoutMasterId r:id="rId14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customXml" Target="../customXml/item3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6757C4E-9DAD-41C7-9AB3-34DD0F72F6B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D43A456-7B7F-4EC0-BC3F-14D9C8AB337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F9C1BADE-C035-4620-81C3-0025B66A593D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A9CAFB3F-F141-446B-8212-6CAE25F79A0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1A0693FC-4EE6-4FFE-A0E9-834B87A165C7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6F9E001-4742-45F3-9B67-DAEE16967B9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62AD6929-8DE4-4596-8CC5-789DAB0265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328A95A2-011F-44BC-B9ED-D97801845E6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BBD5B13E-289B-4A95-BAC1-F301E7C1C6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77B71DE-61AA-46AE-BE47-87FA7AEBECA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C3C1FDAC-141C-42FA-AD46-BCA2E53D41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FA5A344F-3B0D-45D5-989C-C085147F34D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FF11AD66-B490-499C-A5DA-C94EEB60B8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C3EAD144-F242-4966-8D66-E706DD25085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44E62C03-C9D6-4C7B-BA99-A3B508DF57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A85EC1D1-3452-4B6D-A480-D2F03885B63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F749046F-F75B-4EAD-B704-638A6B5095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2E24B13-B85C-432D-8027-30E22D1DF3E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A39352FA-DD90-490C-85DC-A793F31534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1D3C4657-D70F-42DE-A9A9-26EA5106EA4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E1327BA2-91C1-4FA7-B6A3-4CAFE4370A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5122DA7F-209A-4538-B5E8-D9CB373DE53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8E2ADD49-49E8-425F-BFF0-CEE8E9D97E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9">
            <a:extLst>
              <a:ext uri="{FF2B5EF4-FFF2-40B4-BE49-F238E27FC236}">
                <a16:creationId xmlns:a16="http://schemas.microsoft.com/office/drawing/2014/main" id="{8650EF92-BA8F-4398-BCFC-DA945EE64831}"/>
              </a:ext>
            </a:extLst>
          </p:cNvPr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ounded Rectangle 10">
            <a:extLst>
              <a:ext uri="{FF2B5EF4-FFF2-40B4-BE49-F238E27FC236}">
                <a16:creationId xmlns:a16="http://schemas.microsoft.com/office/drawing/2014/main" id="{4CADDFFC-706D-4414-AB7B-DC3EE3479C5A}"/>
              </a:ext>
            </a:extLst>
          </p:cNvPr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Subtitle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18">
            <a:extLst>
              <a:ext uri="{FF2B5EF4-FFF2-40B4-BE49-F238E27FC236}">
                <a16:creationId xmlns:a16="http://schemas.microsoft.com/office/drawing/2014/main" id="{D9BD49A6-95A8-4B21-B14E-ED6AC1436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CDC5DD-A0D5-4D01-BF07-58F6A6031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10">
            <a:extLst>
              <a:ext uri="{FF2B5EF4-FFF2-40B4-BE49-F238E27FC236}">
                <a16:creationId xmlns:a16="http://schemas.microsoft.com/office/drawing/2014/main" id="{483AC066-70A4-4E72-B98D-09FA880B1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1DD87E-9805-469A-8D40-FB2DD8DA5D0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46451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4">
            <a:extLst>
              <a:ext uri="{FF2B5EF4-FFF2-40B4-BE49-F238E27FC236}">
                <a16:creationId xmlns:a16="http://schemas.microsoft.com/office/drawing/2014/main" id="{4238F1CC-820B-403A-9351-9D3A4E5C5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17">
            <a:extLst>
              <a:ext uri="{FF2B5EF4-FFF2-40B4-BE49-F238E27FC236}">
                <a16:creationId xmlns:a16="http://schemas.microsoft.com/office/drawing/2014/main" id="{E60C9E94-2AE4-4454-BD7D-BDC8D3BEC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2D9FF7B6-DF75-48D1-9D16-BBAFABCC3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FF9E96-6DD9-467C-9262-5AA1D0D38B4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32846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9">
            <a:extLst>
              <a:ext uri="{FF2B5EF4-FFF2-40B4-BE49-F238E27FC236}">
                <a16:creationId xmlns:a16="http://schemas.microsoft.com/office/drawing/2014/main" id="{2311EDFD-308E-4C07-B922-DBB007E24E58}"/>
              </a:ext>
            </a:extLst>
          </p:cNvPr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ounded Rectangle 10">
            <a:extLst>
              <a:ext uri="{FF2B5EF4-FFF2-40B4-BE49-F238E27FC236}">
                <a16:creationId xmlns:a16="http://schemas.microsoft.com/office/drawing/2014/main" id="{872233FD-74E2-4C9C-8FC5-DCADC48432CC}"/>
              </a:ext>
            </a:extLst>
          </p:cNvPr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89941D9-18B1-4B52-B732-1FB6DDB36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ACD1183-A111-4A6B-A105-0A0C1A4B6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7350F5B-D578-4E11-82B4-59129137F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9C3A3C-70B3-4CF1-BC9A-E51A74FD3A7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41186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24">
            <a:extLst>
              <a:ext uri="{FF2B5EF4-FFF2-40B4-BE49-F238E27FC236}">
                <a16:creationId xmlns:a16="http://schemas.microsoft.com/office/drawing/2014/main" id="{9B876D04-BEDC-41F6-AC93-D07B7FD70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17">
            <a:extLst>
              <a:ext uri="{FF2B5EF4-FFF2-40B4-BE49-F238E27FC236}">
                <a16:creationId xmlns:a16="http://schemas.microsoft.com/office/drawing/2014/main" id="{97FB2F30-8974-49D3-AD12-8AE679A4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57A67870-62FB-45CA-B46C-F82D14689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D927EE-0B35-456A-9AAF-C180B215FF3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92206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lvl1pPr>
              <a:defRPr b="1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24">
            <a:extLst>
              <a:ext uri="{FF2B5EF4-FFF2-40B4-BE49-F238E27FC236}">
                <a16:creationId xmlns:a16="http://schemas.microsoft.com/office/drawing/2014/main" id="{ADBD99B8-B36B-40CF-B676-04A8A1C6C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Footer Placeholder 17">
            <a:extLst>
              <a:ext uri="{FF2B5EF4-FFF2-40B4-BE49-F238E27FC236}">
                <a16:creationId xmlns:a16="http://schemas.microsoft.com/office/drawing/2014/main" id="{25D64CCF-FB77-44C6-A8DF-F0D2F7593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503BBF00-E3F9-4011-A42E-59F440797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48B0F6-BB28-4DF6-9510-AE66A1A0AA1B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4032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4">
            <a:extLst>
              <a:ext uri="{FF2B5EF4-FFF2-40B4-BE49-F238E27FC236}">
                <a16:creationId xmlns:a16="http://schemas.microsoft.com/office/drawing/2014/main" id="{4A612F03-6893-4C55-AE2C-3B2C4449F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Footer Placeholder 17">
            <a:extLst>
              <a:ext uri="{FF2B5EF4-FFF2-40B4-BE49-F238E27FC236}">
                <a16:creationId xmlns:a16="http://schemas.microsoft.com/office/drawing/2014/main" id="{7DC16636-4475-4438-A976-146C6BED9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597B7A-8DF2-43EA-8D0C-67AC3599D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A7D66D-D7DA-4221-8CE7-8D4AA5EABF4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56566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9">
            <a:extLst>
              <a:ext uri="{FF2B5EF4-FFF2-40B4-BE49-F238E27FC236}">
                <a16:creationId xmlns:a16="http://schemas.microsoft.com/office/drawing/2014/main" id="{910A5D26-9013-4729-8AE5-7D486C451B9E}"/>
              </a:ext>
            </a:extLst>
          </p:cNvPr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23A8881D-81F1-4231-90F5-DD090656C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B54CAC33-57C8-4AB7-B4CD-21745348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7E1FA55-F954-4451-A66A-E888D960E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DC9A1D-074A-4AD6-98AB-8005B08C50D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00063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24">
            <a:extLst>
              <a:ext uri="{FF2B5EF4-FFF2-40B4-BE49-F238E27FC236}">
                <a16:creationId xmlns:a16="http://schemas.microsoft.com/office/drawing/2014/main" id="{DB65FECB-4406-4BC5-B779-FDC3E611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17">
            <a:extLst>
              <a:ext uri="{FF2B5EF4-FFF2-40B4-BE49-F238E27FC236}">
                <a16:creationId xmlns:a16="http://schemas.microsoft.com/office/drawing/2014/main" id="{9A4753D3-0BDE-4D37-BD8E-950AA2CE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C470C070-F49F-494F-A056-EA19410A6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70E917-DDA3-4D8E-A34B-A5011C7202A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2087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9">
            <a:extLst>
              <a:ext uri="{FF2B5EF4-FFF2-40B4-BE49-F238E27FC236}">
                <a16:creationId xmlns:a16="http://schemas.microsoft.com/office/drawing/2014/main" id="{CC8FB5F6-0908-445B-B6CC-1D16F6D90B1C}"/>
              </a:ext>
            </a:extLst>
          </p:cNvPr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ound Single Corner Rectangle 10">
            <a:extLst>
              <a:ext uri="{FF2B5EF4-FFF2-40B4-BE49-F238E27FC236}">
                <a16:creationId xmlns:a16="http://schemas.microsoft.com/office/drawing/2014/main" id="{85513BA9-9D01-4678-ACAF-2E25FF9E5713}"/>
              </a:ext>
            </a:extLst>
          </p:cNvPr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ABF8A927-43DB-414A-87FF-A5CB10465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DDF9F4BB-EDF9-4E9F-BA9F-4A1DBCE44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6B0C16B0-1261-420A-A38D-C4BF4B7A8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405FAB-6A54-4D64-BA24-1E6F000E0F9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76156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4">
            <a:extLst>
              <a:ext uri="{FF2B5EF4-FFF2-40B4-BE49-F238E27FC236}">
                <a16:creationId xmlns:a16="http://schemas.microsoft.com/office/drawing/2014/main" id="{005E4E37-ABC1-4433-9D11-E8845D83A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17">
            <a:extLst>
              <a:ext uri="{FF2B5EF4-FFF2-40B4-BE49-F238E27FC236}">
                <a16:creationId xmlns:a16="http://schemas.microsoft.com/office/drawing/2014/main" id="{4C730034-21FC-4F7E-9FBC-0559B519E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E9A71D95-1983-4B98-8A8B-5724D77EF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587F81-9ECA-45BE-A28B-29C3882D72E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35838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4">
            <a:extLst>
              <a:ext uri="{FF2B5EF4-FFF2-40B4-BE49-F238E27FC236}">
                <a16:creationId xmlns:a16="http://schemas.microsoft.com/office/drawing/2014/main" id="{6A6BCF7D-E2D0-4995-AC77-CBC75F843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17">
            <a:extLst>
              <a:ext uri="{FF2B5EF4-FFF2-40B4-BE49-F238E27FC236}">
                <a16:creationId xmlns:a16="http://schemas.microsoft.com/office/drawing/2014/main" id="{8642075A-E751-4C0D-A996-373CB0832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8FF91BF4-0C02-4C4F-A8F4-7ACB80A3E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53C425-75E8-42C7-827A-6794EE90973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03442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5348561-24A3-4C7C-AFC4-8B84125584FB}"/>
              </a:ext>
            </a:extLst>
          </p:cNvPr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0531F88-9918-413B-ADB3-956E9D7CFD7A}"/>
              </a:ext>
            </a:extLst>
          </p:cNvPr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3" name="Title Placeholder 12">
            <a:extLst>
              <a:ext uri="{FF2B5EF4-FFF2-40B4-BE49-F238E27FC236}">
                <a16:creationId xmlns:a16="http://schemas.microsoft.com/office/drawing/2014/main" id="{215ED307-4549-43DC-9C9E-C2C75A42A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4986338"/>
            <a:ext cx="8183562" cy="1050925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1" name="Text Placeholder 3">
            <a:extLst>
              <a:ext uri="{FF2B5EF4-FFF2-40B4-BE49-F238E27FC236}">
                <a16:creationId xmlns:a16="http://schemas.microsoft.com/office/drawing/2014/main" id="{27BF7638-F140-4AAA-B645-B98423A81FF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503238" y="530225"/>
            <a:ext cx="8183562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3AE881A8-9572-4A3C-B28D-18EE3C6427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GB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8B29DD11-01DF-41F7-8428-DA1B0A8865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486065-F2EE-495A-B758-56D6DAE3BF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A7A399"/>
                </a:solidFill>
              </a:defRPr>
            </a:lvl1pPr>
          </a:lstStyle>
          <a:p>
            <a:fld id="{7F690317-9DDD-4CAF-A897-E41F918D22C5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24" r:id="rId2"/>
    <p:sldLayoutId id="2147483732" r:id="rId3"/>
    <p:sldLayoutId id="2147483725" r:id="rId4"/>
    <p:sldLayoutId id="2147483726" r:id="rId5"/>
    <p:sldLayoutId id="2147483727" r:id="rId6"/>
    <p:sldLayoutId id="2147483733" r:id="rId7"/>
    <p:sldLayoutId id="2147483728" r:id="rId8"/>
    <p:sldLayoutId id="2147483734" r:id="rId9"/>
    <p:sldLayoutId id="2147483729" r:id="rId10"/>
    <p:sldLayoutId id="214748373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600" b="1" kern="1200">
          <a:solidFill>
            <a:srgbClr val="FF8D3E"/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anose="020B060403050404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anose="020B060403050404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anose="020B060403050404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anose="020B0604030504040204" pitchFamily="34" charset="0"/>
        </a:defRPr>
      </a:lvl9pPr>
      <a:extLst/>
    </p:titleStyle>
    <p:bodyStyle>
      <a:lvl1pPr marL="265113" indent="-265113" algn="l" rtl="0" fontAlgn="base">
        <a:spcBef>
          <a:spcPts val="25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00025" algn="l" rtl="0" fontAlgn="base">
        <a:spcBef>
          <a:spcPts val="250"/>
        </a:spcBef>
        <a:spcAft>
          <a:spcPct val="0"/>
        </a:spcAft>
        <a:buClr>
          <a:schemeClr val="accent1"/>
        </a:buClr>
        <a:buSzPct val="100000"/>
        <a:buFont typeface="Verdana" panose="020B0604030504040204" pitchFamily="34" charset="0"/>
        <a:buChar char="◦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5813" indent="-182563" algn="l" rtl="0" fontAlgn="base">
        <a:spcBef>
          <a:spcPts val="250"/>
        </a:spcBef>
        <a:spcAft>
          <a:spcPct val="0"/>
        </a:spcAft>
        <a:buClr>
          <a:srgbClr val="ED3742"/>
        </a:buClr>
        <a:buSzPct val="100000"/>
        <a:buFont typeface="Wingdings 2" panose="05020102010507070707" pitchFamily="18" charset="2"/>
        <a:buChar char="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3938" indent="-182563" algn="l" rtl="0" fontAlgn="base">
        <a:spcBef>
          <a:spcPts val="225"/>
        </a:spcBef>
        <a:spcAft>
          <a:spcPct val="0"/>
        </a:spcAft>
        <a:buClr>
          <a:srgbClr val="ED3742"/>
        </a:buClr>
        <a:buSzPct val="112000"/>
        <a:buFont typeface="Verdana" panose="020B0604030504040204" pitchFamily="34" charset="0"/>
        <a:buChar char="◦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fontAlgn="base">
        <a:spcBef>
          <a:spcPts val="250"/>
        </a:spcBef>
        <a:spcAft>
          <a:spcPct val="0"/>
        </a:spcAft>
        <a:buClr>
          <a:srgbClr val="4A85BF"/>
        </a:buClr>
        <a:buSzPct val="100000"/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2.wmf"/><Relationship Id="rId4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8AECB43C-68D8-4058-A629-E0597E0153CA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39850"/>
            <a:ext cx="7556500" cy="393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283C197-5437-4BFC-A196-85A3655AAD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838200"/>
            <a:ext cx="7772400" cy="5257800"/>
          </a:xfrm>
        </p:spPr>
        <p:txBody>
          <a:bodyPr/>
          <a:lstStyle/>
          <a:p>
            <a:pPr>
              <a:buFontTx/>
              <a:buNone/>
            </a:pPr>
            <a:r>
              <a:rPr lang="en-GB" altLang="en-US" b="1">
                <a:solidFill>
                  <a:schemeClr val="tx2"/>
                </a:solidFill>
              </a:rPr>
              <a:t>A Conditional sentence is one in which one thing depends on another.</a:t>
            </a:r>
            <a:endParaRPr lang="en-GB" altLang="en-US"/>
          </a:p>
          <a:p>
            <a:pPr>
              <a:buFontTx/>
              <a:buNone/>
            </a:pPr>
            <a:r>
              <a:rPr lang="en-GB" altLang="en-US"/>
              <a:t>They are used to make predictions or explore possibilities.</a:t>
            </a:r>
          </a:p>
          <a:p>
            <a:pPr>
              <a:buFontTx/>
              <a:buNone/>
            </a:pPr>
            <a:r>
              <a:rPr lang="en-GB" altLang="en-US"/>
              <a:t>They are concerned with things that </a:t>
            </a:r>
          </a:p>
          <a:p>
            <a:r>
              <a:rPr lang="en-GB" altLang="en-US" b="1"/>
              <a:t>will</a:t>
            </a:r>
            <a:endParaRPr lang="en-GB" altLang="en-US"/>
          </a:p>
          <a:p>
            <a:r>
              <a:rPr lang="en-GB" altLang="en-US" b="1"/>
              <a:t>might</a:t>
            </a:r>
            <a:endParaRPr lang="en-GB" altLang="en-US"/>
          </a:p>
          <a:p>
            <a:r>
              <a:rPr lang="en-GB" altLang="en-US" b="1"/>
              <a:t>should</a:t>
            </a:r>
            <a:endParaRPr lang="en-GB" altLang="en-US"/>
          </a:p>
          <a:p>
            <a:r>
              <a:rPr lang="en-GB" altLang="en-US"/>
              <a:t>or </a:t>
            </a:r>
            <a:r>
              <a:rPr lang="en-GB" altLang="en-US" b="1"/>
              <a:t>could</a:t>
            </a:r>
            <a:r>
              <a:rPr lang="en-GB" altLang="en-US"/>
              <a:t> happen.</a:t>
            </a:r>
          </a:p>
        </p:txBody>
      </p:sp>
    </p:spTree>
    <p:custDataLst>
      <p:tags r:id="rId1"/>
    </p:custDataLst>
  </p:cSld>
  <p:clrMapOvr>
    <a:masterClrMapping/>
  </p:clrMapOvr>
  <p:transition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D4195CA-908B-4A17-8D62-5E6C756DE9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144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GB">
                <a:solidFill>
                  <a:schemeClr val="accent1">
                    <a:tint val="88000"/>
                    <a:satMod val="150000"/>
                  </a:schemeClr>
                </a:solidFill>
              </a:rPr>
              <a:t>If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AF9224D7-A01F-4D84-836B-6F174E501C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447800"/>
            <a:ext cx="7772400" cy="4648200"/>
          </a:xfrm>
        </p:spPr>
        <p:txBody>
          <a:bodyPr/>
          <a:lstStyle/>
          <a:p>
            <a:pPr>
              <a:buFontTx/>
              <a:buNone/>
            </a:pPr>
            <a:r>
              <a:rPr lang="en-GB" altLang="en-US" sz="2900"/>
              <a:t>Conditional sentences often contain the connective</a:t>
            </a:r>
            <a:endParaRPr lang="en-GB" altLang="en-US"/>
          </a:p>
          <a:p>
            <a:pPr lvl="3"/>
            <a:r>
              <a:rPr lang="en-GB" altLang="en-US" sz="4400" b="1">
                <a:solidFill>
                  <a:schemeClr val="accent2"/>
                </a:solidFill>
              </a:rPr>
              <a:t>if</a:t>
            </a:r>
            <a:endParaRPr lang="en-GB" altLang="en-US" sz="3200"/>
          </a:p>
          <a:p>
            <a:pPr lvl="3"/>
            <a:r>
              <a:rPr lang="en-GB" altLang="en-US" sz="3200"/>
              <a:t>or sometimes</a:t>
            </a:r>
          </a:p>
          <a:p>
            <a:pPr lvl="3"/>
            <a:r>
              <a:rPr lang="en-GB" altLang="en-US" sz="3600" b="1">
                <a:solidFill>
                  <a:schemeClr val="accent2"/>
                </a:solidFill>
              </a:rPr>
              <a:t>unless</a:t>
            </a:r>
          </a:p>
          <a:p>
            <a:pPr lvl="3"/>
            <a:r>
              <a:rPr lang="en-GB" altLang="en-US" sz="3600" b="1">
                <a:solidFill>
                  <a:schemeClr val="accent2"/>
                </a:solidFill>
              </a:rPr>
              <a:t>providing/provided</a:t>
            </a:r>
          </a:p>
          <a:p>
            <a:pPr lvl="3"/>
            <a:r>
              <a:rPr lang="en-GB" altLang="en-US" sz="3600" b="1">
                <a:solidFill>
                  <a:schemeClr val="accent2"/>
                </a:solidFill>
              </a:rPr>
              <a:t>as long as</a:t>
            </a:r>
          </a:p>
          <a:p>
            <a:pPr lvl="3"/>
            <a:r>
              <a:rPr lang="en-GB" altLang="en-US" sz="3600" b="1">
                <a:solidFill>
                  <a:schemeClr val="accent2"/>
                </a:solidFill>
              </a:rPr>
              <a:t>when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autoUpdateAnimBg="0"/>
      <p:bldP spid="7171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BDF69103-F169-4076-8D8D-E0E08BFD0E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14400"/>
            <a:ext cx="8763000" cy="5181600"/>
          </a:xfrm>
        </p:spPr>
        <p:txBody>
          <a:bodyPr/>
          <a:lstStyle/>
          <a:p>
            <a:pPr>
              <a:buFontTx/>
              <a:buNone/>
            </a:pPr>
            <a:r>
              <a:rPr lang="en-GB" altLang="en-US"/>
              <a:t>	</a:t>
            </a:r>
            <a:r>
              <a:rPr lang="en-GB" altLang="en-US" b="1">
                <a:solidFill>
                  <a:schemeClr val="tx2"/>
                </a:solidFill>
              </a:rPr>
              <a:t>Conditional sentences can also refer to imaginary situations - what might have been.</a:t>
            </a:r>
          </a:p>
          <a:p>
            <a:pPr>
              <a:buFontTx/>
              <a:buNone/>
            </a:pPr>
            <a:endParaRPr lang="en-GB" altLang="en-US"/>
          </a:p>
          <a:p>
            <a:r>
              <a:rPr lang="en-GB" altLang="en-US"/>
              <a:t>I would help you if I could (but I can’t).</a:t>
            </a:r>
          </a:p>
          <a:p>
            <a:r>
              <a:rPr lang="en-GB" altLang="en-US"/>
              <a:t>What would you do if you were in my place?</a:t>
            </a:r>
          </a:p>
          <a:p>
            <a:r>
              <a:rPr lang="en-GB" altLang="en-US"/>
              <a:t>If the weather had been sunny we could have gone to the beach.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BEB4276-0A36-4E4C-AC1F-2A2F821267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6096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>
                <a:solidFill>
                  <a:schemeClr val="accent1">
                    <a:tint val="88000"/>
                    <a:satMod val="150000"/>
                  </a:schemeClr>
                </a:solidFill>
              </a:rPr>
              <a:t>Modal Verbs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285E3E8F-7D56-4165-B9AE-879612B5DD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990600"/>
            <a:ext cx="7772400" cy="2514600"/>
          </a:xfrm>
        </p:spPr>
        <p:txBody>
          <a:bodyPr/>
          <a:lstStyle/>
          <a:p>
            <a:pPr>
              <a:buFontTx/>
              <a:buNone/>
            </a:pPr>
            <a:r>
              <a:rPr lang="en-GB" altLang="en-US" sz="3000"/>
              <a:t>Certain verbs are often used in conditional sentences. </a:t>
            </a:r>
          </a:p>
          <a:p>
            <a:pPr>
              <a:buFontTx/>
              <a:buNone/>
            </a:pPr>
            <a:r>
              <a:rPr lang="en-GB" altLang="en-US" sz="3000"/>
              <a:t>These verbs are called </a:t>
            </a:r>
            <a:r>
              <a:rPr lang="en-GB" altLang="en-US" sz="3000" b="1"/>
              <a:t>modal verbs</a:t>
            </a:r>
            <a:r>
              <a:rPr lang="en-GB" altLang="en-US" sz="3000"/>
              <a:t>.</a:t>
            </a:r>
          </a:p>
          <a:p>
            <a:pPr>
              <a:buFontTx/>
              <a:buNone/>
            </a:pPr>
            <a:r>
              <a:rPr lang="en-GB" altLang="en-US" sz="3000"/>
              <a:t>They are usually used with other verbs, not on their own.</a:t>
            </a:r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8529C62E-5614-4A90-A782-B2BAD7647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0775" y="3533775"/>
            <a:ext cx="4286250" cy="2838450"/>
          </a:xfrm>
          <a:prstGeom prst="rect">
            <a:avLst/>
          </a:prstGeom>
          <a:solidFill>
            <a:schemeClr val="accent1"/>
          </a:solidFill>
          <a:ln w="57150" cmpd="tri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4038D6A9-63A3-46DF-BEE1-8D6CC1047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505200"/>
            <a:ext cx="777240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GB" altLang="en-US" sz="3200"/>
              <a:t>must	ought</a:t>
            </a:r>
          </a:p>
          <a:p>
            <a:pPr algn="ctr">
              <a:spcBef>
                <a:spcPct val="20000"/>
              </a:spcBef>
            </a:pPr>
            <a:r>
              <a:rPr lang="en-GB" altLang="en-US" sz="3200"/>
              <a:t>can		could</a:t>
            </a:r>
          </a:p>
          <a:p>
            <a:pPr algn="ctr">
              <a:spcBef>
                <a:spcPct val="20000"/>
              </a:spcBef>
            </a:pPr>
            <a:r>
              <a:rPr lang="en-GB" altLang="en-US" sz="3200"/>
              <a:t>may		might</a:t>
            </a:r>
          </a:p>
          <a:p>
            <a:pPr algn="ctr">
              <a:spcBef>
                <a:spcPct val="20000"/>
              </a:spcBef>
            </a:pPr>
            <a:r>
              <a:rPr lang="en-GB" altLang="en-US" sz="3200"/>
              <a:t>will		would</a:t>
            </a:r>
          </a:p>
          <a:p>
            <a:pPr algn="ctr">
              <a:spcBef>
                <a:spcPct val="20000"/>
              </a:spcBef>
            </a:pPr>
            <a:r>
              <a:rPr lang="en-GB" altLang="en-US" sz="3200"/>
              <a:t>shall	should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autoUpdateAnimBg="0"/>
      <p:bldP spid="11267" grpId="0" build="p" autoUpdateAnimBg="0"/>
      <p:bldP spid="11268" grpId="0" animBg="1"/>
      <p:bldP spid="11269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B6C2F628-1B6C-43CD-BB2B-4B67C34DC6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3238" y="4983163"/>
            <a:ext cx="8183562" cy="105251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sz="3200">
                <a:solidFill>
                  <a:schemeClr val="accent1">
                    <a:tint val="88000"/>
                    <a:satMod val="150000"/>
                  </a:schemeClr>
                </a:solidFill>
              </a:rPr>
              <a:t>Complete these sentences which contain modal verbs.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DAB0AB29-FFF0-44A0-BB32-45A3242B31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3238" y="530225"/>
            <a:ext cx="8183562" cy="4187825"/>
          </a:xfrm>
        </p:spPr>
        <p:txBody>
          <a:bodyPr/>
          <a:lstStyle/>
          <a:p>
            <a:pPr>
              <a:buFontTx/>
              <a:buNone/>
            </a:pPr>
            <a:endParaRPr lang="en-GB" altLang="en-US"/>
          </a:p>
          <a:p>
            <a:pPr>
              <a:buFontTx/>
              <a:buNone/>
            </a:pPr>
            <a:r>
              <a:rPr lang="en-GB" altLang="en-US"/>
              <a:t>I can help you if…</a:t>
            </a:r>
          </a:p>
          <a:p>
            <a:pPr>
              <a:buFontTx/>
              <a:buNone/>
            </a:pPr>
            <a:r>
              <a:rPr lang="en-GB" altLang="en-US"/>
              <a:t>You should have…</a:t>
            </a:r>
          </a:p>
          <a:p>
            <a:pPr>
              <a:buFontTx/>
              <a:buNone/>
            </a:pPr>
            <a:r>
              <a:rPr lang="en-GB" altLang="en-US"/>
              <a:t>We might go…</a:t>
            </a:r>
          </a:p>
          <a:p>
            <a:pPr>
              <a:buFontTx/>
              <a:buNone/>
            </a:pPr>
            <a:r>
              <a:rPr lang="en-GB" altLang="en-US"/>
              <a:t>I wouldn’t do…</a:t>
            </a:r>
          </a:p>
          <a:p>
            <a:pPr>
              <a:buFontTx/>
              <a:buNone/>
            </a:pPr>
            <a:r>
              <a:rPr lang="en-GB" altLang="en-US"/>
              <a:t>You ought to eat…</a:t>
            </a:r>
          </a:p>
          <a:p>
            <a:pPr>
              <a:buFontTx/>
              <a:buNone/>
            </a:pPr>
            <a:r>
              <a:rPr lang="en-GB" altLang="en-US"/>
              <a:t>She will be late...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 autoUpdateAnimBg="0"/>
      <p:bldP spid="13315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76D03B9F-F9F1-4544-A5BF-B5D88B9FCE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3238" y="4983163"/>
            <a:ext cx="8183562" cy="105251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>
                <a:solidFill>
                  <a:schemeClr val="accent1">
                    <a:tint val="88000"/>
                    <a:satMod val="150000"/>
                  </a:schemeClr>
                </a:solidFill>
              </a:rPr>
              <a:t>Suggest endings for these conditional sentences.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E771469-97D2-4BC6-B0D8-8919BCB0B8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3238" y="530225"/>
            <a:ext cx="8183562" cy="4187825"/>
          </a:xfrm>
        </p:spPr>
        <p:txBody>
          <a:bodyPr/>
          <a:lstStyle/>
          <a:p>
            <a:pPr>
              <a:buFontTx/>
              <a:buNone/>
            </a:pPr>
            <a:r>
              <a:rPr lang="en-GB" altLang="en-US"/>
              <a:t>If I always do my homework I should…</a:t>
            </a:r>
          </a:p>
          <a:p>
            <a:pPr>
              <a:buFontTx/>
              <a:buNone/>
            </a:pPr>
            <a:endParaRPr lang="en-GB" altLang="en-US" sz="1600"/>
          </a:p>
          <a:p>
            <a:pPr>
              <a:buFontTx/>
              <a:buNone/>
            </a:pPr>
            <a:r>
              <a:rPr lang="en-GB" altLang="en-US"/>
              <a:t>If my mum wins the lottery we might…</a:t>
            </a:r>
          </a:p>
          <a:p>
            <a:pPr>
              <a:buFontTx/>
              <a:buNone/>
            </a:pPr>
            <a:endParaRPr lang="en-GB" altLang="en-US" sz="1600"/>
          </a:p>
          <a:p>
            <a:pPr>
              <a:buFontTx/>
              <a:buNone/>
            </a:pPr>
            <a:r>
              <a:rPr lang="en-GB" altLang="en-US"/>
              <a:t>If I were Madonna I would…</a:t>
            </a:r>
          </a:p>
          <a:p>
            <a:pPr>
              <a:buFontTx/>
              <a:buNone/>
            </a:pPr>
            <a:endParaRPr lang="en-GB" altLang="en-US" sz="1600"/>
          </a:p>
          <a:p>
            <a:pPr>
              <a:buFontTx/>
              <a:buNone/>
            </a:pPr>
            <a:r>
              <a:rPr lang="en-GB" altLang="en-US"/>
              <a:t>If I were David Beckham I could...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autoUpdateAnimBg="0"/>
      <p:bldP spid="15363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42FDD67-A37B-4ADF-80F0-A4F8073115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3238" y="4983163"/>
            <a:ext cx="8183562" cy="105251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sz="2800">
                <a:solidFill>
                  <a:schemeClr val="accent1">
                    <a:tint val="88000"/>
                    <a:satMod val="150000"/>
                  </a:schemeClr>
                </a:solidFill>
              </a:rPr>
              <a:t>Sometimes we daydream about the way our lives might turn out </a:t>
            </a:r>
            <a:br>
              <a:rPr lang="en-GB" sz="2800">
                <a:solidFill>
                  <a:schemeClr val="accent1">
                    <a:tint val="88000"/>
                    <a:satMod val="150000"/>
                  </a:schemeClr>
                </a:solidFill>
              </a:rPr>
            </a:br>
            <a:r>
              <a:rPr lang="en-GB" sz="3200">
                <a:solidFill>
                  <a:schemeClr val="accent1">
                    <a:tint val="88000"/>
                    <a:satMod val="150000"/>
                  </a:schemeClr>
                </a:solidFill>
              </a:rPr>
              <a:t>If only...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D86ABD86-99B9-4188-9114-8E74B5DA87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2057400"/>
            <a:ext cx="7772400" cy="4038600"/>
          </a:xfrm>
        </p:spPr>
        <p:txBody>
          <a:bodyPr>
            <a:normAutofit fontScale="92500"/>
          </a:bodyPr>
          <a:lstStyle/>
          <a:p>
            <a:pPr marL="265176" indent="-265176" fontAlgn="auto">
              <a:spcAft>
                <a:spcPts val="0"/>
              </a:spcAft>
              <a:buFontTx/>
              <a:buNone/>
              <a:defRPr/>
            </a:pPr>
            <a:r>
              <a:rPr lang="en-GB" b="1"/>
              <a:t>Do you think this excuse would get you off doing lines?</a:t>
            </a:r>
            <a:endParaRPr lang="en-GB"/>
          </a:p>
          <a:p>
            <a:pPr marL="265176" indent="-265176" fontAlgn="auto">
              <a:spcAft>
                <a:spcPts val="0"/>
              </a:spcAft>
              <a:buFontTx/>
              <a:buNone/>
              <a:defRPr/>
            </a:pPr>
            <a:r>
              <a:rPr lang="en-GB"/>
              <a:t>If my mum hadn’t crashed the car on her way home from work and been so shaken up</a:t>
            </a:r>
          </a:p>
          <a:p>
            <a:pPr marL="265176" indent="-265176" fontAlgn="auto">
              <a:spcAft>
                <a:spcPts val="0"/>
              </a:spcAft>
              <a:buFontTx/>
              <a:buNone/>
              <a:defRPr/>
            </a:pPr>
            <a:r>
              <a:rPr lang="en-GB"/>
              <a:t>that she forgot to feed the dog</a:t>
            </a:r>
          </a:p>
          <a:p>
            <a:pPr marL="265176" indent="-265176" fontAlgn="auto">
              <a:spcAft>
                <a:spcPts val="0"/>
              </a:spcAft>
              <a:buFontTx/>
              <a:buNone/>
              <a:defRPr/>
            </a:pPr>
            <a:r>
              <a:rPr lang="en-GB"/>
              <a:t>then the dog wouldn’t have eaten my pencil</a:t>
            </a:r>
          </a:p>
          <a:p>
            <a:pPr marL="265176" indent="-265176" fontAlgn="auto">
              <a:spcAft>
                <a:spcPts val="0"/>
              </a:spcAft>
              <a:buFontTx/>
              <a:buNone/>
              <a:defRPr/>
            </a:pPr>
            <a:r>
              <a:rPr lang="en-GB"/>
              <a:t>and I would have been able to do my homework.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 autoUpdateAnimBg="0"/>
      <p:bldP spid="17411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0061672-1896-4051-B8CC-51F523335D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3238" y="4983163"/>
            <a:ext cx="8183562" cy="105251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sz="2800">
                <a:solidFill>
                  <a:schemeClr val="accent2"/>
                </a:solidFill>
              </a:rPr>
              <a:t>In Tom’s Midnight Garden Phillipa Pearce uses conditional sentences to  show how Tom tries to make sense of what has happened.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8C4C77E1-CB2F-42CB-9B13-56A28B29F0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3238" y="530225"/>
            <a:ext cx="8183562" cy="4187825"/>
          </a:xfrm>
        </p:spPr>
        <p:txBody>
          <a:bodyPr/>
          <a:lstStyle/>
          <a:p>
            <a:pPr>
              <a:buFontTx/>
              <a:buNone/>
            </a:pPr>
            <a:r>
              <a:rPr lang="en-GB" altLang="en-US" i="1">
                <a:latin typeface="Arial" panose="020B0604020202020204" pitchFamily="34" charset="0"/>
              </a:rPr>
              <a:t>Had it been a dream? Another possible explanation occurred to him:ghosts. That was what they could all have been: ghosts… Indeed, if it were haunted at all, the hall was overhaunted.</a:t>
            </a:r>
          </a:p>
          <a:p>
            <a:pPr>
              <a:buFontTx/>
              <a:buNone/>
            </a:pPr>
            <a:r>
              <a:rPr lang="en-GB" altLang="en-US" i="1">
                <a:latin typeface="Arial" panose="020B0604020202020204" pitchFamily="34" charset="0"/>
              </a:rPr>
              <a:t>Ghosts… Tom doubtfully put his hand up out of the bedclothes to see if his hair were standing on end. It was not.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autoUpdateAnimBg="0"/>
      <p:bldP spid="19459" grpId="0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spect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B5752AC-BC3B-41B8-9D73-0116032929B8}"/>
</file>

<file path=customXml/itemProps2.xml><?xml version="1.0" encoding="utf-8"?>
<ds:datastoreItem xmlns:ds="http://schemas.openxmlformats.org/officeDocument/2006/customXml" ds:itemID="{CC429CE2-5D75-4B6E-809A-582C5F83998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002F777-EC2A-414C-8CC2-1AB3E5DC7929}"/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110</TotalTime>
  <Words>313</Words>
  <Application>Microsoft Office PowerPoint</Application>
  <PresentationFormat>On-screen Show (4:3)</PresentationFormat>
  <Paragraphs>54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Aspect</vt:lpstr>
      <vt:lpstr>PowerPoint Presentation</vt:lpstr>
      <vt:lpstr>PowerPoint Presentation</vt:lpstr>
      <vt:lpstr>If</vt:lpstr>
      <vt:lpstr>PowerPoint Presentation</vt:lpstr>
      <vt:lpstr>Modal Verbs</vt:lpstr>
      <vt:lpstr>Complete these sentences which contain modal verbs.</vt:lpstr>
      <vt:lpstr>Suggest endings for these conditional sentences.</vt:lpstr>
      <vt:lpstr>Sometimes we daydream about the way our lives might turn out  If only...</vt:lpstr>
      <vt:lpstr>In Tom’s Midnight Garden Phillipa Pearce uses conditional sentences to  show how Tom tries to make sense of what has happened.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Conditional Sentences</dc:title>
  <dc:creator>M Howden</dc:creator>
  <cp:lastModifiedBy>Veronique Whittle</cp:lastModifiedBy>
  <cp:revision>13</cp:revision>
  <dcterms:created xsi:type="dcterms:W3CDTF">2002-01-15T02:18:55Z</dcterms:created>
  <dcterms:modified xsi:type="dcterms:W3CDTF">2020-03-25T12:08:53Z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Order">
    <vt:r8>5760600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</Properties>
</file>