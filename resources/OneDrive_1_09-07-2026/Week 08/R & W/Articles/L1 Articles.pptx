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5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AD150-C340-49F1-9432-22ADDA423589}" v="1294" dt="2018-08-19T18:27:57.7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43" autoAdjust="0"/>
  </p:normalViewPr>
  <p:slideViewPr>
    <p:cSldViewPr>
      <p:cViewPr varScale="1">
        <p:scale>
          <a:sx n="44" d="100"/>
          <a:sy n="44" d="100"/>
        </p:scale>
        <p:origin x="1266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1E5F1-25E5-4D42-A719-ABC337723951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42F4F-8A6F-4FD2-8DBE-CD7D0D3BEF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8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Do you own a car? I have </a:t>
            </a:r>
            <a:r>
              <a:rPr lang="en-GB" sz="1200" b="1" u="sng" dirty="0"/>
              <a:t>a</a:t>
            </a:r>
            <a:r>
              <a:rPr lang="en-GB" sz="1200" dirty="0"/>
              <a:t> car. (an/a singular, general)</a:t>
            </a:r>
          </a:p>
          <a:p>
            <a:r>
              <a:rPr lang="en-GB" sz="1200" dirty="0"/>
              <a:t>Where</a:t>
            </a:r>
            <a:r>
              <a:rPr lang="en-GB" sz="1200" baseline="0" dirty="0"/>
              <a:t> do you go on the weekend</a:t>
            </a:r>
            <a:r>
              <a:rPr lang="en-GB" sz="1200" dirty="0"/>
              <a:t>? My favourite place is </a:t>
            </a:r>
            <a:r>
              <a:rPr lang="en-GB" sz="1200" b="1" u="sng" dirty="0"/>
              <a:t>the</a:t>
            </a:r>
            <a:r>
              <a:rPr lang="en-GB" sz="1200" dirty="0"/>
              <a:t> park. (the singular specific)</a:t>
            </a:r>
          </a:p>
          <a:p>
            <a:r>
              <a:rPr lang="en-GB" sz="1200" dirty="0"/>
              <a:t>Do you prefer British food or Chinese food? I prefer Chinese food. (no article – plural or uncountable, general)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What is your favourite part of the college? My favourite part of college is </a:t>
            </a:r>
            <a:r>
              <a:rPr lang="en-GB" sz="1200" b="1" u="sng" dirty="0"/>
              <a:t>the</a:t>
            </a:r>
            <a:r>
              <a:rPr lang="en-GB" sz="1200" dirty="0"/>
              <a:t> students. (the – plural, specific)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What </a:t>
            </a:r>
            <a:r>
              <a:rPr lang="en-GB" sz="1200" baseline="0" dirty="0"/>
              <a:t>is your favourite place in the world? HK is my favourite place in the world (place names – no article)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aseline="0" dirty="0"/>
              <a:t>What is the best way to travel? </a:t>
            </a:r>
            <a:r>
              <a:rPr lang="en-GB" sz="1200" b="1" u="sng" baseline="0" dirty="0"/>
              <a:t>The </a:t>
            </a:r>
            <a:r>
              <a:rPr lang="en-GB" sz="1200" baseline="0" dirty="0"/>
              <a:t>best way to travel is by car. (the before superlative)</a:t>
            </a:r>
            <a:endParaRPr lang="en-GB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42F4F-8A6F-4FD2-8DBE-CD7D0D3BEFA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445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Pronunciation difference when followed by a consonant or vowel sound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42F4F-8A6F-4FD2-8DBE-CD7D0D3BEFA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88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DF1900D1-2C29-45A2-B663-A5B86B9C879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81081E4-B042-481D-AE20-72BFE8A08A1C}" type="datetimeFigureOut">
              <a:rPr lang="en-GB" smtClean="0"/>
              <a:t>14/09/2021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3035423"/>
          </a:xfrm>
        </p:spPr>
        <p:txBody>
          <a:bodyPr/>
          <a:lstStyle/>
          <a:p>
            <a:r>
              <a:rPr lang="en-GB" dirty="0"/>
              <a:t>Articles: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861048"/>
            <a:ext cx="8208912" cy="12192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tx1"/>
                </a:solidFill>
              </a:rPr>
              <a:t>A, AN, THE, ZERO ARTICLE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0476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72616"/>
            <a:ext cx="9540552" cy="16002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latin typeface="+mn-lt"/>
              </a:rPr>
              <a:t>Ask your partner these questions.</a:t>
            </a:r>
            <a:br>
              <a:rPr lang="en-GB" sz="4000" dirty="0">
                <a:latin typeface="+mn-lt"/>
              </a:rPr>
            </a:br>
            <a:r>
              <a:rPr lang="en-GB" sz="4000" dirty="0">
                <a:latin typeface="+mn-lt"/>
              </a:rPr>
              <a:t>Write down their </a:t>
            </a:r>
            <a:r>
              <a:rPr lang="en-GB" sz="4000" b="1" dirty="0">
                <a:solidFill>
                  <a:schemeClr val="tx1"/>
                </a:solidFill>
                <a:latin typeface="+mn-lt"/>
              </a:rPr>
              <a:t>full answers</a:t>
            </a:r>
            <a:r>
              <a:rPr lang="en-GB" sz="4000" dirty="0">
                <a:latin typeface="+mn-lt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772816"/>
            <a:ext cx="8229600" cy="4464496"/>
          </a:xfrm>
        </p:spPr>
        <p:txBody>
          <a:bodyPr>
            <a:noAutofit/>
          </a:bodyPr>
          <a:lstStyle/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/>
              <a:t>Do you own a car?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/>
              <a:t>Where do you go on the weekends?  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/>
              <a:t>Do you prefer British food or Chinese food?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/>
              <a:t>What is your favourite part of the college?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/>
              <a:t>What is your favourite place in the world?</a:t>
            </a:r>
          </a:p>
          <a:p>
            <a:pPr marL="6286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/>
              <a:t>What is the best way to travel?  </a:t>
            </a:r>
          </a:p>
          <a:p>
            <a:pPr>
              <a:lnSpc>
                <a:spcPct val="150000"/>
              </a:lnSpc>
            </a:pPr>
            <a:endParaRPr lang="en-GB" sz="3200" dirty="0"/>
          </a:p>
          <a:p>
            <a:endParaRPr lang="en-GB" sz="3200" dirty="0"/>
          </a:p>
          <a:p>
            <a:endParaRPr lang="en-GB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031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32" y="-35295"/>
            <a:ext cx="7620000" cy="1143000"/>
          </a:xfrm>
        </p:spPr>
        <p:txBody>
          <a:bodyPr/>
          <a:lstStyle/>
          <a:p>
            <a:r>
              <a:rPr lang="en-GB" dirty="0">
                <a:latin typeface="+mn-lt"/>
              </a:rPr>
              <a:t>Complete the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0"/>
            <a:ext cx="8352928" cy="4983162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58830"/>
              </p:ext>
            </p:extLst>
          </p:nvPr>
        </p:nvGraphicFramePr>
        <p:xfrm>
          <a:off x="396788" y="1107705"/>
          <a:ext cx="7919627" cy="345031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16873">
                  <a:extLst>
                    <a:ext uri="{9D8B030D-6E8A-4147-A177-3AD203B41FA5}">
                      <a16:colId xmlns:a16="http://schemas.microsoft.com/office/drawing/2014/main" val="3780435068"/>
                    </a:ext>
                  </a:extLst>
                </a:gridCol>
                <a:gridCol w="2818828">
                  <a:extLst>
                    <a:ext uri="{9D8B030D-6E8A-4147-A177-3AD203B41FA5}">
                      <a16:colId xmlns:a16="http://schemas.microsoft.com/office/drawing/2014/main" val="3721669821"/>
                    </a:ext>
                  </a:extLst>
                </a:gridCol>
                <a:gridCol w="2583926">
                  <a:extLst>
                    <a:ext uri="{9D8B030D-6E8A-4147-A177-3AD203B41FA5}">
                      <a16:colId xmlns:a16="http://schemas.microsoft.com/office/drawing/2014/main" val="239321107"/>
                    </a:ext>
                  </a:extLst>
                </a:gridCol>
              </a:tblGrid>
              <a:tr h="1110544"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General/</a:t>
                      </a:r>
                    </a:p>
                    <a:p>
                      <a:r>
                        <a:rPr lang="en-GB" sz="3200" dirty="0"/>
                        <a:t>1</a:t>
                      </a:r>
                      <a:r>
                        <a:rPr lang="en-GB" sz="3200" baseline="30000" dirty="0"/>
                        <a:t>st</a:t>
                      </a:r>
                      <a:r>
                        <a:rPr lang="en-GB" sz="3200" dirty="0"/>
                        <a:t> mention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Specific/</a:t>
                      </a:r>
                    </a:p>
                    <a:p>
                      <a:r>
                        <a:rPr lang="en-GB" sz="3200" dirty="0"/>
                        <a:t>2</a:t>
                      </a:r>
                      <a:r>
                        <a:rPr lang="en-GB" sz="3200" baseline="30000" dirty="0"/>
                        <a:t>nd</a:t>
                      </a:r>
                      <a:r>
                        <a:rPr lang="en-GB" sz="3200" dirty="0"/>
                        <a:t> mention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68948"/>
                  </a:ext>
                </a:extLst>
              </a:tr>
              <a:tr h="1169885">
                <a:tc>
                  <a:txBody>
                    <a:bodyPr/>
                    <a:lstStyle/>
                    <a:p>
                      <a:r>
                        <a:rPr lang="en-GB" sz="3200" b="1" dirty="0"/>
                        <a:t>Singular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80179"/>
                  </a:ext>
                </a:extLst>
              </a:tr>
              <a:tr h="1169885">
                <a:tc>
                  <a:txBody>
                    <a:bodyPr/>
                    <a:lstStyle/>
                    <a:p>
                      <a:r>
                        <a:rPr lang="en-GB" sz="3200" b="1" dirty="0"/>
                        <a:t>Plural/</a:t>
                      </a:r>
                    </a:p>
                    <a:p>
                      <a:r>
                        <a:rPr lang="en-GB" sz="3200" b="1" dirty="0"/>
                        <a:t>uncountable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99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6788" y="4693527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*</a:t>
            </a:r>
          </a:p>
          <a:p>
            <a:r>
              <a:rPr lang="en-GB" b="1" dirty="0"/>
              <a:t>Before superlatives = </a:t>
            </a:r>
          </a:p>
          <a:p>
            <a:r>
              <a:rPr lang="en-GB" b="1" dirty="0"/>
              <a:t>Before place names = </a:t>
            </a:r>
          </a:p>
          <a:p>
            <a:r>
              <a:rPr lang="en-GB" b="1" dirty="0"/>
              <a:t>Before names of oceans, rivers, seas, deserts =</a:t>
            </a:r>
          </a:p>
          <a:p>
            <a:r>
              <a:rPr lang="en-GB" b="1" dirty="0"/>
              <a:t>Before names of hotels, museum, special buildings = </a:t>
            </a:r>
          </a:p>
          <a:p>
            <a:endParaRPr lang="en-GB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441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052"/>
            <a:ext cx="8496944" cy="1143000"/>
          </a:xfrm>
        </p:spPr>
        <p:txBody>
          <a:bodyPr/>
          <a:lstStyle/>
          <a:p>
            <a:r>
              <a:rPr lang="en-GB" dirty="0"/>
              <a:t>Compare the following sentences: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7620000" cy="5328592"/>
          </a:xfrm>
        </p:spPr>
        <p:txBody>
          <a:bodyPr>
            <a:noAutofit/>
          </a:bodyPr>
          <a:lstStyle/>
          <a:p>
            <a:r>
              <a:rPr lang="en-GB" sz="2600" dirty="0"/>
              <a:t>Can you bring me an apple?</a:t>
            </a:r>
          </a:p>
          <a:p>
            <a:r>
              <a:rPr lang="en-GB" sz="2600" dirty="0"/>
              <a:t>Can you bring me the apple?</a:t>
            </a:r>
          </a:p>
          <a:p>
            <a:endParaRPr lang="en-GB" sz="2600" dirty="0"/>
          </a:p>
          <a:p>
            <a:r>
              <a:rPr lang="en-GB" sz="2600" dirty="0"/>
              <a:t>The tea is produced in Malaysia.</a:t>
            </a:r>
          </a:p>
          <a:p>
            <a:r>
              <a:rPr lang="en-GB" sz="2600" dirty="0"/>
              <a:t>Tea is produced in Malaysia.</a:t>
            </a:r>
          </a:p>
          <a:p>
            <a:endParaRPr lang="en-GB" sz="2600" dirty="0"/>
          </a:p>
          <a:p>
            <a:r>
              <a:rPr lang="en-GB" sz="2600" dirty="0"/>
              <a:t>I dropped my keys in the river.</a:t>
            </a:r>
          </a:p>
          <a:p>
            <a:r>
              <a:rPr lang="en-GB" sz="2600" dirty="0"/>
              <a:t>I dropped my keys in a river.</a:t>
            </a:r>
          </a:p>
          <a:p>
            <a:endParaRPr lang="en-GB" sz="2600" dirty="0"/>
          </a:p>
          <a:p>
            <a:r>
              <a:rPr lang="en-GB" sz="2600" dirty="0"/>
              <a:t>Sarah works for the college.</a:t>
            </a:r>
          </a:p>
          <a:p>
            <a:r>
              <a:rPr lang="en-GB" sz="2600" dirty="0"/>
              <a:t>Sarah works for a college.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409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Pronunciation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5400" dirty="0"/>
              <a:t>Have you got </a:t>
            </a:r>
            <a:r>
              <a:rPr lang="en-GB" sz="5400" dirty="0">
                <a:solidFill>
                  <a:srgbClr val="FF0000"/>
                </a:solidFill>
              </a:rPr>
              <a:t>the keys</a:t>
            </a:r>
            <a:r>
              <a:rPr lang="en-GB" sz="5400" dirty="0"/>
              <a:t>?</a:t>
            </a:r>
          </a:p>
          <a:p>
            <a:endParaRPr lang="en-GB" sz="5400" dirty="0"/>
          </a:p>
          <a:p>
            <a:r>
              <a:rPr lang="en-GB" sz="5400" dirty="0"/>
              <a:t>Have you arrived at </a:t>
            </a:r>
            <a:r>
              <a:rPr lang="en-GB" sz="5400" dirty="0">
                <a:solidFill>
                  <a:srgbClr val="FF0000"/>
                </a:solidFill>
              </a:rPr>
              <a:t>the airport</a:t>
            </a:r>
            <a:r>
              <a:rPr lang="en-GB" sz="5400" dirty="0"/>
              <a:t> yet?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990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Match the beginning and end of the sentences.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41168"/>
          </a:xfrm>
        </p:spPr>
        <p:txBody>
          <a:bodyPr numCol="2"/>
          <a:lstStyle/>
          <a:p>
            <a:pPr marL="571500" indent="-457200">
              <a:buFont typeface="+mj-lt"/>
              <a:buAutoNum type="arabicPeriod"/>
            </a:pPr>
            <a:r>
              <a:rPr lang="en-GB" dirty="0"/>
              <a:t>I think football…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I think the football…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The man that lives next door…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A man at work…</a:t>
            </a:r>
          </a:p>
          <a:p>
            <a:pPr marL="571500" indent="-457200">
              <a:buFont typeface="+mj-lt"/>
              <a:buAutoNum type="arabicPeriod"/>
            </a:pPr>
            <a:endParaRPr lang="en-GB" dirty="0"/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I used to read a lot of…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The best book I have ever read was…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My hobbies include watching…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She fell asleep whilst watching…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…thrillers.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- I don’t know who – has won some money.</a:t>
            </a:r>
          </a:p>
          <a:p>
            <a:pPr marL="571500" indent="-457200">
              <a:buFont typeface="+mj-lt"/>
              <a:buAutoNum type="alphaLcParenR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…movies.</a:t>
            </a:r>
          </a:p>
          <a:p>
            <a:pPr marL="571500" indent="-457200">
              <a:buFont typeface="+mj-lt"/>
              <a:buAutoNum type="alphaLcParenR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…is a bit boring.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…a thriller.</a:t>
            </a:r>
          </a:p>
          <a:p>
            <a:pPr marL="571500" indent="-457200">
              <a:buFont typeface="+mj-lt"/>
              <a:buAutoNum type="alphaLcParenR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…always plays loud music.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…belongs to Ron.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…a movie</a:t>
            </a:r>
          </a:p>
        </p:txBody>
      </p:sp>
    </p:spTree>
    <p:extLst>
      <p:ext uri="{BB962C8B-B14F-4D97-AF65-F5344CB8AC3E}">
        <p14:creationId xmlns:p14="http://schemas.microsoft.com/office/powerpoint/2010/main" val="67051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Match the beginning and end of the sentences. Answers.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257800"/>
          </a:xfrm>
        </p:spPr>
        <p:txBody>
          <a:bodyPr numCol="2">
            <a:normAutofit lnSpcReduction="10000"/>
          </a:bodyPr>
          <a:lstStyle/>
          <a:p>
            <a:pPr marL="571500" indent="-457200">
              <a:buFont typeface="+mj-lt"/>
              <a:buAutoNum type="arabicPeriod"/>
            </a:pPr>
            <a:r>
              <a:rPr lang="en-GB" dirty="0"/>
              <a:t>I think football…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I think the football…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The man that lives next door…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A man at work…</a:t>
            </a:r>
          </a:p>
          <a:p>
            <a:pPr marL="571500" indent="-457200">
              <a:buFont typeface="+mj-lt"/>
              <a:buAutoNum type="arabicPeriod"/>
            </a:pPr>
            <a:endParaRPr lang="en-GB" dirty="0"/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I used to read a lot of…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The best book I have ever read was…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My hobbies include watching…</a:t>
            </a:r>
          </a:p>
          <a:p>
            <a:pPr marL="571500" indent="-457200">
              <a:buFont typeface="+mj-lt"/>
              <a:buAutoNum type="arabicPeriod"/>
            </a:pPr>
            <a:r>
              <a:rPr lang="en-GB" dirty="0"/>
              <a:t>She fell asleep whilst watching…</a:t>
            </a:r>
          </a:p>
          <a:p>
            <a:pPr marL="571500" indent="-457200">
              <a:buFont typeface="+mj-lt"/>
              <a:buAutoNum type="arabicPeriod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Is a bit boring.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Belongs to Ron.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Is always playing loud music.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I don’t know who – has won some money.</a:t>
            </a:r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Thrillers.</a:t>
            </a:r>
          </a:p>
          <a:p>
            <a:pPr marL="571500" indent="-457200">
              <a:buFont typeface="+mj-lt"/>
              <a:buAutoNum type="alphaLcParenR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A thriller.</a:t>
            </a:r>
          </a:p>
          <a:p>
            <a:pPr marL="571500" indent="-457200">
              <a:buFont typeface="+mj-lt"/>
              <a:buAutoNum type="alphaLcParenR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Movies.</a:t>
            </a:r>
          </a:p>
          <a:p>
            <a:pPr marL="571500" indent="-457200">
              <a:buFont typeface="+mj-lt"/>
              <a:buAutoNum type="alphaLcParenR"/>
            </a:pPr>
            <a:endParaRPr lang="en-GB" dirty="0"/>
          </a:p>
          <a:p>
            <a:pPr marL="571500" indent="-457200">
              <a:buFont typeface="+mj-lt"/>
              <a:buAutoNum type="alphaLcParenR"/>
            </a:pPr>
            <a:r>
              <a:rPr lang="en-GB" dirty="0"/>
              <a:t>A movie.</a:t>
            </a:r>
          </a:p>
          <a:p>
            <a:pPr marL="571500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22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7620000" cy="5256584"/>
          </a:xfrm>
        </p:spPr>
        <p:txBody>
          <a:bodyPr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GB" sz="2400" dirty="0"/>
              <a:t>My family and I live in </a:t>
            </a:r>
            <a:r>
              <a:rPr lang="en-GB" sz="2400" u="sng" dirty="0"/>
              <a:t>_____ </a:t>
            </a:r>
            <a:r>
              <a:rPr lang="en-GB" sz="2400" dirty="0"/>
              <a:t>town. Although it is a small place, everyone does interesting things and helps each other. I cannot imagine that I will ever leave</a:t>
            </a:r>
            <a:r>
              <a:rPr lang="en-GB" sz="2400" u="sng" dirty="0"/>
              <a:t> _____  </a:t>
            </a:r>
            <a:r>
              <a:rPr lang="en-GB" sz="2400" dirty="0"/>
              <a:t>town. I work in </a:t>
            </a:r>
            <a:r>
              <a:rPr lang="en-GB" sz="2400" u="sng" dirty="0"/>
              <a:t>_____  </a:t>
            </a:r>
            <a:r>
              <a:rPr lang="en-GB" sz="2400" dirty="0"/>
              <a:t>aircraft engineering company as a production clerk. Everyday I come home at around 7:30, except for Tuesday and Thursday when I have</a:t>
            </a:r>
            <a:r>
              <a:rPr lang="en-GB" sz="2400" u="sng" dirty="0"/>
              <a:t> _____  </a:t>
            </a:r>
            <a:r>
              <a:rPr lang="en-GB" sz="2400" dirty="0"/>
              <a:t>class at </a:t>
            </a:r>
            <a:r>
              <a:rPr lang="en-GB" sz="2400" u="sng" dirty="0"/>
              <a:t>_____  </a:t>
            </a:r>
            <a:r>
              <a:rPr lang="en-GB" sz="2400" dirty="0"/>
              <a:t>language school. My teacher at </a:t>
            </a:r>
            <a:r>
              <a:rPr lang="en-GB" sz="2400" u="sng" dirty="0"/>
              <a:t>_____ </a:t>
            </a:r>
            <a:r>
              <a:rPr lang="en-GB" sz="2400" dirty="0"/>
              <a:t>language school is very kind and I have </a:t>
            </a:r>
            <a:r>
              <a:rPr lang="en-GB" sz="2400" u="sng" dirty="0"/>
              <a:t>_____</a:t>
            </a:r>
            <a:r>
              <a:rPr lang="en-GB" sz="2400" dirty="0"/>
              <a:t> good friend in the class who comes from Turkey.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E604BB-222B-45EF-8014-89222C26AB37}"/>
              </a:ext>
            </a:extLst>
          </p:cNvPr>
          <p:cNvSpPr txBox="1">
            <a:spLocks/>
          </p:cNvSpPr>
          <p:nvPr/>
        </p:nvSpPr>
        <p:spPr>
          <a:xfrm>
            <a:off x="251520" y="0"/>
            <a:ext cx="82809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Text 1 – Fill in the missing articles </a:t>
            </a:r>
          </a:p>
        </p:txBody>
      </p:sp>
    </p:spTree>
    <p:extLst>
      <p:ext uri="{BB962C8B-B14F-4D97-AF65-F5344CB8AC3E}">
        <p14:creationId xmlns:p14="http://schemas.microsoft.com/office/powerpoint/2010/main" val="384739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280920" cy="1143000"/>
          </a:xfrm>
        </p:spPr>
        <p:txBody>
          <a:bodyPr/>
          <a:lstStyle/>
          <a:p>
            <a:r>
              <a:rPr lang="en-GB" dirty="0"/>
              <a:t>Text 2 – Fill in the missing articles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z="2800" dirty="0"/>
              <a:t>I work as an accountant in </a:t>
            </a:r>
            <a:r>
              <a:rPr lang="en-GB" sz="2800" u="sng" dirty="0"/>
              <a:t>_____</a:t>
            </a:r>
            <a:r>
              <a:rPr lang="en-GB" sz="2800" dirty="0"/>
              <a:t> foreign company. My duties are to prepare </a:t>
            </a:r>
            <a:r>
              <a:rPr lang="en-GB" sz="2800" u="sng" dirty="0"/>
              <a:t>_____ </a:t>
            </a:r>
            <a:r>
              <a:rPr lang="en-GB" sz="2800" dirty="0"/>
              <a:t>budgets and financial reports and also to maintain </a:t>
            </a:r>
            <a:r>
              <a:rPr lang="en-GB" sz="2800" u="sng" dirty="0"/>
              <a:t>_____</a:t>
            </a:r>
            <a:r>
              <a:rPr lang="en-GB" sz="2800" dirty="0"/>
              <a:t> bank accounts of </a:t>
            </a:r>
            <a:r>
              <a:rPr lang="en-GB" sz="2800" u="sng" dirty="0"/>
              <a:t>_____ </a:t>
            </a:r>
            <a:r>
              <a:rPr lang="en-GB" sz="2800" dirty="0"/>
              <a:t>company.  At present, I am in charge of </a:t>
            </a:r>
            <a:r>
              <a:rPr lang="en-GB" sz="2800" u="sng" dirty="0"/>
              <a:t>_____ </a:t>
            </a:r>
            <a:r>
              <a:rPr lang="en-GB" sz="2800" dirty="0"/>
              <a:t>big project to build </a:t>
            </a:r>
            <a:r>
              <a:rPr lang="en-GB" sz="2800" u="sng" dirty="0"/>
              <a:t>_____</a:t>
            </a:r>
            <a:r>
              <a:rPr lang="en-GB" sz="2800" dirty="0"/>
              <a:t> factory in a small town. I will have to prepare cost reports for </a:t>
            </a:r>
            <a:r>
              <a:rPr lang="en-GB" sz="2800" u="sng" dirty="0"/>
              <a:t>_____</a:t>
            </a:r>
            <a:r>
              <a:rPr lang="en-GB" sz="2800" dirty="0"/>
              <a:t> project on a monthly basis. </a:t>
            </a:r>
            <a:endParaRPr lang="en-GB" sz="2800" u="sng" dirty="0"/>
          </a:p>
        </p:txBody>
      </p:sp>
    </p:spTree>
    <p:extLst>
      <p:ext uri="{BB962C8B-B14F-4D97-AF65-F5344CB8AC3E}">
        <p14:creationId xmlns:p14="http://schemas.microsoft.com/office/powerpoint/2010/main" val="739001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CCFC7-5AD1-4CDD-9570-C6B1EAFCC0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35FC87-EC5C-44AE-823A-970CF4DB64F8}">
  <ds:schemaRefs>
    <ds:schemaRef ds:uri="d07cdbcb-6bf8-4229-9f51-710a061aab9f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3617593f-8dae-4122-a698-17231987a4d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8B1DE1D-D246-422E-B8D7-E721F9C74464}"/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436</TotalTime>
  <Words>707</Words>
  <Application>Microsoft Office PowerPoint</Application>
  <PresentationFormat>On-screen Show (4:3)</PresentationFormat>
  <Paragraphs>95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Adjacency</vt:lpstr>
      <vt:lpstr>Articles:</vt:lpstr>
      <vt:lpstr>Ask your partner these questions. Write down their full answers.</vt:lpstr>
      <vt:lpstr>Complete the table</vt:lpstr>
      <vt:lpstr>Compare the following sentences:</vt:lpstr>
      <vt:lpstr>Pronunciation</vt:lpstr>
      <vt:lpstr>Match the beginning and end of the sentences.</vt:lpstr>
      <vt:lpstr>Match the beginning and end of the sentences. Answers.</vt:lpstr>
      <vt:lpstr>PowerPoint Presentation</vt:lpstr>
      <vt:lpstr>Text 2 – Fill in the missing articles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Articles:</dc:title>
  <dc:creator>Ryan</dc:creator>
  <cp:lastModifiedBy>Veronique Whittle</cp:lastModifiedBy>
  <cp:revision>23</cp:revision>
  <dcterms:created xsi:type="dcterms:W3CDTF">2012-11-08T19:22:59Z</dcterms:created>
  <dcterms:modified xsi:type="dcterms:W3CDTF">2021-09-14T09:18:09Z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AuthorIds_UIVersion_3584">
    <vt:lpwstr>73</vt:lpwstr>
  </property>
  <property fmtid="{D5CDD505-2E9C-101B-9397-08002B2CF9AE}" pid="5" name="Order">
    <vt:r8>20127500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