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66" r:id="rId5"/>
    <p:sldId id="265" r:id="rId6"/>
    <p:sldId id="264" r:id="rId7"/>
    <p:sldId id="263" r:id="rId8"/>
    <p:sldId id="262" r:id="rId9"/>
    <p:sldId id="261" r:id="rId10"/>
    <p:sldId id="260" r:id="rId11"/>
    <p:sldId id="259" r:id="rId12"/>
    <p:sldId id="271" r:id="rId13"/>
    <p:sldId id="272" r:id="rId14"/>
    <p:sldId id="257" r:id="rId15"/>
    <p:sldId id="274" r:id="rId16"/>
    <p:sldId id="279" r:id="rId17"/>
    <p:sldId id="278" r:id="rId18"/>
    <p:sldId id="275" r:id="rId19"/>
    <p:sldId id="276" r:id="rId20"/>
    <p:sldId id="277" r:id="rId21"/>
    <p:sldId id="256" r:id="rId22"/>
    <p:sldId id="267" r:id="rId23"/>
    <p:sldId id="269" r:id="rId24"/>
    <p:sldId id="268"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C836FF-7E08-491E-BCAE-F7D474C6FE96}">
          <p14:sldIdLst>
            <p14:sldId id="266"/>
          </p14:sldIdLst>
        </p14:section>
        <p14:section name="Zoom slides" id="{B80DC5AF-126E-4408-9F09-AD3F1229FF5A}">
          <p14:sldIdLst>
            <p14:sldId id="265"/>
            <p14:sldId id="264"/>
            <p14:sldId id="263"/>
            <p14:sldId id="262"/>
            <p14:sldId id="261"/>
            <p14:sldId id="260"/>
          </p14:sldIdLst>
        </p14:section>
        <p14:section name="Ex 2" id="{721DF405-94AA-479D-BB14-48B68859B1C6}">
          <p14:sldIdLst>
            <p14:sldId id="259"/>
            <p14:sldId id="271"/>
            <p14:sldId id="272"/>
            <p14:sldId id="257"/>
            <p14:sldId id="274"/>
            <p14:sldId id="279"/>
            <p14:sldId id="278"/>
            <p14:sldId id="275"/>
            <p14:sldId id="276"/>
            <p14:sldId id="277"/>
            <p14:sldId id="256"/>
            <p14:sldId id="267"/>
            <p14:sldId id="269"/>
            <p14:sldId id="268"/>
            <p14:sldId id="281"/>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D8F8"/>
    <a:srgbClr val="D1E5FE"/>
    <a:srgbClr val="EDFCFF"/>
    <a:srgbClr val="D4EBFF"/>
    <a:srgbClr val="CFE5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1491FC-64FD-4F44-B94C-9C213745AC4D}" v="41" dt="2026-04-30T18:36:10.403"/>
    <p1510:client id="{F014642F-D84F-4C25-807F-92A944880EB9}" v="12" dt="2026-04-30T12:04:37.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60.png"/><Relationship Id="rId3" Type="http://schemas.openxmlformats.org/officeDocument/2006/relationships/image" Target="../media/image110.png"/><Relationship Id="rId7" Type="http://schemas.openxmlformats.org/officeDocument/2006/relationships/image" Target="../media/image31.pn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50.png"/><Relationship Id="rId5" Type="http://schemas.openxmlformats.org/officeDocument/2006/relationships/image" Target="../media/image210.pn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40.png"/><Relationship Id="rId14" Type="http://schemas.openxmlformats.org/officeDocument/2006/relationships/slide" Target="slide8.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0.png"/><Relationship Id="rId7" Type="http://schemas.openxmlformats.org/officeDocument/2006/relationships/image" Target="../media/image230.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2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image" Target="../media/image31.emf"/><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image" Target="../media/image33.png"/><Relationship Id="rId4" Type="http://schemas.openxmlformats.org/officeDocument/2006/relationships/image" Target="NULL"/></Relationships>
</file>

<file path=ppt/slides/_rels/slide2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C74967BF-E878-1D7C-4E50-6EE68DF29ED8}"/>
                  </a:ext>
                </a:extLst>
              </p:cNvPr>
              <p:cNvGraphicFramePr>
                <a:graphicFrameLocks noChangeAspect="1"/>
              </p:cNvGraphicFramePr>
              <p:nvPr>
                <p:extLst>
                  <p:ext uri="{D42A27DB-BD31-4B8C-83A1-F6EECF244321}">
                    <p14:modId xmlns:p14="http://schemas.microsoft.com/office/powerpoint/2010/main" val="1726919124"/>
                  </p:ext>
                </p:extLst>
              </p:nvPr>
            </p:nvGraphicFramePr>
            <p:xfrm>
              <a:off x="-15320" y="1056518"/>
              <a:ext cx="4056888" cy="2282000"/>
            </p:xfrm>
            <a:graphic>
              <a:graphicData uri="http://schemas.microsoft.com/office/powerpoint/2016/slidezoom">
                <pslz:sldZm>
                  <pslz:sldZmObj sldId="265" cId="1645231143">
                    <pslz:zmPr id="{2D25F228-0897-4513-8F77-54CD55408426}" transitionDur="1000">
                      <p166:blipFill xmlns:p166="http://schemas.microsoft.com/office/powerpoint/2016/6/main">
                        <a:blip r:embed="rId2"/>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3" name="Slide Zoom 2">
                <a:extLst>
                  <a:ext uri="{FF2B5EF4-FFF2-40B4-BE49-F238E27FC236}">
                    <a16:creationId xmlns:a16="http://schemas.microsoft.com/office/drawing/2014/main" id="{C74967BF-E878-1D7C-4E50-6EE68DF29ED8}"/>
                  </a:ext>
                </a:extLst>
              </p:cNvPr>
              <p:cNvPicPr>
                <a:picLocks noGrp="1" noRot="1" noChangeAspect="1" noMove="1" noResize="1" noEditPoints="1" noAdjustHandles="1" noChangeArrowheads="1" noChangeShapeType="1"/>
              </p:cNvPicPr>
              <p:nvPr/>
            </p:nvPicPr>
            <p:blipFill>
              <a:blip r:embed="rId3"/>
              <a:stretch>
                <a:fillRect/>
              </a:stretch>
            </p:blipFill>
            <p:spPr>
              <a:xfrm>
                <a:off x="-15320" y="1056518"/>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66785F3A-9488-54D8-1F23-E6531452C4F2}"/>
                  </a:ext>
                </a:extLst>
              </p:cNvPr>
              <p:cNvGraphicFramePr>
                <a:graphicFrameLocks noChangeAspect="1"/>
              </p:cNvGraphicFramePr>
              <p:nvPr>
                <p:extLst>
                  <p:ext uri="{D42A27DB-BD31-4B8C-83A1-F6EECF244321}">
                    <p14:modId xmlns:p14="http://schemas.microsoft.com/office/powerpoint/2010/main" val="3215321337"/>
                  </p:ext>
                </p:extLst>
              </p:nvPr>
            </p:nvGraphicFramePr>
            <p:xfrm>
              <a:off x="9304" y="3354303"/>
              <a:ext cx="4056888" cy="2282000"/>
            </p:xfrm>
            <a:graphic>
              <a:graphicData uri="http://schemas.microsoft.com/office/powerpoint/2016/slidezoom">
                <pslz:sldZm>
                  <pslz:sldZmObj sldId="264" cId="2644107122">
                    <pslz:zmPr id="{BC0C1756-9D4D-4CC5-BA92-CD10A0AA3022}" transitionDur="1000">
                      <p166:blipFill xmlns:p166="http://schemas.microsoft.com/office/powerpoint/2016/6/main">
                        <a:blip r:embed="rId4"/>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66785F3A-9488-54D8-1F23-E6531452C4F2}"/>
                  </a:ext>
                </a:extLst>
              </p:cNvPr>
              <p:cNvPicPr>
                <a:picLocks noGrp="1" noRot="1" noChangeAspect="1" noMove="1" noResize="1" noEditPoints="1" noAdjustHandles="1" noChangeArrowheads="1" noChangeShapeType="1"/>
              </p:cNvPicPr>
              <p:nvPr/>
            </p:nvPicPr>
            <p:blipFill>
              <a:blip r:embed="rId5"/>
              <a:stretch>
                <a:fillRect/>
              </a:stretch>
            </p:blipFill>
            <p:spPr>
              <a:xfrm>
                <a:off x="9304" y="3354303"/>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82162F3F-1145-1C44-AC04-0D5A91591986}"/>
                  </a:ext>
                </a:extLst>
              </p:cNvPr>
              <p:cNvGraphicFramePr>
                <a:graphicFrameLocks noChangeAspect="1"/>
              </p:cNvGraphicFramePr>
              <p:nvPr>
                <p:extLst>
                  <p:ext uri="{D42A27DB-BD31-4B8C-83A1-F6EECF244321}">
                    <p14:modId xmlns:p14="http://schemas.microsoft.com/office/powerpoint/2010/main" val="241187561"/>
                  </p:ext>
                </p:extLst>
              </p:nvPr>
            </p:nvGraphicFramePr>
            <p:xfrm>
              <a:off x="4056888" y="1059277"/>
              <a:ext cx="4056888" cy="2282000"/>
            </p:xfrm>
            <a:graphic>
              <a:graphicData uri="http://schemas.microsoft.com/office/powerpoint/2016/slidezoom">
                <pslz:sldZm>
                  <pslz:sldZmObj sldId="263" cId="4137619373">
                    <pslz:zmPr id="{A3344A22-03A2-4C99-9CCF-297E0E9BC353}" transitionDur="1000">
                      <p166:blipFill xmlns:p166="http://schemas.microsoft.com/office/powerpoint/2016/6/main">
                        <a:blip r:embed="rId6"/>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82162F3F-1145-1C44-AC04-0D5A91591986}"/>
                  </a:ext>
                </a:extLst>
              </p:cNvPr>
              <p:cNvPicPr>
                <a:picLocks noGrp="1" noRot="1" noChangeAspect="1" noMove="1" noResize="1" noEditPoints="1" noAdjustHandles="1" noChangeArrowheads="1" noChangeShapeType="1"/>
              </p:cNvPicPr>
              <p:nvPr/>
            </p:nvPicPr>
            <p:blipFill>
              <a:blip r:embed="rId7"/>
              <a:stretch>
                <a:fillRect/>
              </a:stretch>
            </p:blipFill>
            <p:spPr>
              <a:xfrm>
                <a:off x="4056888" y="1059277"/>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ED109EB2-7DE5-6AD8-6658-E8C098477A55}"/>
                  </a:ext>
                </a:extLst>
              </p:cNvPr>
              <p:cNvGraphicFramePr>
                <a:graphicFrameLocks noChangeAspect="1"/>
              </p:cNvGraphicFramePr>
              <p:nvPr>
                <p:extLst>
                  <p:ext uri="{D42A27DB-BD31-4B8C-83A1-F6EECF244321}">
                    <p14:modId xmlns:p14="http://schemas.microsoft.com/office/powerpoint/2010/main" val="875242215"/>
                  </p:ext>
                </p:extLst>
              </p:nvPr>
            </p:nvGraphicFramePr>
            <p:xfrm>
              <a:off x="4060176" y="3347790"/>
              <a:ext cx="4056888" cy="2282000"/>
            </p:xfrm>
            <a:graphic>
              <a:graphicData uri="http://schemas.microsoft.com/office/powerpoint/2016/slidezoom">
                <pslz:sldZm>
                  <pslz:sldZmObj sldId="262" cId="1175666892">
                    <pslz:zmPr id="{F2BC563C-D442-4C90-A266-C490CBC9C38E}" transitionDur="1000">
                      <p166:blipFill xmlns:p166="http://schemas.microsoft.com/office/powerpoint/2016/6/main">
                        <a:blip r:embed="rId8"/>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ED109EB2-7DE5-6AD8-6658-E8C098477A55}"/>
                  </a:ext>
                </a:extLst>
              </p:cNvPr>
              <p:cNvPicPr>
                <a:picLocks noGrp="1" noRot="1" noChangeAspect="1" noMove="1" noResize="1" noEditPoints="1" noAdjustHandles="1" noChangeArrowheads="1" noChangeShapeType="1"/>
              </p:cNvPicPr>
              <p:nvPr/>
            </p:nvPicPr>
            <p:blipFill>
              <a:blip r:embed="rId9"/>
              <a:stretch>
                <a:fillRect/>
              </a:stretch>
            </p:blipFill>
            <p:spPr>
              <a:xfrm>
                <a:off x="4060176" y="3347790"/>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9C9F8A8B-2752-8902-B4AF-679BECE6C009}"/>
                  </a:ext>
                </a:extLst>
              </p:cNvPr>
              <p:cNvGraphicFramePr>
                <a:graphicFrameLocks noChangeAspect="1"/>
              </p:cNvGraphicFramePr>
              <p:nvPr>
                <p:extLst>
                  <p:ext uri="{D42A27DB-BD31-4B8C-83A1-F6EECF244321}">
                    <p14:modId xmlns:p14="http://schemas.microsoft.com/office/powerpoint/2010/main" val="2021399748"/>
                  </p:ext>
                </p:extLst>
              </p:nvPr>
            </p:nvGraphicFramePr>
            <p:xfrm>
              <a:off x="8129096" y="1056518"/>
              <a:ext cx="4056888" cy="2282000"/>
            </p:xfrm>
            <a:graphic>
              <a:graphicData uri="http://schemas.microsoft.com/office/powerpoint/2016/slidezoom">
                <pslz:sldZm>
                  <pslz:sldZmObj sldId="261" cId="4215915267">
                    <pslz:zmPr id="{F8C618C3-505A-4F16-8067-1C1FDBCB3B6E}" transitionDur="1000">
                      <p166:blipFill xmlns:p166="http://schemas.microsoft.com/office/powerpoint/2016/6/main">
                        <a:blip r:embed="rId10"/>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9C9F8A8B-2752-8902-B4AF-679BECE6C009}"/>
                  </a:ext>
                </a:extLst>
              </p:cNvPr>
              <p:cNvPicPr>
                <a:picLocks noGrp="1" noRot="1" noChangeAspect="1" noMove="1" noResize="1" noEditPoints="1" noAdjustHandles="1" noChangeArrowheads="1" noChangeShapeType="1"/>
              </p:cNvPicPr>
              <p:nvPr/>
            </p:nvPicPr>
            <p:blipFill>
              <a:blip r:embed="rId11"/>
              <a:stretch>
                <a:fillRect/>
              </a:stretch>
            </p:blipFill>
            <p:spPr>
              <a:xfrm>
                <a:off x="8129096" y="1056518"/>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BB55B30F-2DC2-2093-C342-E571B5E46F21}"/>
                  </a:ext>
                </a:extLst>
              </p:cNvPr>
              <p:cNvGraphicFramePr>
                <a:graphicFrameLocks noChangeAspect="1"/>
              </p:cNvGraphicFramePr>
              <p:nvPr>
                <p:extLst>
                  <p:ext uri="{D42A27DB-BD31-4B8C-83A1-F6EECF244321}">
                    <p14:modId xmlns:p14="http://schemas.microsoft.com/office/powerpoint/2010/main" val="3957947453"/>
                  </p:ext>
                </p:extLst>
              </p:nvPr>
            </p:nvGraphicFramePr>
            <p:xfrm>
              <a:off x="8125808" y="3342271"/>
              <a:ext cx="4056888" cy="2282000"/>
            </p:xfrm>
            <a:graphic>
              <a:graphicData uri="http://schemas.microsoft.com/office/powerpoint/2016/slidezoom">
                <pslz:sldZm>
                  <pslz:sldZmObj sldId="260" cId="1454434428">
                    <pslz:zmPr id="{CCE5B63F-1105-4DAD-9C95-4A5C01A9BE99}" transitionDur="1000">
                      <p166:blipFill xmlns:p166="http://schemas.microsoft.com/office/powerpoint/2016/6/main">
                        <a:blip r:embed="rId12"/>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BB55B30F-2DC2-2093-C342-E571B5E46F21}"/>
                  </a:ext>
                </a:extLst>
              </p:cNvPr>
              <p:cNvPicPr>
                <a:picLocks noGrp="1" noRot="1" noChangeAspect="1" noMove="1" noResize="1" noEditPoints="1" noAdjustHandles="1" noChangeArrowheads="1" noChangeShapeType="1"/>
              </p:cNvPicPr>
              <p:nvPr/>
            </p:nvPicPr>
            <p:blipFill>
              <a:blip r:embed="rId13"/>
              <a:stretch>
                <a:fillRect/>
              </a:stretch>
            </p:blipFill>
            <p:spPr>
              <a:xfrm>
                <a:off x="8125808" y="3342271"/>
                <a:ext cx="4056888" cy="2282000"/>
              </a:xfrm>
              <a:prstGeom prst="rect">
                <a:avLst/>
              </a:prstGeom>
              <a:ln w="3175">
                <a:solidFill>
                  <a:prstClr val="ltGray"/>
                </a:solidFill>
              </a:ln>
            </p:spPr>
          </p:pic>
        </mc:Fallback>
      </mc:AlternateContent>
      <p:sp>
        <p:nvSpPr>
          <p:cNvPr id="14" name="Arrow: Right 13">
            <a:hlinkClick r:id="rId14" action="ppaction://hlinksldjump"/>
            <a:extLst>
              <a:ext uri="{FF2B5EF4-FFF2-40B4-BE49-F238E27FC236}">
                <a16:creationId xmlns:a16="http://schemas.microsoft.com/office/drawing/2014/main" id="{97FDAED7-0BAD-FABE-27C9-D36ED5CEB6AB}"/>
              </a:ext>
            </a:extLst>
          </p:cNvPr>
          <p:cNvSpPr/>
          <p:nvPr/>
        </p:nvSpPr>
        <p:spPr>
          <a:xfrm>
            <a:off x="10071737" y="5801482"/>
            <a:ext cx="1616765" cy="7023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Tree>
    <p:extLst>
      <p:ext uri="{BB962C8B-B14F-4D97-AF65-F5344CB8AC3E}">
        <p14:creationId xmlns:p14="http://schemas.microsoft.com/office/powerpoint/2010/main" val="1805680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89BC30-9FD4-457E-B294-F4FF8BC13DF6}"/>
              </a:ext>
            </a:extLst>
          </p:cNvPr>
          <p:cNvPicPr>
            <a:picLocks noChangeAspect="1"/>
          </p:cNvPicPr>
          <p:nvPr/>
        </p:nvPicPr>
        <p:blipFill>
          <a:blip r:embed="rId2"/>
          <a:stretch>
            <a:fillRect/>
          </a:stretch>
        </p:blipFill>
        <p:spPr>
          <a:xfrm>
            <a:off x="1060174" y="1187463"/>
            <a:ext cx="9862948" cy="4842275"/>
          </a:xfrm>
          <a:prstGeom prst="rect">
            <a:avLst/>
          </a:prstGeom>
        </p:spPr>
      </p:pic>
      <p:pic>
        <p:nvPicPr>
          <p:cNvPr id="3" name="Picture 2">
            <a:extLst>
              <a:ext uri="{FF2B5EF4-FFF2-40B4-BE49-F238E27FC236}">
                <a16:creationId xmlns:a16="http://schemas.microsoft.com/office/drawing/2014/main" id="{F37FE5D5-E216-44C0-A7C2-035989E1A993}"/>
              </a:ext>
            </a:extLst>
          </p:cNvPr>
          <p:cNvPicPr>
            <a:picLocks noChangeAspect="1"/>
          </p:cNvPicPr>
          <p:nvPr/>
        </p:nvPicPr>
        <p:blipFill>
          <a:blip r:embed="rId3"/>
          <a:stretch>
            <a:fillRect/>
          </a:stretch>
        </p:blipFill>
        <p:spPr>
          <a:xfrm>
            <a:off x="7955244" y="902542"/>
            <a:ext cx="4017059" cy="4650120"/>
          </a:xfrm>
          <a:prstGeom prst="rect">
            <a:avLst/>
          </a:prstGeom>
        </p:spPr>
      </p:pic>
    </p:spTree>
    <p:extLst>
      <p:ext uri="{BB962C8B-B14F-4D97-AF65-F5344CB8AC3E}">
        <p14:creationId xmlns:p14="http://schemas.microsoft.com/office/powerpoint/2010/main" val="1645231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FE5F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FD421A-A35D-4388-87A8-A98246C79494}"/>
              </a:ext>
            </a:extLst>
          </p:cNvPr>
          <p:cNvPicPr>
            <a:picLocks noChangeAspect="1"/>
          </p:cNvPicPr>
          <p:nvPr/>
        </p:nvPicPr>
        <p:blipFill>
          <a:blip r:embed="rId2"/>
          <a:stretch>
            <a:fillRect/>
          </a:stretch>
        </p:blipFill>
        <p:spPr>
          <a:xfrm>
            <a:off x="124964" y="1094704"/>
            <a:ext cx="11942073" cy="4687909"/>
          </a:xfrm>
          <a:prstGeom prst="rect">
            <a:avLst/>
          </a:prstGeom>
        </p:spPr>
      </p:pic>
    </p:spTree>
    <p:extLst>
      <p:ext uri="{BB962C8B-B14F-4D97-AF65-F5344CB8AC3E}">
        <p14:creationId xmlns:p14="http://schemas.microsoft.com/office/powerpoint/2010/main" val="2644107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4EB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BAF734-9FE1-4CAB-9796-E07D1C3D9E31}"/>
              </a:ext>
            </a:extLst>
          </p:cNvPr>
          <p:cNvPicPr>
            <a:picLocks noChangeAspect="1"/>
          </p:cNvPicPr>
          <p:nvPr/>
        </p:nvPicPr>
        <p:blipFill>
          <a:blip r:embed="rId2"/>
          <a:stretch>
            <a:fillRect/>
          </a:stretch>
        </p:blipFill>
        <p:spPr>
          <a:xfrm>
            <a:off x="756774" y="1030311"/>
            <a:ext cx="10678451" cy="4829576"/>
          </a:xfrm>
          <a:prstGeom prst="rect">
            <a:avLst/>
          </a:prstGeom>
        </p:spPr>
      </p:pic>
    </p:spTree>
    <p:extLst>
      <p:ext uri="{BB962C8B-B14F-4D97-AF65-F5344CB8AC3E}">
        <p14:creationId xmlns:p14="http://schemas.microsoft.com/office/powerpoint/2010/main" val="4137619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FC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F4A961-8CE2-4796-A0A5-8E2E744EA26D}"/>
              </a:ext>
            </a:extLst>
          </p:cNvPr>
          <p:cNvPicPr>
            <a:picLocks noChangeAspect="1"/>
          </p:cNvPicPr>
          <p:nvPr/>
        </p:nvPicPr>
        <p:blipFill>
          <a:blip r:embed="rId2"/>
          <a:stretch>
            <a:fillRect/>
          </a:stretch>
        </p:blipFill>
        <p:spPr>
          <a:xfrm>
            <a:off x="613851" y="886997"/>
            <a:ext cx="10964297" cy="5084005"/>
          </a:xfrm>
          <a:prstGeom prst="rect">
            <a:avLst/>
          </a:prstGeom>
        </p:spPr>
      </p:pic>
    </p:spTree>
    <p:extLst>
      <p:ext uri="{BB962C8B-B14F-4D97-AF65-F5344CB8AC3E}">
        <p14:creationId xmlns:p14="http://schemas.microsoft.com/office/powerpoint/2010/main" val="1175666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1E5FE"/>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6BD4A0-5AD0-4CD9-81C0-4AEB561D1BF8}"/>
              </a:ext>
            </a:extLst>
          </p:cNvPr>
          <p:cNvPicPr>
            <a:picLocks noChangeAspect="1"/>
          </p:cNvPicPr>
          <p:nvPr/>
        </p:nvPicPr>
        <p:blipFill>
          <a:blip r:embed="rId2"/>
          <a:stretch>
            <a:fillRect/>
          </a:stretch>
        </p:blipFill>
        <p:spPr>
          <a:xfrm>
            <a:off x="705731" y="1274934"/>
            <a:ext cx="10780538" cy="4308131"/>
          </a:xfrm>
          <a:prstGeom prst="rect">
            <a:avLst/>
          </a:prstGeom>
        </p:spPr>
      </p:pic>
    </p:spTree>
    <p:extLst>
      <p:ext uri="{BB962C8B-B14F-4D97-AF65-F5344CB8AC3E}">
        <p14:creationId xmlns:p14="http://schemas.microsoft.com/office/powerpoint/2010/main" val="4215915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1D8F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46F4E8-AC4A-4828-B94E-A0E33E0D0221}"/>
              </a:ext>
            </a:extLst>
          </p:cNvPr>
          <p:cNvPicPr>
            <a:picLocks noChangeAspect="1"/>
          </p:cNvPicPr>
          <p:nvPr/>
        </p:nvPicPr>
        <p:blipFill>
          <a:blip r:embed="rId2"/>
          <a:stretch>
            <a:fillRect/>
          </a:stretch>
        </p:blipFill>
        <p:spPr>
          <a:xfrm>
            <a:off x="603642" y="1550573"/>
            <a:ext cx="10984716" cy="3756854"/>
          </a:xfrm>
          <a:prstGeom prst="rect">
            <a:avLst/>
          </a:prstGeom>
        </p:spPr>
      </p:pic>
    </p:spTree>
    <p:extLst>
      <p:ext uri="{BB962C8B-B14F-4D97-AF65-F5344CB8AC3E}">
        <p14:creationId xmlns:p14="http://schemas.microsoft.com/office/powerpoint/2010/main" val="145443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8F2347-ECD2-43CA-A1C5-C265007512FB}"/>
              </a:ext>
            </a:extLst>
          </p:cNvPr>
          <p:cNvPicPr>
            <a:picLocks noChangeAspect="1"/>
          </p:cNvPicPr>
          <p:nvPr/>
        </p:nvPicPr>
        <p:blipFill>
          <a:blip r:embed="rId2"/>
          <a:stretch>
            <a:fillRect/>
          </a:stretch>
        </p:blipFill>
        <p:spPr>
          <a:xfrm>
            <a:off x="500062" y="1785937"/>
            <a:ext cx="11191875" cy="3286125"/>
          </a:xfrm>
          <a:prstGeom prst="rect">
            <a:avLst/>
          </a:prstGeom>
        </p:spPr>
      </p:pic>
      <p:sp>
        <p:nvSpPr>
          <p:cNvPr id="3" name="Arrow: Left 2">
            <a:hlinkClick r:id="rId3" action="ppaction://hlinksldjump"/>
            <a:extLst>
              <a:ext uri="{FF2B5EF4-FFF2-40B4-BE49-F238E27FC236}">
                <a16:creationId xmlns:a16="http://schemas.microsoft.com/office/drawing/2014/main" id="{289BABE1-90E6-4672-87FB-321B92FAC374}"/>
              </a:ext>
            </a:extLst>
          </p:cNvPr>
          <p:cNvSpPr/>
          <p:nvPr/>
        </p:nvSpPr>
        <p:spPr>
          <a:xfrm>
            <a:off x="7833603" y="5488705"/>
            <a:ext cx="1616766" cy="7023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
        <p:nvSpPr>
          <p:cNvPr id="4" name="Arrow: Right 3">
            <a:hlinkClick r:id="rId4" action="ppaction://hlinksldjump"/>
            <a:extLst>
              <a:ext uri="{FF2B5EF4-FFF2-40B4-BE49-F238E27FC236}">
                <a16:creationId xmlns:a16="http://schemas.microsoft.com/office/drawing/2014/main" id="{B9F0FA8D-F66A-4D02-839C-9F3090D9DC03}"/>
              </a:ext>
            </a:extLst>
          </p:cNvPr>
          <p:cNvSpPr/>
          <p:nvPr/>
        </p:nvSpPr>
        <p:spPr>
          <a:xfrm>
            <a:off x="9861184" y="5488705"/>
            <a:ext cx="1616765" cy="7023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Next</a:t>
            </a:r>
          </a:p>
        </p:txBody>
      </p:sp>
      <p:sp>
        <p:nvSpPr>
          <p:cNvPr id="5" name="TextBox 4">
            <a:extLst>
              <a:ext uri="{FF2B5EF4-FFF2-40B4-BE49-F238E27FC236}">
                <a16:creationId xmlns:a16="http://schemas.microsoft.com/office/drawing/2014/main" id="{4BF18254-02D8-4202-A529-9E03AB5B850A}"/>
              </a:ext>
            </a:extLst>
          </p:cNvPr>
          <p:cNvSpPr txBox="1"/>
          <p:nvPr/>
        </p:nvSpPr>
        <p:spPr>
          <a:xfrm>
            <a:off x="2349154" y="2372379"/>
            <a:ext cx="9342783" cy="461665"/>
          </a:xfrm>
          <a:prstGeom prst="rect">
            <a:avLst/>
          </a:prstGeom>
          <a:noFill/>
        </p:spPr>
        <p:txBody>
          <a:bodyPr wrap="square" rtlCol="0">
            <a:spAutoFit/>
          </a:bodyPr>
          <a:lstStyle/>
          <a:p>
            <a:r>
              <a:rPr lang="en-GB" sz="2400">
                <a:solidFill>
                  <a:srgbClr val="0070C0"/>
                </a:solidFill>
                <a:latin typeface="Segoe Print" panose="02000600000000000000" pitchFamily="2" charset="0"/>
              </a:rPr>
              <a:t>Getting reader to think about water and water pollution.</a:t>
            </a:r>
          </a:p>
        </p:txBody>
      </p:sp>
      <p:sp>
        <p:nvSpPr>
          <p:cNvPr id="6" name="TextBox 5">
            <a:extLst>
              <a:ext uri="{FF2B5EF4-FFF2-40B4-BE49-F238E27FC236}">
                <a16:creationId xmlns:a16="http://schemas.microsoft.com/office/drawing/2014/main" id="{7DDEB363-4E04-4E1D-BCA1-A0DCB11B5700}"/>
              </a:ext>
            </a:extLst>
          </p:cNvPr>
          <p:cNvSpPr txBox="1"/>
          <p:nvPr/>
        </p:nvSpPr>
        <p:spPr>
          <a:xfrm>
            <a:off x="2359300" y="2924009"/>
            <a:ext cx="7062996" cy="461665"/>
          </a:xfrm>
          <a:prstGeom prst="rect">
            <a:avLst/>
          </a:prstGeom>
          <a:noFill/>
        </p:spPr>
        <p:txBody>
          <a:bodyPr wrap="square" rtlCol="0">
            <a:spAutoFit/>
          </a:bodyPr>
          <a:lstStyle/>
          <a:p>
            <a:r>
              <a:rPr lang="en-GB" sz="2400">
                <a:solidFill>
                  <a:srgbClr val="0070C0"/>
                </a:solidFill>
                <a:latin typeface="Segoe Print" panose="02000600000000000000" pitchFamily="2" charset="0"/>
              </a:rPr>
              <a:t>Health effects of polluted drinking water.</a:t>
            </a:r>
          </a:p>
        </p:txBody>
      </p:sp>
      <p:sp>
        <p:nvSpPr>
          <p:cNvPr id="7" name="TextBox 6">
            <a:extLst>
              <a:ext uri="{FF2B5EF4-FFF2-40B4-BE49-F238E27FC236}">
                <a16:creationId xmlns:a16="http://schemas.microsoft.com/office/drawing/2014/main" id="{6FA9A6AF-DC38-4927-893A-F7605786B0BD}"/>
              </a:ext>
            </a:extLst>
          </p:cNvPr>
          <p:cNvSpPr txBox="1"/>
          <p:nvPr/>
        </p:nvSpPr>
        <p:spPr>
          <a:xfrm>
            <a:off x="2377250" y="3441992"/>
            <a:ext cx="7734160" cy="461665"/>
          </a:xfrm>
          <a:prstGeom prst="rect">
            <a:avLst/>
          </a:prstGeom>
          <a:noFill/>
        </p:spPr>
        <p:txBody>
          <a:bodyPr wrap="square" rtlCol="0">
            <a:spAutoFit/>
          </a:bodyPr>
          <a:lstStyle/>
          <a:p>
            <a:r>
              <a:rPr lang="en-GB" sz="2400" dirty="0">
                <a:solidFill>
                  <a:srgbClr val="0070C0"/>
                </a:solidFill>
                <a:latin typeface="Segoe Print" panose="02000600000000000000" pitchFamily="2" charset="0"/>
              </a:rPr>
              <a:t>Health effects of polluted sea water and beaches.</a:t>
            </a:r>
          </a:p>
        </p:txBody>
      </p:sp>
      <p:sp>
        <p:nvSpPr>
          <p:cNvPr id="8" name="TextBox 7">
            <a:extLst>
              <a:ext uri="{FF2B5EF4-FFF2-40B4-BE49-F238E27FC236}">
                <a16:creationId xmlns:a16="http://schemas.microsoft.com/office/drawing/2014/main" id="{8E6AF208-BBF4-4A28-AB28-98B54979CA36}"/>
              </a:ext>
            </a:extLst>
          </p:cNvPr>
          <p:cNvSpPr txBox="1"/>
          <p:nvPr/>
        </p:nvSpPr>
        <p:spPr>
          <a:xfrm>
            <a:off x="2372553" y="4023957"/>
            <a:ext cx="10862184" cy="461665"/>
          </a:xfrm>
          <a:prstGeom prst="rect">
            <a:avLst/>
          </a:prstGeom>
          <a:noFill/>
        </p:spPr>
        <p:txBody>
          <a:bodyPr wrap="square" rtlCol="0">
            <a:spAutoFit/>
          </a:bodyPr>
          <a:lstStyle/>
          <a:p>
            <a:r>
              <a:rPr lang="en-GB" sz="2000" dirty="0">
                <a:solidFill>
                  <a:srgbClr val="0070C0"/>
                </a:solidFill>
                <a:latin typeface="Segoe Print" panose="02000600000000000000" pitchFamily="2" charset="0"/>
              </a:rPr>
              <a:t>Effects of polluted sea water on wildlife and the effects of eating it</a:t>
            </a:r>
            <a:r>
              <a:rPr lang="en-GB" sz="2400" dirty="0">
                <a:solidFill>
                  <a:srgbClr val="0070C0"/>
                </a:solidFill>
                <a:latin typeface="Segoe Print" panose="02000600000000000000" pitchFamily="2" charset="0"/>
              </a:rPr>
              <a:t>.</a:t>
            </a:r>
          </a:p>
        </p:txBody>
      </p:sp>
      <p:sp>
        <p:nvSpPr>
          <p:cNvPr id="9" name="TextBox 8">
            <a:extLst>
              <a:ext uri="{FF2B5EF4-FFF2-40B4-BE49-F238E27FC236}">
                <a16:creationId xmlns:a16="http://schemas.microsoft.com/office/drawing/2014/main" id="{8BE1301A-11DD-4625-BC21-0D16EBFAB753}"/>
              </a:ext>
            </a:extLst>
          </p:cNvPr>
          <p:cNvSpPr txBox="1"/>
          <p:nvPr/>
        </p:nvSpPr>
        <p:spPr>
          <a:xfrm>
            <a:off x="2372553" y="4556527"/>
            <a:ext cx="4995656" cy="461665"/>
          </a:xfrm>
          <a:prstGeom prst="rect">
            <a:avLst/>
          </a:prstGeom>
          <a:noFill/>
        </p:spPr>
        <p:txBody>
          <a:bodyPr wrap="square" rtlCol="0">
            <a:spAutoFit/>
          </a:bodyPr>
          <a:lstStyle/>
          <a:p>
            <a:r>
              <a:rPr lang="en-GB" sz="2400">
                <a:solidFill>
                  <a:srgbClr val="0070C0"/>
                </a:solidFill>
                <a:latin typeface="Segoe Print" panose="02000600000000000000" pitchFamily="2" charset="0"/>
              </a:rPr>
              <a:t>Conclusion and call to action.</a:t>
            </a:r>
          </a:p>
        </p:txBody>
      </p:sp>
    </p:spTree>
    <p:extLst>
      <p:ext uri="{BB962C8B-B14F-4D97-AF65-F5344CB8AC3E}">
        <p14:creationId xmlns:p14="http://schemas.microsoft.com/office/powerpoint/2010/main" val="350275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FEA84A-3A18-ED89-F141-61E7013841DD}"/>
              </a:ext>
            </a:extLst>
          </p:cNvPr>
          <p:cNvSpPr/>
          <p:nvPr/>
        </p:nvSpPr>
        <p:spPr>
          <a:xfrm>
            <a:off x="713968" y="988476"/>
            <a:ext cx="4035012"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latin typeface="Tw Cen MT Condensed Extra Bold" panose="020B0803020202020204" pitchFamily="34" charset="0"/>
              </a:rPr>
              <a:t>Guide to planning</a:t>
            </a:r>
          </a:p>
        </p:txBody>
      </p:sp>
      <p:sp>
        <p:nvSpPr>
          <p:cNvPr id="5" name="Rectangle 1">
            <a:extLst>
              <a:ext uri="{FF2B5EF4-FFF2-40B4-BE49-F238E27FC236}">
                <a16:creationId xmlns:a16="http://schemas.microsoft.com/office/drawing/2014/main" id="{D5B149A7-0C3B-DB6A-663D-6D8B3768513D}"/>
              </a:ext>
            </a:extLst>
          </p:cNvPr>
          <p:cNvSpPr>
            <a:spLocks noChangeArrowheads="1"/>
          </p:cNvSpPr>
          <p:nvPr/>
        </p:nvSpPr>
        <p:spPr bwMode="auto">
          <a:xfrm>
            <a:off x="713967" y="1997839"/>
            <a:ext cx="1046530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An article is usually written for a newspaper or magazine. This unit deals with articles in which you are asked to state your opinion, make suggestions on a topic or give information about it. Below is a plan for an article of this type, with questions to guide you. </a:t>
            </a:r>
            <a:endParaRPr kumimoji="0" lang="en-US" altLang="en-US" sz="3600" b="0" i="0" u="none" strike="noStrike" cap="none" normalizeH="0" baseline="0" dirty="0">
              <a:ln>
                <a:noFill/>
              </a:ln>
              <a:solidFill>
                <a:schemeClr val="tx1"/>
              </a:solidFill>
              <a:effectLst/>
              <a:latin typeface="Abadi Extra Light" panose="020B0204020104020204" pitchFamily="34" charset="0"/>
            </a:endParaRPr>
          </a:p>
        </p:txBody>
      </p:sp>
    </p:spTree>
    <p:extLst>
      <p:ext uri="{BB962C8B-B14F-4D97-AF65-F5344CB8AC3E}">
        <p14:creationId xmlns:p14="http://schemas.microsoft.com/office/powerpoint/2010/main" val="2672785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Left 4">
            <a:hlinkClick r:id="" action="ppaction://hlinkshowjump?jump=previousslide"/>
            <a:extLst>
              <a:ext uri="{FF2B5EF4-FFF2-40B4-BE49-F238E27FC236}">
                <a16:creationId xmlns:a16="http://schemas.microsoft.com/office/drawing/2014/main" id="{DB692993-890F-7FB0-41AE-0CCE440F0FE0}"/>
              </a:ext>
            </a:extLst>
          </p:cNvPr>
          <p:cNvSpPr/>
          <p:nvPr/>
        </p:nvSpPr>
        <p:spPr>
          <a:xfrm>
            <a:off x="7841579" y="6011096"/>
            <a:ext cx="1616766" cy="7023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
        <p:nvSpPr>
          <p:cNvPr id="6" name="Arrow: Right 5">
            <a:hlinkClick r:id="" action="ppaction://hlinkshowjump?jump=nextslide"/>
            <a:extLst>
              <a:ext uri="{FF2B5EF4-FFF2-40B4-BE49-F238E27FC236}">
                <a16:creationId xmlns:a16="http://schemas.microsoft.com/office/drawing/2014/main" id="{E919C89E-2562-6CF8-816F-E70689A6B9E6}"/>
              </a:ext>
            </a:extLst>
          </p:cNvPr>
          <p:cNvSpPr/>
          <p:nvPr/>
        </p:nvSpPr>
        <p:spPr>
          <a:xfrm>
            <a:off x="9897295" y="6073250"/>
            <a:ext cx="1616765" cy="7023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Next</a:t>
            </a:r>
          </a:p>
        </p:txBody>
      </p:sp>
      <p:pic>
        <p:nvPicPr>
          <p:cNvPr id="9" name="Picture 8">
            <a:extLst>
              <a:ext uri="{FF2B5EF4-FFF2-40B4-BE49-F238E27FC236}">
                <a16:creationId xmlns:a16="http://schemas.microsoft.com/office/drawing/2014/main" id="{3D72FE2A-7918-1124-ACBF-9EA533DDB10A}"/>
              </a:ext>
            </a:extLst>
          </p:cNvPr>
          <p:cNvPicPr>
            <a:picLocks noChangeAspect="1"/>
          </p:cNvPicPr>
          <p:nvPr/>
        </p:nvPicPr>
        <p:blipFill>
          <a:blip r:embed="rId2"/>
          <a:stretch>
            <a:fillRect/>
          </a:stretch>
        </p:blipFill>
        <p:spPr>
          <a:xfrm>
            <a:off x="425452" y="463329"/>
            <a:ext cx="11341096" cy="5252914"/>
          </a:xfrm>
          <a:prstGeom prst="rect">
            <a:avLst/>
          </a:prstGeom>
        </p:spPr>
      </p:pic>
    </p:spTree>
    <p:extLst>
      <p:ext uri="{BB962C8B-B14F-4D97-AF65-F5344CB8AC3E}">
        <p14:creationId xmlns:p14="http://schemas.microsoft.com/office/powerpoint/2010/main" val="19814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67FC24-4A4C-4495-AA08-6FEE6DBA5E16}"/>
              </a:ext>
            </a:extLst>
          </p:cNvPr>
          <p:cNvPicPr>
            <a:picLocks noChangeAspect="1"/>
          </p:cNvPicPr>
          <p:nvPr/>
        </p:nvPicPr>
        <p:blipFill>
          <a:blip r:embed="rId2"/>
          <a:stretch>
            <a:fillRect/>
          </a:stretch>
        </p:blipFill>
        <p:spPr>
          <a:xfrm>
            <a:off x="528034" y="0"/>
            <a:ext cx="11414848" cy="6555545"/>
          </a:xfrm>
          <a:prstGeom prst="rect">
            <a:avLst/>
          </a:prstGeom>
        </p:spPr>
      </p:pic>
      <p:sp>
        <p:nvSpPr>
          <p:cNvPr id="3" name="Arrow: Left 2">
            <a:hlinkClick r:id="" action="ppaction://hlinkshowjump?jump=previousslide"/>
            <a:extLst>
              <a:ext uri="{FF2B5EF4-FFF2-40B4-BE49-F238E27FC236}">
                <a16:creationId xmlns:a16="http://schemas.microsoft.com/office/drawing/2014/main" id="{16F467BE-91D0-CF80-0A5D-A942163E82EA}"/>
              </a:ext>
            </a:extLst>
          </p:cNvPr>
          <p:cNvSpPr/>
          <p:nvPr/>
        </p:nvSpPr>
        <p:spPr>
          <a:xfrm>
            <a:off x="7869714" y="6101385"/>
            <a:ext cx="1616766" cy="7023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
        <p:nvSpPr>
          <p:cNvPr id="4" name="Arrow: Right 3">
            <a:hlinkClick r:id="" action="ppaction://hlinkshowjump?jump=nextslide"/>
            <a:extLst>
              <a:ext uri="{FF2B5EF4-FFF2-40B4-BE49-F238E27FC236}">
                <a16:creationId xmlns:a16="http://schemas.microsoft.com/office/drawing/2014/main" id="{610DA430-5DB5-6183-5879-70192409B874}"/>
              </a:ext>
            </a:extLst>
          </p:cNvPr>
          <p:cNvSpPr/>
          <p:nvPr/>
        </p:nvSpPr>
        <p:spPr>
          <a:xfrm>
            <a:off x="9897295" y="6087320"/>
            <a:ext cx="1616765" cy="7023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Next</a:t>
            </a:r>
          </a:p>
        </p:txBody>
      </p:sp>
    </p:spTree>
    <p:extLst>
      <p:ext uri="{BB962C8B-B14F-4D97-AF65-F5344CB8AC3E}">
        <p14:creationId xmlns:p14="http://schemas.microsoft.com/office/powerpoint/2010/main" val="133606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2B0430-D22C-B988-01EB-6B315C494A40}"/>
              </a:ext>
            </a:extLst>
          </p:cNvPr>
          <p:cNvPicPr>
            <a:picLocks noChangeAspect="1"/>
          </p:cNvPicPr>
          <p:nvPr/>
        </p:nvPicPr>
        <p:blipFill>
          <a:blip r:embed="rId2"/>
          <a:stretch>
            <a:fillRect/>
          </a:stretch>
        </p:blipFill>
        <p:spPr>
          <a:xfrm>
            <a:off x="494518" y="1713349"/>
            <a:ext cx="11202963" cy="3431301"/>
          </a:xfrm>
          <a:prstGeom prst="rect">
            <a:avLst/>
          </a:prstGeom>
        </p:spPr>
      </p:pic>
    </p:spTree>
    <p:extLst>
      <p:ext uri="{BB962C8B-B14F-4D97-AF65-F5344CB8AC3E}">
        <p14:creationId xmlns:p14="http://schemas.microsoft.com/office/powerpoint/2010/main" val="658823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954397-5F1C-C701-65A2-54CB80DAE93D}"/>
              </a:ext>
            </a:extLst>
          </p:cNvPr>
          <p:cNvPicPr>
            <a:picLocks noChangeAspect="1"/>
          </p:cNvPicPr>
          <p:nvPr/>
        </p:nvPicPr>
        <p:blipFill>
          <a:blip r:embed="rId2"/>
          <a:stretch>
            <a:fillRect/>
          </a:stretch>
        </p:blipFill>
        <p:spPr>
          <a:xfrm>
            <a:off x="0" y="197155"/>
            <a:ext cx="7628166" cy="6463689"/>
          </a:xfrm>
          <a:prstGeom prst="rect">
            <a:avLst/>
          </a:prstGeom>
        </p:spPr>
      </p:pic>
      <p:pic>
        <p:nvPicPr>
          <p:cNvPr id="7" name="Picture 6">
            <a:extLst>
              <a:ext uri="{FF2B5EF4-FFF2-40B4-BE49-F238E27FC236}">
                <a16:creationId xmlns:a16="http://schemas.microsoft.com/office/drawing/2014/main" id="{900E966C-B12C-66D0-F14B-F6294A5D2C17}"/>
              </a:ext>
            </a:extLst>
          </p:cNvPr>
          <p:cNvPicPr>
            <a:picLocks noChangeAspect="1"/>
          </p:cNvPicPr>
          <p:nvPr/>
        </p:nvPicPr>
        <p:blipFill>
          <a:blip r:embed="rId3"/>
          <a:stretch>
            <a:fillRect/>
          </a:stretch>
        </p:blipFill>
        <p:spPr>
          <a:xfrm>
            <a:off x="3443916" y="1780658"/>
            <a:ext cx="8368500" cy="1648341"/>
          </a:xfrm>
          <a:prstGeom prst="rect">
            <a:avLst/>
          </a:prstGeom>
        </p:spPr>
      </p:pic>
    </p:spTree>
    <p:extLst>
      <p:ext uri="{BB962C8B-B14F-4D97-AF65-F5344CB8AC3E}">
        <p14:creationId xmlns:p14="http://schemas.microsoft.com/office/powerpoint/2010/main" val="3236993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ACB9F65C-B7C2-6B09-6E72-937240926F92}"/>
                  </a:ext>
                </a:extLst>
              </p:cNvPr>
              <p:cNvGraphicFramePr>
                <a:graphicFrameLocks noChangeAspect="1"/>
              </p:cNvGraphicFramePr>
              <p:nvPr>
                <p:extLst>
                  <p:ext uri="{D42A27DB-BD31-4B8C-83A1-F6EECF244321}">
                    <p14:modId xmlns:p14="http://schemas.microsoft.com/office/powerpoint/2010/main" val="1434685756"/>
                  </p:ext>
                </p:extLst>
              </p:nvPr>
            </p:nvGraphicFramePr>
            <p:xfrm>
              <a:off x="-16042" y="9730"/>
              <a:ext cx="5939691" cy="3341076"/>
            </p:xfrm>
            <a:graphic>
              <a:graphicData uri="http://schemas.microsoft.com/office/powerpoint/2016/slidezoom">
                <pslz:sldZm>
                  <pslz:sldZmObj sldId="275" cId="2865124844">
                    <pslz:zmPr id="{3FC56BCE-2CA2-4B50-8AF7-BE38E36CED68}" transitionDur="1000">
                      <p166:blipFill xmlns:p166="http://schemas.microsoft.com/office/powerpoint/2016/6/main">
                        <a:blip r:embed="rId2"/>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ACB9F65C-B7C2-6B09-6E72-937240926F92}"/>
                  </a:ext>
                </a:extLst>
              </p:cNvPr>
              <p:cNvPicPr>
                <a:picLocks noGrp="1" noRot="1" noChangeAspect="1" noMove="1" noResize="1" noEditPoints="1" noAdjustHandles="1" noChangeArrowheads="1" noChangeShapeType="1"/>
              </p:cNvPicPr>
              <p:nvPr/>
            </p:nvPicPr>
            <p:blipFill>
              <a:blip r:embed="rId3"/>
              <a:stretch>
                <a:fillRect/>
              </a:stretch>
            </p:blipFill>
            <p:spPr>
              <a:xfrm>
                <a:off x="-16042" y="9730"/>
                <a:ext cx="5939691"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BF509C48-81FD-1509-6D4F-525FEEA3754B}"/>
                  </a:ext>
                </a:extLst>
              </p:cNvPr>
              <p:cNvGraphicFramePr>
                <a:graphicFrameLocks noChangeAspect="1"/>
              </p:cNvGraphicFramePr>
              <p:nvPr>
                <p:extLst>
                  <p:ext uri="{D42A27DB-BD31-4B8C-83A1-F6EECF244321}">
                    <p14:modId xmlns:p14="http://schemas.microsoft.com/office/powerpoint/2010/main" val="972808380"/>
                  </p:ext>
                </p:extLst>
              </p:nvPr>
            </p:nvGraphicFramePr>
            <p:xfrm>
              <a:off x="6170441" y="0"/>
              <a:ext cx="5939691" cy="3341076"/>
            </p:xfrm>
            <a:graphic>
              <a:graphicData uri="http://schemas.microsoft.com/office/powerpoint/2016/slidezoom">
                <pslz:sldZm>
                  <pslz:sldZmObj sldId="276" cId="2408138369">
                    <pslz:zmPr id="{41422446-B070-4983-B08A-B40D34B087E1}" transitionDur="1000">
                      <p166:blipFill xmlns:p166="http://schemas.microsoft.com/office/powerpoint/2016/6/main">
                        <a:blip r:embed="rId4"/>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BF509C48-81FD-1509-6D4F-525FEEA3754B}"/>
                  </a:ext>
                </a:extLst>
              </p:cNvPr>
              <p:cNvPicPr>
                <a:picLocks noGrp="1" noRot="1" noChangeAspect="1" noMove="1" noResize="1" noEditPoints="1" noAdjustHandles="1" noChangeArrowheads="1" noChangeShapeType="1"/>
              </p:cNvPicPr>
              <p:nvPr/>
            </p:nvPicPr>
            <p:blipFill>
              <a:blip r:embed="rId5"/>
              <a:stretch>
                <a:fillRect/>
              </a:stretch>
            </p:blipFill>
            <p:spPr>
              <a:xfrm>
                <a:off x="6170441" y="0"/>
                <a:ext cx="5939691"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8FB8BA88-370F-4751-5CAC-2CC2EAFAD3FE}"/>
                  </a:ext>
                </a:extLst>
              </p:cNvPr>
              <p:cNvGraphicFramePr>
                <a:graphicFrameLocks noChangeAspect="1"/>
              </p:cNvGraphicFramePr>
              <p:nvPr>
                <p:extLst>
                  <p:ext uri="{D42A27DB-BD31-4B8C-83A1-F6EECF244321}">
                    <p14:modId xmlns:p14="http://schemas.microsoft.com/office/powerpoint/2010/main" val="3392397066"/>
                  </p:ext>
                </p:extLst>
              </p:nvPr>
            </p:nvGraphicFramePr>
            <p:xfrm>
              <a:off x="-16043" y="3493168"/>
              <a:ext cx="5939691" cy="3341076"/>
            </p:xfrm>
            <a:graphic>
              <a:graphicData uri="http://schemas.microsoft.com/office/powerpoint/2016/slidezoom">
                <pslz:sldZm>
                  <pslz:sldZmObj sldId="277" cId="3684104649">
                    <pslz:zmPr id="{8887A2E4-6476-421B-B258-ACC40ACCF7A3}" transitionDur="1000">
                      <p166:blipFill xmlns:p166="http://schemas.microsoft.com/office/powerpoint/2016/6/main">
                        <a:blip r:embed="rId6"/>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8FB8BA88-370F-4751-5CAC-2CC2EAFAD3FE}"/>
                  </a:ext>
                </a:extLst>
              </p:cNvPr>
              <p:cNvPicPr>
                <a:picLocks noGrp="1" noRot="1" noChangeAspect="1" noMove="1" noResize="1" noEditPoints="1" noAdjustHandles="1" noChangeArrowheads="1" noChangeShapeType="1"/>
              </p:cNvPicPr>
              <p:nvPr/>
            </p:nvPicPr>
            <p:blipFill>
              <a:blip r:embed="rId7"/>
              <a:stretch>
                <a:fillRect/>
              </a:stretch>
            </p:blipFill>
            <p:spPr>
              <a:xfrm>
                <a:off x="-16043" y="3493168"/>
                <a:ext cx="5939691" cy="3341076"/>
              </a:xfrm>
              <a:prstGeom prst="rect">
                <a:avLst/>
              </a:prstGeom>
              <a:ln w="3175">
                <a:solidFill>
                  <a:prstClr val="ltGray"/>
                </a:solidFill>
              </a:ln>
            </p:spPr>
          </p:pic>
        </mc:Fallback>
      </mc:AlternateContent>
      <p:sp>
        <p:nvSpPr>
          <p:cNvPr id="9" name="TextBox 8">
            <a:extLst>
              <a:ext uri="{FF2B5EF4-FFF2-40B4-BE49-F238E27FC236}">
                <a16:creationId xmlns:a16="http://schemas.microsoft.com/office/drawing/2014/main" id="{26EC3647-16D4-E5BC-086C-7E6EF9F66699}"/>
              </a:ext>
            </a:extLst>
          </p:cNvPr>
          <p:cNvSpPr txBox="1"/>
          <p:nvPr/>
        </p:nvSpPr>
        <p:spPr>
          <a:xfrm>
            <a:off x="6406337" y="2503357"/>
            <a:ext cx="4466421" cy="830997"/>
          </a:xfrm>
          <a:prstGeom prst="rect">
            <a:avLst/>
          </a:prstGeom>
          <a:noFill/>
        </p:spPr>
        <p:txBody>
          <a:bodyPr wrap="square" rtlCol="0">
            <a:spAutoFit/>
          </a:bodyPr>
          <a:lstStyle/>
          <a:p>
            <a:r>
              <a:rPr lang="en-GB" sz="4800" dirty="0">
                <a:latin typeface="Tw Cen MT Condensed Extra Bold" panose="020B0803020202020204" pitchFamily="34" charset="0"/>
              </a:rPr>
              <a:t>1E	2F	3A	4D	5B</a:t>
            </a:r>
          </a:p>
        </p:txBody>
      </p:sp>
      <p:pic>
        <p:nvPicPr>
          <p:cNvPr id="10" name="Show/Hide">
            <a:extLst>
              <a:ext uri="{FF2B5EF4-FFF2-40B4-BE49-F238E27FC236}">
                <a16:creationId xmlns:a16="http://schemas.microsoft.com/office/drawing/2014/main" id="{25D9EAD3-B086-382D-1142-8FF269C5AB92}"/>
              </a:ext>
            </a:extLst>
          </p:cNvPr>
          <p:cNvPicPr>
            <a:picLocks noChangeAspect="1"/>
          </p:cNvPicPr>
          <p:nvPr/>
        </p:nvPicPr>
        <p:blipFill>
          <a:blip r:embed="rId8"/>
          <a:stretch>
            <a:fillRect/>
          </a:stretch>
        </p:blipFill>
        <p:spPr>
          <a:xfrm>
            <a:off x="7710859" y="3958483"/>
            <a:ext cx="1857375" cy="1885950"/>
          </a:xfrm>
          <a:prstGeom prst="rect">
            <a:avLst/>
          </a:prstGeom>
        </p:spPr>
      </p:pic>
    </p:spTree>
    <p:extLst>
      <p:ext uri="{BB962C8B-B14F-4D97-AF65-F5344CB8AC3E}">
        <p14:creationId xmlns:p14="http://schemas.microsoft.com/office/powerpoint/2010/main" val="33639235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2DB3B6D-9C52-4CB0-5988-2C83DC2E4BD0}"/>
              </a:ext>
            </a:extLst>
          </p:cNvPr>
          <p:cNvSpPr>
            <a:spLocks noChangeArrowheads="1"/>
          </p:cNvSpPr>
          <p:nvPr/>
        </p:nvSpPr>
        <p:spPr bwMode="auto">
          <a:xfrm>
            <a:off x="475938" y="995865"/>
            <a:ext cx="11240123" cy="4866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1 ___ Obviously, we're not doing enough to protect them. So, don't you think it's about time we became more serious about protecting wildlife? </a:t>
            </a:r>
            <a:b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br>
            <a:b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b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2 ___ We shouldn't destroy or pollute the natural habitats of animals. Animals need their natural habitat to survive. Instead of cutting down forests, we should plant new ones and try to reduce pollution as much as possible.</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b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3 ___ These places are called National Parks. Here hunting is banned and the public is usually not allowed to enter. However, not enough National Parks exist.</a:t>
            </a:r>
          </a:p>
        </p:txBody>
      </p:sp>
    </p:spTree>
    <p:extLst>
      <p:ext uri="{BB962C8B-B14F-4D97-AF65-F5344CB8AC3E}">
        <p14:creationId xmlns:p14="http://schemas.microsoft.com/office/powerpoint/2010/main" val="2865124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4BB588-920C-17A6-268A-ECABC0994318}"/>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4DF1E2A4-8A5C-3599-7E25-8E4F859DF0F0}"/>
              </a:ext>
            </a:extLst>
          </p:cNvPr>
          <p:cNvSpPr>
            <a:spLocks noChangeArrowheads="1"/>
          </p:cNvSpPr>
          <p:nvPr/>
        </p:nvSpPr>
        <p:spPr bwMode="auto">
          <a:xfrm>
            <a:off x="475938" y="1989727"/>
            <a:ext cx="11240123" cy="2878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4 ___ In fact, in a number of countries it is illegal to kill or capture animals that are considered rare or threatened. However, in some places, hunters continue to hunt, even though this is against the law. Therefore, stricter laws must be introduced.</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3200" dirty="0">
              <a:latin typeface="Abadi Extra Light" panose="020B0204020104020204" pitchFamily="34"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lang="en-US" altLang="en-US" sz="3200" dirty="0">
                <a:latin typeface="Abadi Extra Light" panose="020B0204020104020204" pitchFamily="34" charset="0"/>
                <a:cs typeface="Calibri" panose="020F0502020204030204" pitchFamily="34" charset="0"/>
              </a:rPr>
              <a:t>5</a:t>
            </a: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 ___ What a difference it would make if all of us co-operated to protect wildlife.</a:t>
            </a:r>
            <a:endParaRPr kumimoji="0" lang="en-US" altLang="en-US" sz="3200" b="0" i="0" u="none" strike="noStrike" cap="none" normalizeH="0" baseline="0" dirty="0">
              <a:ln>
                <a:noFill/>
              </a:ln>
              <a:solidFill>
                <a:schemeClr val="tx1"/>
              </a:solidFill>
              <a:effectLst/>
              <a:latin typeface="Abadi Extra Light" panose="020B0204020104020204" pitchFamily="34" charset="0"/>
            </a:endParaRPr>
          </a:p>
        </p:txBody>
      </p:sp>
    </p:spTree>
    <p:extLst>
      <p:ext uri="{BB962C8B-B14F-4D97-AF65-F5344CB8AC3E}">
        <p14:creationId xmlns:p14="http://schemas.microsoft.com/office/powerpoint/2010/main" val="2408138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0EC9BE-D08C-AD41-E055-A13F3D666F99}"/>
              </a:ext>
            </a:extLst>
          </p:cNvPr>
          <p:cNvPicPr>
            <a:picLocks noChangeAspect="1"/>
          </p:cNvPicPr>
          <p:nvPr/>
        </p:nvPicPr>
        <p:blipFill>
          <a:blip r:embed="rId2"/>
          <a:stretch>
            <a:fillRect/>
          </a:stretch>
        </p:blipFill>
        <p:spPr>
          <a:xfrm>
            <a:off x="239842" y="794480"/>
            <a:ext cx="5561351" cy="5321508"/>
          </a:xfrm>
          <a:prstGeom prst="rect">
            <a:avLst/>
          </a:prstGeom>
        </p:spPr>
      </p:pic>
      <p:pic>
        <p:nvPicPr>
          <p:cNvPr id="7" name="Picture 6">
            <a:extLst>
              <a:ext uri="{FF2B5EF4-FFF2-40B4-BE49-F238E27FC236}">
                <a16:creationId xmlns:a16="http://schemas.microsoft.com/office/drawing/2014/main" id="{6FCCFB24-2850-D4F6-BD3F-69FD0423CE07}"/>
              </a:ext>
            </a:extLst>
          </p:cNvPr>
          <p:cNvPicPr>
            <a:picLocks noChangeAspect="1"/>
          </p:cNvPicPr>
          <p:nvPr/>
        </p:nvPicPr>
        <p:blipFill>
          <a:blip r:embed="rId3"/>
          <a:stretch>
            <a:fillRect/>
          </a:stretch>
        </p:blipFill>
        <p:spPr>
          <a:xfrm>
            <a:off x="5921113" y="1034548"/>
            <a:ext cx="5851161" cy="4766645"/>
          </a:xfrm>
          <a:prstGeom prst="rect">
            <a:avLst/>
          </a:prstGeom>
        </p:spPr>
      </p:pic>
    </p:spTree>
    <p:extLst>
      <p:ext uri="{BB962C8B-B14F-4D97-AF65-F5344CB8AC3E}">
        <p14:creationId xmlns:p14="http://schemas.microsoft.com/office/powerpoint/2010/main" val="3684104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8ED6FF-7D8B-47C8-A209-E8DE1E8676C2}"/>
              </a:ext>
            </a:extLst>
          </p:cNvPr>
          <p:cNvPicPr>
            <a:picLocks noChangeAspect="1"/>
          </p:cNvPicPr>
          <p:nvPr/>
        </p:nvPicPr>
        <p:blipFill>
          <a:blip r:embed="rId2"/>
          <a:stretch>
            <a:fillRect/>
          </a:stretch>
        </p:blipFill>
        <p:spPr>
          <a:xfrm>
            <a:off x="239151" y="464234"/>
            <a:ext cx="11314631" cy="5205045"/>
          </a:xfrm>
          <a:prstGeom prst="rect">
            <a:avLst/>
          </a:prstGeom>
        </p:spPr>
      </p:pic>
      <p:sp>
        <p:nvSpPr>
          <p:cNvPr id="5" name="Arrow: Left 4">
            <a:hlinkClick r:id="" action="ppaction://hlinkshowjump?jump=previousslide"/>
            <a:extLst>
              <a:ext uri="{FF2B5EF4-FFF2-40B4-BE49-F238E27FC236}">
                <a16:creationId xmlns:a16="http://schemas.microsoft.com/office/drawing/2014/main" id="{C2125A22-A5A0-8932-D224-4F947451763B}"/>
              </a:ext>
            </a:extLst>
          </p:cNvPr>
          <p:cNvSpPr/>
          <p:nvPr/>
        </p:nvSpPr>
        <p:spPr>
          <a:xfrm>
            <a:off x="7869714" y="5834099"/>
            <a:ext cx="1616766" cy="7023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
        <p:nvSpPr>
          <p:cNvPr id="7" name="Arrow: Right 6">
            <a:hlinkClick r:id="" action="ppaction://hlinkshowjump?jump=nextslide"/>
            <a:extLst>
              <a:ext uri="{FF2B5EF4-FFF2-40B4-BE49-F238E27FC236}">
                <a16:creationId xmlns:a16="http://schemas.microsoft.com/office/drawing/2014/main" id="{18940097-6197-24AF-0C31-AE54C55E8650}"/>
              </a:ext>
            </a:extLst>
          </p:cNvPr>
          <p:cNvSpPr/>
          <p:nvPr/>
        </p:nvSpPr>
        <p:spPr>
          <a:xfrm>
            <a:off x="9897295" y="5834099"/>
            <a:ext cx="1616765" cy="7023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Next</a:t>
            </a:r>
          </a:p>
        </p:txBody>
      </p:sp>
    </p:spTree>
    <p:extLst>
      <p:ext uri="{BB962C8B-B14F-4D97-AF65-F5344CB8AC3E}">
        <p14:creationId xmlns:p14="http://schemas.microsoft.com/office/powerpoint/2010/main" val="2582758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6DADE1-483A-8BB5-2953-7CAE70C091F7}"/>
              </a:ext>
            </a:extLst>
          </p:cNvPr>
          <p:cNvSpPr txBox="1"/>
          <p:nvPr/>
        </p:nvSpPr>
        <p:spPr>
          <a:xfrm>
            <a:off x="1482969" y="648579"/>
            <a:ext cx="8267700" cy="5016758"/>
          </a:xfrm>
          <a:prstGeom prst="rect">
            <a:avLst/>
          </a:prstGeom>
          <a:noFill/>
        </p:spPr>
        <p:txBody>
          <a:bodyPr wrap="square" rtlCol="0">
            <a:spAutoFit/>
          </a:bodyPr>
          <a:lstStyle/>
          <a:p>
            <a:r>
              <a:rPr lang="en-GB" sz="4000" b="1" dirty="0">
                <a:latin typeface="Tw Cen MT Condensed Extra Bold" panose="020B0803020202020204" pitchFamily="34" charset="0"/>
              </a:rPr>
              <a:t>Addendum</a:t>
            </a:r>
          </a:p>
          <a:p>
            <a:r>
              <a:rPr lang="en-GB" sz="4000" dirty="0">
                <a:latin typeface="Abadi Extra Light" panose="020B0204020104020204" pitchFamily="34" charset="0"/>
              </a:rPr>
              <a:t>The article on water provoked quite some discussion in class. Some of the class felt it could have gone in a different direction and talked about water conservation.  With this in mind, here are a few vocabulary items and local knowledge to do with just that.</a:t>
            </a:r>
          </a:p>
        </p:txBody>
      </p:sp>
      <p:sp>
        <p:nvSpPr>
          <p:cNvPr id="3" name="Arrow: Left 2">
            <a:hlinkClick r:id="" action="ppaction://hlinkshowjump?jump=previousslide"/>
            <a:extLst>
              <a:ext uri="{FF2B5EF4-FFF2-40B4-BE49-F238E27FC236}">
                <a16:creationId xmlns:a16="http://schemas.microsoft.com/office/drawing/2014/main" id="{CDF5E356-DC4F-C966-AF19-D51E19C12842}"/>
              </a:ext>
            </a:extLst>
          </p:cNvPr>
          <p:cNvSpPr/>
          <p:nvPr/>
        </p:nvSpPr>
        <p:spPr>
          <a:xfrm>
            <a:off x="7869714" y="5834099"/>
            <a:ext cx="1616766" cy="7023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
        <p:nvSpPr>
          <p:cNvPr id="4" name="Arrow: Right 3">
            <a:hlinkClick r:id="" action="ppaction://hlinkshowjump?jump=nextslide"/>
            <a:extLst>
              <a:ext uri="{FF2B5EF4-FFF2-40B4-BE49-F238E27FC236}">
                <a16:creationId xmlns:a16="http://schemas.microsoft.com/office/drawing/2014/main" id="{576D8FC6-92E9-4784-7EA7-3B29E82F013C}"/>
              </a:ext>
            </a:extLst>
          </p:cNvPr>
          <p:cNvSpPr/>
          <p:nvPr/>
        </p:nvSpPr>
        <p:spPr>
          <a:xfrm>
            <a:off x="9897295" y="5834099"/>
            <a:ext cx="1616765" cy="7023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Next</a:t>
            </a:r>
          </a:p>
        </p:txBody>
      </p:sp>
    </p:spTree>
    <p:extLst>
      <p:ext uri="{BB962C8B-B14F-4D97-AF65-F5344CB8AC3E}">
        <p14:creationId xmlns:p14="http://schemas.microsoft.com/office/powerpoint/2010/main" val="231570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FEAB95-C7CB-4D90-AA4A-140D4A4F1669}"/>
              </a:ext>
            </a:extLst>
          </p:cNvPr>
          <p:cNvPicPr>
            <a:picLocks noChangeAspect="1"/>
          </p:cNvPicPr>
          <p:nvPr/>
        </p:nvPicPr>
        <p:blipFill>
          <a:blip r:embed="rId2"/>
          <a:stretch>
            <a:fillRect/>
          </a:stretch>
        </p:blipFill>
        <p:spPr>
          <a:xfrm>
            <a:off x="555249" y="401119"/>
            <a:ext cx="4900245" cy="3229707"/>
          </a:xfrm>
          <a:prstGeom prst="rect">
            <a:avLst/>
          </a:prstGeom>
        </p:spPr>
      </p:pic>
      <p:sp>
        <p:nvSpPr>
          <p:cNvPr id="5" name="TextBox 4">
            <a:extLst>
              <a:ext uri="{FF2B5EF4-FFF2-40B4-BE49-F238E27FC236}">
                <a16:creationId xmlns:a16="http://schemas.microsoft.com/office/drawing/2014/main" id="{C6102C04-B50F-46DB-A983-FF3A0835675F}"/>
              </a:ext>
            </a:extLst>
          </p:cNvPr>
          <p:cNvSpPr txBox="1"/>
          <p:nvPr/>
        </p:nvSpPr>
        <p:spPr>
          <a:xfrm>
            <a:off x="555249" y="3703444"/>
            <a:ext cx="2033752" cy="584775"/>
          </a:xfrm>
          <a:prstGeom prst="rect">
            <a:avLst/>
          </a:prstGeom>
          <a:noFill/>
        </p:spPr>
        <p:txBody>
          <a:bodyPr wrap="square" rtlCol="0">
            <a:spAutoFit/>
          </a:bodyPr>
          <a:lstStyle/>
          <a:p>
            <a:r>
              <a:rPr lang="en-GB" sz="3200" dirty="0">
                <a:latin typeface="Abadi Extra Light" panose="020B0204020104020204" pitchFamily="34" charset="0"/>
              </a:rPr>
              <a:t>Hosepipe</a:t>
            </a:r>
          </a:p>
        </p:txBody>
      </p:sp>
      <p:pic>
        <p:nvPicPr>
          <p:cNvPr id="7" name="Picture 6">
            <a:extLst>
              <a:ext uri="{FF2B5EF4-FFF2-40B4-BE49-F238E27FC236}">
                <a16:creationId xmlns:a16="http://schemas.microsoft.com/office/drawing/2014/main" id="{746C8C79-60F4-4113-93CC-2F29D859567E}"/>
              </a:ext>
            </a:extLst>
          </p:cNvPr>
          <p:cNvPicPr>
            <a:picLocks noChangeAspect="1"/>
          </p:cNvPicPr>
          <p:nvPr/>
        </p:nvPicPr>
        <p:blipFill>
          <a:blip r:embed="rId3"/>
          <a:stretch>
            <a:fillRect/>
          </a:stretch>
        </p:blipFill>
        <p:spPr>
          <a:xfrm>
            <a:off x="5641261" y="1200952"/>
            <a:ext cx="5365971" cy="2429874"/>
          </a:xfrm>
          <a:prstGeom prst="rect">
            <a:avLst/>
          </a:prstGeom>
        </p:spPr>
      </p:pic>
      <p:sp>
        <p:nvSpPr>
          <p:cNvPr id="8" name="TextBox 7">
            <a:extLst>
              <a:ext uri="{FF2B5EF4-FFF2-40B4-BE49-F238E27FC236}">
                <a16:creationId xmlns:a16="http://schemas.microsoft.com/office/drawing/2014/main" id="{58C14602-5607-4F77-B6EE-5F4CC3EE9456}"/>
              </a:ext>
            </a:extLst>
          </p:cNvPr>
          <p:cNvSpPr txBox="1"/>
          <p:nvPr/>
        </p:nvSpPr>
        <p:spPr>
          <a:xfrm>
            <a:off x="5774704" y="3703445"/>
            <a:ext cx="2033752" cy="584775"/>
          </a:xfrm>
          <a:prstGeom prst="rect">
            <a:avLst/>
          </a:prstGeom>
          <a:noFill/>
        </p:spPr>
        <p:txBody>
          <a:bodyPr wrap="square" rtlCol="0">
            <a:spAutoFit/>
          </a:bodyPr>
          <a:lstStyle/>
          <a:p>
            <a:r>
              <a:rPr lang="en-GB" sz="3200" dirty="0">
                <a:latin typeface="Abadi Extra Light" panose="020B0204020104020204" pitchFamily="34" charset="0"/>
              </a:rPr>
              <a:t>Sprinkler</a:t>
            </a:r>
          </a:p>
        </p:txBody>
      </p:sp>
      <p:sp>
        <p:nvSpPr>
          <p:cNvPr id="9" name="TextBox 8">
            <a:extLst>
              <a:ext uri="{FF2B5EF4-FFF2-40B4-BE49-F238E27FC236}">
                <a16:creationId xmlns:a16="http://schemas.microsoft.com/office/drawing/2014/main" id="{787BA8CA-49A8-47C3-BCC0-FB9E876FC9EF}"/>
              </a:ext>
            </a:extLst>
          </p:cNvPr>
          <p:cNvSpPr txBox="1"/>
          <p:nvPr/>
        </p:nvSpPr>
        <p:spPr>
          <a:xfrm>
            <a:off x="555249" y="4808483"/>
            <a:ext cx="10953579" cy="584775"/>
          </a:xfrm>
          <a:prstGeom prst="rect">
            <a:avLst/>
          </a:prstGeom>
          <a:noFill/>
        </p:spPr>
        <p:txBody>
          <a:bodyPr wrap="square" rtlCol="0">
            <a:spAutoFit/>
          </a:bodyPr>
          <a:lstStyle/>
          <a:p>
            <a:r>
              <a:rPr lang="en-GB" sz="3200" dirty="0">
                <a:latin typeface="Abadi Extra Light" panose="020B0204020104020204" pitchFamily="34" charset="0"/>
              </a:rPr>
              <a:t>The UK often has hosepipe and sprinkler bans to conserve water.</a:t>
            </a:r>
          </a:p>
        </p:txBody>
      </p:sp>
      <p:sp>
        <p:nvSpPr>
          <p:cNvPr id="10" name="Arrow: Left 9">
            <a:hlinkClick r:id="" action="ppaction://hlinkshowjump?jump=previousslide"/>
            <a:extLst>
              <a:ext uri="{FF2B5EF4-FFF2-40B4-BE49-F238E27FC236}">
                <a16:creationId xmlns:a16="http://schemas.microsoft.com/office/drawing/2014/main" id="{FB0BB816-544F-E32C-3BE5-40B7EFD8DC5C}"/>
              </a:ext>
            </a:extLst>
          </p:cNvPr>
          <p:cNvSpPr/>
          <p:nvPr/>
        </p:nvSpPr>
        <p:spPr>
          <a:xfrm>
            <a:off x="7869714" y="5834099"/>
            <a:ext cx="1616766" cy="7023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
        <p:nvSpPr>
          <p:cNvPr id="11" name="Arrow: Right 10">
            <a:hlinkClick r:id="" action="ppaction://hlinkshowjump?jump=nextslide"/>
            <a:extLst>
              <a:ext uri="{FF2B5EF4-FFF2-40B4-BE49-F238E27FC236}">
                <a16:creationId xmlns:a16="http://schemas.microsoft.com/office/drawing/2014/main" id="{25A4DBEA-8F88-FC1F-3BDB-AC3E4040A5CB}"/>
              </a:ext>
            </a:extLst>
          </p:cNvPr>
          <p:cNvSpPr/>
          <p:nvPr/>
        </p:nvSpPr>
        <p:spPr>
          <a:xfrm>
            <a:off x="9897295" y="5834099"/>
            <a:ext cx="1616765" cy="7023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Next</a:t>
            </a:r>
          </a:p>
        </p:txBody>
      </p:sp>
    </p:spTree>
    <p:extLst>
      <p:ext uri="{BB962C8B-B14F-4D97-AF65-F5344CB8AC3E}">
        <p14:creationId xmlns:p14="http://schemas.microsoft.com/office/powerpoint/2010/main" val="2524933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7EFFEB-F339-4FDB-ABCF-45F581DBFECC}"/>
              </a:ext>
            </a:extLst>
          </p:cNvPr>
          <p:cNvPicPr>
            <a:picLocks noChangeAspect="1"/>
          </p:cNvPicPr>
          <p:nvPr/>
        </p:nvPicPr>
        <p:blipFill>
          <a:blip r:embed="rId2"/>
          <a:stretch>
            <a:fillRect/>
          </a:stretch>
        </p:blipFill>
        <p:spPr>
          <a:xfrm>
            <a:off x="1479202" y="868427"/>
            <a:ext cx="7436325" cy="4175215"/>
          </a:xfrm>
          <a:prstGeom prst="rect">
            <a:avLst/>
          </a:prstGeom>
        </p:spPr>
      </p:pic>
      <p:sp>
        <p:nvSpPr>
          <p:cNvPr id="5" name="TextBox 4">
            <a:extLst>
              <a:ext uri="{FF2B5EF4-FFF2-40B4-BE49-F238E27FC236}">
                <a16:creationId xmlns:a16="http://schemas.microsoft.com/office/drawing/2014/main" id="{F5E87EFD-B869-4315-98D5-7993F6BAA0DD}"/>
              </a:ext>
            </a:extLst>
          </p:cNvPr>
          <p:cNvSpPr txBox="1"/>
          <p:nvPr/>
        </p:nvSpPr>
        <p:spPr>
          <a:xfrm>
            <a:off x="2181115" y="5043642"/>
            <a:ext cx="5788136" cy="646331"/>
          </a:xfrm>
          <a:prstGeom prst="rect">
            <a:avLst/>
          </a:prstGeom>
          <a:noFill/>
        </p:spPr>
        <p:txBody>
          <a:bodyPr wrap="square" rtlCol="0">
            <a:spAutoFit/>
          </a:bodyPr>
          <a:lstStyle/>
          <a:p>
            <a:r>
              <a:rPr lang="en-GB" sz="3600" b="1" dirty="0" err="1">
                <a:latin typeface="Tw Cen MT Condensed Extra Bold" panose="020B0803020202020204" pitchFamily="34" charset="0"/>
              </a:rPr>
              <a:t>Llanishen</a:t>
            </a:r>
            <a:r>
              <a:rPr lang="en-GB" sz="3600" b="1" dirty="0">
                <a:latin typeface="Tw Cen MT Condensed Extra Bold" panose="020B0803020202020204" pitchFamily="34" charset="0"/>
              </a:rPr>
              <a:t> reservoir, Cardiff</a:t>
            </a:r>
          </a:p>
        </p:txBody>
      </p:sp>
      <p:sp>
        <p:nvSpPr>
          <p:cNvPr id="8" name="TextBox 7">
            <a:extLst>
              <a:ext uri="{FF2B5EF4-FFF2-40B4-BE49-F238E27FC236}">
                <a16:creationId xmlns:a16="http://schemas.microsoft.com/office/drawing/2014/main" id="{E6145742-AD0B-502D-2962-CE71FF7916EF}"/>
              </a:ext>
            </a:extLst>
          </p:cNvPr>
          <p:cNvSpPr txBox="1"/>
          <p:nvPr/>
        </p:nvSpPr>
        <p:spPr>
          <a:xfrm>
            <a:off x="9226898" y="1847334"/>
            <a:ext cx="1847502" cy="2554545"/>
          </a:xfrm>
          <a:prstGeom prst="rect">
            <a:avLst/>
          </a:prstGeom>
          <a:noFill/>
        </p:spPr>
        <p:txBody>
          <a:bodyPr wrap="square">
            <a:spAutoFit/>
          </a:bodyPr>
          <a:lstStyle/>
          <a:p>
            <a:r>
              <a:rPr lang="en-GB" sz="3200" b="1" dirty="0"/>
              <a:t>Reservoir </a:t>
            </a:r>
            <a:r>
              <a:rPr lang="en-GB" sz="3200" dirty="0">
                <a:latin typeface="Abadi Extra Light" panose="020B0204020104020204" pitchFamily="34" charset="0"/>
              </a:rPr>
              <a:t>a place where water is stored.</a:t>
            </a:r>
          </a:p>
        </p:txBody>
      </p:sp>
      <p:sp>
        <p:nvSpPr>
          <p:cNvPr id="9" name="Arrow: Left 8">
            <a:hlinkClick r:id="" action="ppaction://hlinkshowjump?jump=previousslide"/>
            <a:extLst>
              <a:ext uri="{FF2B5EF4-FFF2-40B4-BE49-F238E27FC236}">
                <a16:creationId xmlns:a16="http://schemas.microsoft.com/office/drawing/2014/main" id="{5AE905A0-E65B-67B4-5D49-D6CC77783842}"/>
              </a:ext>
            </a:extLst>
          </p:cNvPr>
          <p:cNvSpPr/>
          <p:nvPr/>
        </p:nvSpPr>
        <p:spPr>
          <a:xfrm>
            <a:off x="7869714" y="5834099"/>
            <a:ext cx="1616766" cy="7023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Tree>
    <p:extLst>
      <p:ext uri="{BB962C8B-B14F-4D97-AF65-F5344CB8AC3E}">
        <p14:creationId xmlns:p14="http://schemas.microsoft.com/office/powerpoint/2010/main" val="664893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8F433A-5F70-A17E-1DE8-28F2944C7AEC}"/>
              </a:ext>
            </a:extLst>
          </p:cNvPr>
          <p:cNvPicPr>
            <a:picLocks noChangeAspect="1"/>
          </p:cNvPicPr>
          <p:nvPr/>
        </p:nvPicPr>
        <p:blipFill>
          <a:blip r:embed="rId2"/>
          <a:stretch>
            <a:fillRect/>
          </a:stretch>
        </p:blipFill>
        <p:spPr>
          <a:xfrm>
            <a:off x="712989" y="334729"/>
            <a:ext cx="9302983" cy="1994493"/>
          </a:xfrm>
          <a:prstGeom prst="rect">
            <a:avLst/>
          </a:prstGeom>
        </p:spPr>
      </p:pic>
      <p:sp>
        <p:nvSpPr>
          <p:cNvPr id="5" name="TextBox 4">
            <a:extLst>
              <a:ext uri="{FF2B5EF4-FFF2-40B4-BE49-F238E27FC236}">
                <a16:creationId xmlns:a16="http://schemas.microsoft.com/office/drawing/2014/main" id="{1CA6A2B0-B27A-0942-2E4A-7757D0128D6F}"/>
              </a:ext>
            </a:extLst>
          </p:cNvPr>
          <p:cNvSpPr txBox="1"/>
          <p:nvPr/>
        </p:nvSpPr>
        <p:spPr>
          <a:xfrm>
            <a:off x="712989" y="2607102"/>
            <a:ext cx="10070125"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Calibri" panose="020F0502020204030204"/>
                <a:ea typeface="+mn-ea"/>
                <a:cs typeface="+mn-cs"/>
              </a:rPr>
              <a:t>How often do you think about protecting the environment? You may not think it's important, but it is. Caring for the environment is part of everyday life, and ordinary people can make a real difference through simple actions in their own communities. This is what you can do.</a:t>
            </a:r>
          </a:p>
        </p:txBody>
      </p:sp>
    </p:spTree>
    <p:extLst>
      <p:ext uri="{BB962C8B-B14F-4D97-AF65-F5344CB8AC3E}">
        <p14:creationId xmlns:p14="http://schemas.microsoft.com/office/powerpoint/2010/main" val="338065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D8CF37-58DA-FB8C-47C9-A6B3C164D781}"/>
              </a:ext>
            </a:extLst>
          </p:cNvPr>
          <p:cNvPicPr>
            <a:picLocks noChangeAspect="1"/>
          </p:cNvPicPr>
          <p:nvPr/>
        </p:nvPicPr>
        <p:blipFill>
          <a:blip r:embed="rId2"/>
          <a:stretch>
            <a:fillRect/>
          </a:stretch>
        </p:blipFill>
        <p:spPr>
          <a:xfrm>
            <a:off x="0" y="234475"/>
            <a:ext cx="12192000" cy="1530157"/>
          </a:xfrm>
          <a:prstGeom prst="rect">
            <a:avLst/>
          </a:prstGeom>
        </p:spPr>
      </p:pic>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DBC230B6-9256-E905-9F18-40565F8CC8FC}"/>
                  </a:ext>
                </a:extLst>
              </p:cNvPr>
              <p:cNvGraphicFramePr>
                <a:graphicFrameLocks noChangeAspect="1"/>
              </p:cNvGraphicFramePr>
              <p:nvPr/>
            </p:nvGraphicFramePr>
            <p:xfrm>
              <a:off x="-15240" y="2824359"/>
              <a:ext cx="3688080" cy="2074545"/>
            </p:xfrm>
            <a:graphic>
              <a:graphicData uri="http://schemas.microsoft.com/office/powerpoint/2016/slidezoom">
                <pslz:sldZm>
                  <pslz:sldZmObj sldId="283" cId="2311385205">
                    <pslz:zmPr id="{C706F647-250B-4F05-BFE9-4341D8541774}" transitionDur="1000">
                      <p166:blipFill xmlns:p166="http://schemas.microsoft.com/office/powerpoint/2016/6/main">
                        <a:blip r:embed="rId3"/>
                        <a:stretch>
                          <a:fillRect/>
                        </a:stretch>
                      </p166:blipFill>
                      <p166:spPr xmlns:p166="http://schemas.microsoft.com/office/powerpoint/2016/6/main">
                        <a:xfrm>
                          <a:off x="0" y="0"/>
                          <a:ext cx="3688080" cy="2074545"/>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DBC230B6-9256-E905-9F18-40565F8CC8FC}"/>
                  </a:ext>
                </a:extLst>
              </p:cNvPr>
              <p:cNvPicPr>
                <a:picLocks noGrp="1" noRot="1" noChangeAspect="1" noMove="1" noResize="1" noEditPoints="1" noAdjustHandles="1" noChangeArrowheads="1" noChangeShapeType="1"/>
              </p:cNvPicPr>
              <p:nvPr/>
            </p:nvPicPr>
            <p:blipFill>
              <a:blip r:embed="rId4"/>
              <a:stretch>
                <a:fillRect/>
              </a:stretch>
            </p:blipFill>
            <p:spPr>
              <a:xfrm>
                <a:off x="-15240" y="2824359"/>
                <a:ext cx="3688080" cy="207454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C0FFEABC-2071-E06A-8ABA-397A40FBAD4A}"/>
                  </a:ext>
                </a:extLst>
              </p:cNvPr>
              <p:cNvGraphicFramePr>
                <a:graphicFrameLocks noChangeAspect="1"/>
              </p:cNvGraphicFramePr>
              <p:nvPr/>
            </p:nvGraphicFramePr>
            <p:xfrm>
              <a:off x="3947160" y="2760265"/>
              <a:ext cx="3688080" cy="2074545"/>
            </p:xfrm>
            <a:graphic>
              <a:graphicData uri="http://schemas.microsoft.com/office/powerpoint/2016/slidezoom">
                <pslz:sldZm>
                  <pslz:sldZmObj sldId="284" cId="487123411">
                    <pslz:zmPr id="{29413DFA-636F-404C-90A9-FF645531984E}" transitionDur="1000">
                      <p166:blipFill xmlns:p166="http://schemas.microsoft.com/office/powerpoint/2016/6/main">
                        <a:blip r:embed="rId5"/>
                        <a:stretch>
                          <a:fillRect/>
                        </a:stretch>
                      </p166:blipFill>
                      <p166:spPr xmlns:p166="http://schemas.microsoft.com/office/powerpoint/2016/6/main">
                        <a:xfrm>
                          <a:off x="0" y="0"/>
                          <a:ext cx="3688080" cy="2074545"/>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C0FFEABC-2071-E06A-8ABA-397A40FBAD4A}"/>
                  </a:ext>
                </a:extLst>
              </p:cNvPr>
              <p:cNvPicPr>
                <a:picLocks noGrp="1" noRot="1" noChangeAspect="1" noMove="1" noResize="1" noEditPoints="1" noAdjustHandles="1" noChangeArrowheads="1" noChangeShapeType="1"/>
              </p:cNvPicPr>
              <p:nvPr/>
            </p:nvPicPr>
            <p:blipFill>
              <a:blip r:embed="rId6"/>
              <a:stretch>
                <a:fillRect/>
              </a:stretch>
            </p:blipFill>
            <p:spPr>
              <a:xfrm>
                <a:off x="3947160" y="2760265"/>
                <a:ext cx="3688080" cy="207454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C4858EBD-80FB-1FBB-D9BF-5E13D2C3E81F}"/>
                  </a:ext>
                </a:extLst>
              </p:cNvPr>
              <p:cNvGraphicFramePr>
                <a:graphicFrameLocks noChangeAspect="1"/>
              </p:cNvGraphicFramePr>
              <p:nvPr/>
            </p:nvGraphicFramePr>
            <p:xfrm>
              <a:off x="7909560" y="2824359"/>
              <a:ext cx="4056888" cy="2282000"/>
            </p:xfrm>
            <a:graphic>
              <a:graphicData uri="http://schemas.microsoft.com/office/powerpoint/2016/slidezoom">
                <pslz:sldZm>
                  <pslz:sldZmObj sldId="285" cId="838488701">
                    <pslz:zmPr id="{9041179E-3C1F-40BB-951A-B9E93CC9BA96}" transitionDur="1000">
                      <p166:blipFill xmlns:p166="http://schemas.microsoft.com/office/powerpoint/2016/6/main">
                        <a:blip r:embed="rId7"/>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C4858EBD-80FB-1FBB-D9BF-5E13D2C3E81F}"/>
                  </a:ext>
                </a:extLst>
              </p:cNvPr>
              <p:cNvPicPr>
                <a:picLocks noGrp="1" noRot="1" noChangeAspect="1" noMove="1" noResize="1" noEditPoints="1" noAdjustHandles="1" noChangeArrowheads="1" noChangeShapeType="1"/>
              </p:cNvPicPr>
              <p:nvPr/>
            </p:nvPicPr>
            <p:blipFill>
              <a:blip r:embed="rId8"/>
              <a:stretch>
                <a:fillRect/>
              </a:stretch>
            </p:blipFill>
            <p:spPr>
              <a:xfrm>
                <a:off x="7909560" y="2824359"/>
                <a:ext cx="4056888" cy="2282000"/>
              </a:xfrm>
              <a:prstGeom prst="rect">
                <a:avLst/>
              </a:prstGeom>
              <a:ln w="3175">
                <a:solidFill>
                  <a:prstClr val="ltGray"/>
                </a:solidFill>
              </a:ln>
            </p:spPr>
          </p:pic>
        </mc:Fallback>
      </mc:AlternateContent>
    </p:spTree>
    <p:extLst>
      <p:ext uri="{BB962C8B-B14F-4D97-AF65-F5344CB8AC3E}">
        <p14:creationId xmlns:p14="http://schemas.microsoft.com/office/powerpoint/2010/main" val="1522436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912778-8F35-4F11-FD98-262691794205}"/>
              </a:ext>
            </a:extLst>
          </p:cNvPr>
          <p:cNvPicPr>
            <a:picLocks noChangeAspect="1"/>
          </p:cNvPicPr>
          <p:nvPr/>
        </p:nvPicPr>
        <p:blipFill>
          <a:blip r:embed="rId2"/>
          <a:stretch>
            <a:fillRect/>
          </a:stretch>
        </p:blipFill>
        <p:spPr>
          <a:xfrm>
            <a:off x="705731" y="75055"/>
            <a:ext cx="10780538" cy="6707890"/>
          </a:xfrm>
          <a:prstGeom prst="rect">
            <a:avLst/>
          </a:prstGeom>
        </p:spPr>
      </p:pic>
    </p:spTree>
    <p:extLst>
      <p:ext uri="{BB962C8B-B14F-4D97-AF65-F5344CB8AC3E}">
        <p14:creationId xmlns:p14="http://schemas.microsoft.com/office/powerpoint/2010/main" val="2311385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0DCF94-9A6E-E02F-56EA-6F0F68D65C6F}"/>
              </a:ext>
            </a:extLst>
          </p:cNvPr>
          <p:cNvPicPr>
            <a:picLocks noChangeAspect="1"/>
          </p:cNvPicPr>
          <p:nvPr/>
        </p:nvPicPr>
        <p:blipFill>
          <a:blip r:embed="rId2"/>
          <a:stretch>
            <a:fillRect/>
          </a:stretch>
        </p:blipFill>
        <p:spPr>
          <a:xfrm>
            <a:off x="1504911" y="152751"/>
            <a:ext cx="8123399" cy="6705249"/>
          </a:xfrm>
          <a:prstGeom prst="rect">
            <a:avLst/>
          </a:prstGeom>
        </p:spPr>
      </p:pic>
      <p:pic>
        <p:nvPicPr>
          <p:cNvPr id="6" name="Picture 5">
            <a:extLst>
              <a:ext uri="{FF2B5EF4-FFF2-40B4-BE49-F238E27FC236}">
                <a16:creationId xmlns:a16="http://schemas.microsoft.com/office/drawing/2014/main" id="{422EA366-FF0B-21A6-BDF4-D0C81A2D74A1}"/>
              </a:ext>
            </a:extLst>
          </p:cNvPr>
          <p:cNvPicPr>
            <a:picLocks noChangeAspect="1"/>
          </p:cNvPicPr>
          <p:nvPr/>
        </p:nvPicPr>
        <p:blipFill>
          <a:blip r:embed="rId3"/>
          <a:stretch>
            <a:fillRect/>
          </a:stretch>
        </p:blipFill>
        <p:spPr>
          <a:xfrm>
            <a:off x="378325" y="-23285"/>
            <a:ext cx="1338773" cy="1110684"/>
          </a:xfrm>
          <a:prstGeom prst="rect">
            <a:avLst/>
          </a:prstGeom>
        </p:spPr>
      </p:pic>
    </p:spTree>
    <p:extLst>
      <p:ext uri="{BB962C8B-B14F-4D97-AF65-F5344CB8AC3E}">
        <p14:creationId xmlns:p14="http://schemas.microsoft.com/office/powerpoint/2010/main" val="487123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1F6C6A-05CC-0F20-26AA-4E289BFFB734}"/>
              </a:ext>
            </a:extLst>
          </p:cNvPr>
          <p:cNvPicPr>
            <a:picLocks noChangeAspect="1"/>
          </p:cNvPicPr>
          <p:nvPr/>
        </p:nvPicPr>
        <p:blipFill>
          <a:blip r:embed="rId2"/>
          <a:stretch>
            <a:fillRect/>
          </a:stretch>
        </p:blipFill>
        <p:spPr>
          <a:xfrm>
            <a:off x="1569765" y="36450"/>
            <a:ext cx="9052469" cy="6785099"/>
          </a:xfrm>
          <a:prstGeom prst="rect">
            <a:avLst/>
          </a:prstGeom>
        </p:spPr>
      </p:pic>
    </p:spTree>
    <p:extLst>
      <p:ext uri="{BB962C8B-B14F-4D97-AF65-F5344CB8AC3E}">
        <p14:creationId xmlns:p14="http://schemas.microsoft.com/office/powerpoint/2010/main" val="838488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855D2B-B86F-D72A-7440-05B1E2139F04}"/>
              </a:ext>
            </a:extLst>
          </p:cNvPr>
          <p:cNvSpPr txBox="1"/>
          <p:nvPr/>
        </p:nvSpPr>
        <p:spPr>
          <a:xfrm>
            <a:off x="713874" y="1187116"/>
            <a:ext cx="10764252" cy="42473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5400" b="0" i="0" u="none" strike="noStrike" kern="1200" cap="none" spc="0" normalizeH="0" baseline="0" noProof="0" dirty="0">
                <a:ln>
                  <a:noFill/>
                </a:ln>
                <a:solidFill>
                  <a:prstClr val="black"/>
                </a:solidFill>
                <a:effectLst/>
                <a:uLnTx/>
                <a:uFillTx/>
                <a:latin typeface="Calibri" panose="020F0502020204030204"/>
                <a:ea typeface="+mn-ea"/>
                <a:cs typeface="+mn-cs"/>
              </a:rPr>
              <a:t>Here is a sample answer. Note that the green indicates the topic sentence, the brown the supporting sentences and the red the concluding sentence of each paragraph.</a:t>
            </a:r>
          </a:p>
        </p:txBody>
      </p:sp>
    </p:spTree>
    <p:extLst>
      <p:ext uri="{BB962C8B-B14F-4D97-AF65-F5344CB8AC3E}">
        <p14:creationId xmlns:p14="http://schemas.microsoft.com/office/powerpoint/2010/main" val="1224216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CE6220-BF5A-62EE-4862-10EF29201DBF}"/>
              </a:ext>
            </a:extLst>
          </p:cNvPr>
          <p:cNvSpPr txBox="1"/>
          <p:nvPr/>
        </p:nvSpPr>
        <p:spPr>
          <a:xfrm>
            <a:off x="160421" y="251944"/>
            <a:ext cx="11790947" cy="6354112"/>
          </a:xfrm>
          <a:prstGeom prst="rect">
            <a:avLst/>
          </a:prstGeom>
          <a:noFill/>
        </p:spPr>
        <p:txBody>
          <a:bodyPr wrap="square">
            <a:spAutoFit/>
          </a:bodyPr>
          <a:lstStyle/>
          <a:p>
            <a:pPr marL="0" marR="0" lvl="0" indent="0" algn="l" defTabSz="914400" rtl="0" eaLnBrk="1" fontAlgn="auto" latinLnBrk="0" hangingPunct="1">
              <a:lnSpc>
                <a:spcPts val="2800"/>
              </a:lnSpc>
              <a:spcBef>
                <a:spcPts val="0"/>
              </a:spcBef>
              <a:spcAft>
                <a:spcPts val="80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Calibri" panose="020F0502020204030204"/>
                <a:ea typeface="+mn-ea"/>
                <a:cs typeface="+mn-cs"/>
              </a:rPr>
              <a:t>b.</a:t>
            </a: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Make a plan for the main part of the article above. Then write the paragraphs of the main part in the space provided.</a:t>
            </a:r>
            <a:endParaRPr kumimoji="0" lang="en-GB" sz="2800" b="0" i="0" u="none" strike="noStrike" kern="100" cap="none" spc="-50" normalizeH="0" baseline="0" noProof="0" dirty="0">
              <a:ln>
                <a:noFill/>
              </a:ln>
              <a:solidFill>
                <a:prstClr val="black"/>
              </a:solidFill>
              <a:effectLst/>
              <a:uLnTx/>
              <a:uFillTx/>
              <a:latin typeface="Abadi ExtraLight" panose="020B0204020104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2800"/>
              </a:lnSpc>
              <a:spcBef>
                <a:spcPts val="0"/>
              </a:spcBef>
              <a:spcAft>
                <a:spcPts val="800"/>
              </a:spcAft>
              <a:buClrTx/>
              <a:buSzTx/>
              <a:buFontTx/>
              <a:buNone/>
              <a:tabLst/>
              <a:defRPr/>
            </a:pPr>
            <a:r>
              <a:rPr kumimoji="0" lang="en-GB" sz="2800" b="0" i="0" u="none" strike="noStrike" kern="100" cap="none" spc="-50" normalizeH="0" baseline="0" noProof="0" dirty="0">
                <a:ln>
                  <a:noFill/>
                </a:ln>
                <a:solidFill>
                  <a:srgbClr val="00B050"/>
                </a:solidFill>
                <a:effectLst/>
                <a:uLnTx/>
                <a:uFillTx/>
                <a:latin typeface="Abadi ExtraLight" panose="020B0204020104020204" pitchFamily="34" charset="0"/>
                <a:ea typeface="Aptos" panose="020B0004020202020204" pitchFamily="34" charset="0"/>
                <a:cs typeface="Times New Roman" panose="02020603050405020304" pitchFamily="18" charset="0"/>
              </a:rPr>
              <a:t>To begin with, protecting the environment often starts at home. </a:t>
            </a:r>
            <a:r>
              <a:rPr kumimoji="0" lang="en-GB" sz="2800" b="0" i="0" u="none" strike="noStrike" kern="100" cap="none" spc="-50" normalizeH="0" baseline="0" noProof="0" dirty="0">
                <a:ln>
                  <a:noFill/>
                </a:ln>
                <a:solidFill>
                  <a:srgbClr val="FFC000">
                    <a:lumMod val="75000"/>
                  </a:srgbClr>
                </a:solidFill>
                <a:effectLst/>
                <a:uLnTx/>
                <a:uFillTx/>
                <a:latin typeface="Abadi ExtraLight" panose="020B0204020104020204" pitchFamily="34" charset="0"/>
                <a:ea typeface="Aptos" panose="020B0004020202020204" pitchFamily="34" charset="0"/>
                <a:cs typeface="Times New Roman" panose="02020603050405020304" pitchFamily="18" charset="0"/>
              </a:rPr>
              <a:t>By changing small daily habits, people can already make a real difference. For example, using less water, turning off lights, and recycling waste all help reduce damage to the planet.</a:t>
            </a:r>
            <a:r>
              <a:rPr kumimoji="0" lang="en-GB" sz="2800" b="0" i="0" u="none" strike="noStrike" kern="100" cap="none" spc="-50" normalizeH="0" baseline="0" noProof="0" dirty="0">
                <a:ln>
                  <a:noFill/>
                </a:ln>
                <a:solidFill>
                  <a:prstClr val="black"/>
                </a:solidFill>
                <a:effectLst/>
                <a:uLnTx/>
                <a:uFillTx/>
                <a:latin typeface="Abadi ExtraLight" panose="020B0204020104020204" pitchFamily="34" charset="0"/>
                <a:ea typeface="Aptos" panose="020B0004020202020204" pitchFamily="34" charset="0"/>
                <a:cs typeface="Times New Roman" panose="02020603050405020304" pitchFamily="18" charset="0"/>
              </a:rPr>
              <a:t> </a:t>
            </a:r>
            <a:r>
              <a:rPr kumimoji="0" lang="en-GB" sz="2800" b="0" i="0" u="none" strike="noStrike" kern="100" cap="none" spc="-50" normalizeH="0" baseline="0" noProof="0" dirty="0">
                <a:ln>
                  <a:noFill/>
                </a:ln>
                <a:solidFill>
                  <a:srgbClr val="FF0000"/>
                </a:solidFill>
                <a:effectLst/>
                <a:uLnTx/>
                <a:uFillTx/>
                <a:latin typeface="Abadi ExtraLight" panose="020B0204020104020204" pitchFamily="34" charset="0"/>
                <a:ea typeface="Aptos" panose="020B0004020202020204" pitchFamily="34" charset="0"/>
                <a:cs typeface="Times New Roman" panose="02020603050405020304" pitchFamily="18" charset="0"/>
              </a:rPr>
              <a:t>These actions may seem small, but together they have a strong effect.</a:t>
            </a:r>
          </a:p>
          <a:p>
            <a:pPr marL="0" marR="0" lvl="0" indent="0" algn="l" defTabSz="914400" rtl="0" eaLnBrk="1" fontAlgn="auto" latinLnBrk="0" hangingPunct="1">
              <a:lnSpc>
                <a:spcPts val="2800"/>
              </a:lnSpc>
              <a:spcBef>
                <a:spcPts val="0"/>
              </a:spcBef>
              <a:spcAft>
                <a:spcPts val="800"/>
              </a:spcAft>
              <a:buClrTx/>
              <a:buSzTx/>
              <a:buFontTx/>
              <a:buNone/>
              <a:tabLst/>
              <a:defRPr/>
            </a:pPr>
            <a:endParaRPr kumimoji="0" lang="en-GB" sz="2800" b="0" i="0" u="none" strike="noStrike" kern="100" cap="none" spc="-50" normalizeH="0" baseline="0" noProof="0" dirty="0">
              <a:ln>
                <a:noFill/>
              </a:ln>
              <a:solidFill>
                <a:prstClr val="black"/>
              </a:solidFill>
              <a:effectLst/>
              <a:uLnTx/>
              <a:uFillTx/>
              <a:latin typeface="Abadi ExtraLight" panose="020B0204020104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2800"/>
              </a:lnSpc>
              <a:spcBef>
                <a:spcPts val="0"/>
              </a:spcBef>
              <a:spcAft>
                <a:spcPts val="800"/>
              </a:spcAft>
              <a:buClrTx/>
              <a:buSzTx/>
              <a:buFontTx/>
              <a:buNone/>
              <a:tabLst/>
              <a:defRPr/>
            </a:pPr>
            <a:r>
              <a:rPr kumimoji="0" lang="en-GB" sz="2800" b="0" i="0" u="none" strike="noStrike" kern="100" cap="none" spc="-50" normalizeH="0" baseline="0" noProof="0" dirty="0">
                <a:ln>
                  <a:noFill/>
                </a:ln>
                <a:solidFill>
                  <a:srgbClr val="00B050"/>
                </a:solidFill>
                <a:effectLst/>
                <a:uLnTx/>
                <a:uFillTx/>
                <a:latin typeface="Abadi ExtraLight" panose="020B0204020104020204" pitchFamily="34" charset="0"/>
                <a:ea typeface="Aptos" panose="020B0004020202020204" pitchFamily="34" charset="0"/>
                <a:cs typeface="Times New Roman" panose="02020603050405020304" pitchFamily="18" charset="0"/>
              </a:rPr>
              <a:t>At the same time, the way people move around also matters. </a:t>
            </a:r>
            <a:r>
              <a:rPr kumimoji="0" lang="en-GB" sz="2800" b="0" i="0" u="none" strike="noStrike" kern="100" cap="none" spc="-50" normalizeH="0" baseline="0" noProof="0" dirty="0">
                <a:ln>
                  <a:noFill/>
                </a:ln>
                <a:solidFill>
                  <a:srgbClr val="FFC000">
                    <a:lumMod val="75000"/>
                  </a:srgbClr>
                </a:solidFill>
                <a:effectLst/>
                <a:uLnTx/>
                <a:uFillTx/>
                <a:latin typeface="Abadi ExtraLight" panose="020B0204020104020204" pitchFamily="34" charset="0"/>
                <a:ea typeface="Aptos" panose="020B0004020202020204" pitchFamily="34" charset="0"/>
                <a:cs typeface="Times New Roman" panose="02020603050405020304" pitchFamily="18" charset="0"/>
              </a:rPr>
              <a:t>Instead of using a car for every journey, people can walk, cycle, or use public transport. As a result, there is less pollution in the air and streets become cleaner and quieter. </a:t>
            </a:r>
            <a:r>
              <a:rPr kumimoji="0" lang="en-GB" sz="2800" b="0" i="0" u="none" strike="noStrike" kern="100" cap="none" spc="-50" normalizeH="0" baseline="0" noProof="0" dirty="0">
                <a:ln>
                  <a:noFill/>
                </a:ln>
                <a:solidFill>
                  <a:srgbClr val="FF0000"/>
                </a:solidFill>
                <a:effectLst/>
                <a:uLnTx/>
                <a:uFillTx/>
                <a:latin typeface="Abadi ExtraLight" panose="020B0204020104020204" pitchFamily="34" charset="0"/>
                <a:ea typeface="Aptos" panose="020B0004020202020204" pitchFamily="34" charset="0"/>
                <a:cs typeface="Times New Roman" panose="02020603050405020304" pitchFamily="18" charset="0"/>
              </a:rPr>
              <a:t>This helps create a healthier place for everyone.</a:t>
            </a:r>
          </a:p>
          <a:p>
            <a:pPr marL="0" marR="0" lvl="0" indent="0" algn="l" defTabSz="914400" rtl="0" eaLnBrk="1" fontAlgn="auto" latinLnBrk="0" hangingPunct="1">
              <a:lnSpc>
                <a:spcPts val="2800"/>
              </a:lnSpc>
              <a:spcBef>
                <a:spcPts val="0"/>
              </a:spcBef>
              <a:spcAft>
                <a:spcPts val="800"/>
              </a:spcAft>
              <a:buClrTx/>
              <a:buSzTx/>
              <a:buFontTx/>
              <a:buNone/>
              <a:tabLst/>
              <a:defRPr/>
            </a:pPr>
            <a:endParaRPr kumimoji="0" lang="en-GB" sz="2800" b="0" i="0" u="none" strike="noStrike" kern="100" cap="none" spc="-50" normalizeH="0" baseline="0" noProof="0" dirty="0">
              <a:ln>
                <a:noFill/>
              </a:ln>
              <a:solidFill>
                <a:prstClr val="black"/>
              </a:solidFill>
              <a:effectLst/>
              <a:uLnTx/>
              <a:uFillTx/>
              <a:latin typeface="Abadi ExtraLight" panose="020B0204020104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2800"/>
              </a:lnSpc>
              <a:spcBef>
                <a:spcPts val="0"/>
              </a:spcBef>
              <a:spcAft>
                <a:spcPts val="800"/>
              </a:spcAft>
              <a:buClrTx/>
              <a:buSzTx/>
              <a:buFontTx/>
              <a:buNone/>
              <a:tabLst/>
              <a:defRPr/>
            </a:pPr>
            <a:r>
              <a:rPr kumimoji="0" lang="en-GB" sz="2800" b="0" i="0" u="none" strike="noStrike" kern="100" cap="none" spc="-50" normalizeH="0" baseline="0" noProof="0" dirty="0">
                <a:ln>
                  <a:noFill/>
                </a:ln>
                <a:solidFill>
                  <a:srgbClr val="00B050"/>
                </a:solidFill>
                <a:effectLst/>
                <a:uLnTx/>
                <a:uFillTx/>
                <a:latin typeface="Abadi ExtraLight" panose="020B0204020104020204" pitchFamily="34" charset="0"/>
                <a:ea typeface="Aptos" panose="020B0004020202020204" pitchFamily="34" charset="0"/>
                <a:cs typeface="Times New Roman" panose="02020603050405020304" pitchFamily="18" charset="0"/>
              </a:rPr>
              <a:t>Beyond this, caring for the environment can bring people together. </a:t>
            </a:r>
            <a:r>
              <a:rPr kumimoji="0" lang="en-GB" sz="2800" b="0" i="0" u="none" strike="noStrike" kern="100" cap="none" spc="-50" normalizeH="0" baseline="0" noProof="0" dirty="0">
                <a:ln>
                  <a:noFill/>
                </a:ln>
                <a:solidFill>
                  <a:srgbClr val="FFC000">
                    <a:lumMod val="75000"/>
                  </a:srgbClr>
                </a:solidFill>
                <a:effectLst/>
                <a:uLnTx/>
                <a:uFillTx/>
                <a:latin typeface="Abadi ExtraLight" panose="020B0204020104020204" pitchFamily="34" charset="0"/>
                <a:ea typeface="Aptos" panose="020B0004020202020204" pitchFamily="34" charset="0"/>
                <a:cs typeface="Times New Roman" panose="02020603050405020304" pitchFamily="18" charset="0"/>
              </a:rPr>
              <a:t>When neighbours clean local areas or share ideas about protecting nature, they help their community as well as the planet. </a:t>
            </a:r>
            <a:r>
              <a:rPr kumimoji="0" lang="en-GB" sz="2800" b="0" i="0" u="none" strike="noStrike" kern="100" cap="none" spc="-50" normalizeH="0" baseline="0" noProof="0" dirty="0">
                <a:ln>
                  <a:noFill/>
                </a:ln>
                <a:solidFill>
                  <a:srgbClr val="FF0000"/>
                </a:solidFill>
                <a:effectLst/>
                <a:uLnTx/>
                <a:uFillTx/>
                <a:latin typeface="Abadi ExtraLight" panose="020B0204020104020204" pitchFamily="34" charset="0"/>
                <a:ea typeface="Aptos" panose="020B0004020202020204" pitchFamily="34" charset="0"/>
                <a:cs typeface="Times New Roman" panose="02020603050405020304" pitchFamily="18" charset="0"/>
              </a:rPr>
              <a:t>In this way, environmental action becomes part of everyday life and leads naturally to positive change.</a:t>
            </a:r>
          </a:p>
        </p:txBody>
      </p:sp>
    </p:spTree>
    <p:extLst>
      <p:ext uri="{BB962C8B-B14F-4D97-AF65-F5344CB8AC3E}">
        <p14:creationId xmlns:p14="http://schemas.microsoft.com/office/powerpoint/2010/main" val="3774101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2E76338-9A87-C67E-99BD-CDE0CE30E0A0}"/>
              </a:ext>
            </a:extLst>
          </p:cNvPr>
          <p:cNvSpPr txBox="1"/>
          <p:nvPr/>
        </p:nvSpPr>
        <p:spPr>
          <a:xfrm>
            <a:off x="320842" y="730601"/>
            <a:ext cx="11550315" cy="5396798"/>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54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3. Task for homework.</a:t>
            </a:r>
            <a:br>
              <a:rPr kumimoji="0" lang="en-GB" sz="5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r>
              <a:rPr kumimoji="0" lang="en-GB" sz="5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Your college newspaper has invited you to write an article suggesting ways in which different types of pollution can be reduced in your town/city. Write your article. </a:t>
            </a:r>
            <a:r>
              <a:rPr kumimoji="0" lang="en-GB" sz="5400" b="0" i="1"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(120–180 words)</a:t>
            </a:r>
            <a:endParaRPr kumimoji="0" lang="en-GB" sz="5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104447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21F6C94-B160-4A87-B7F2-DB46F069F7BA}">
  <ds:schemaRefs>
    <ds:schemaRef ds:uri="http://schemas.microsoft.com/sharepoint/v3/contenttype/forms"/>
  </ds:schemaRefs>
</ds:datastoreItem>
</file>

<file path=customXml/itemProps2.xml><?xml version="1.0" encoding="utf-8"?>
<ds:datastoreItem xmlns:ds="http://schemas.openxmlformats.org/officeDocument/2006/customXml" ds:itemID="{E3C46F05-8D38-4A54-854A-1C8B0C4FA365}"/>
</file>

<file path=customXml/itemProps3.xml><?xml version="1.0" encoding="utf-8"?>
<ds:datastoreItem xmlns:ds="http://schemas.openxmlformats.org/officeDocument/2006/customXml" ds:itemID="{F81FBFE9-44FB-4BF2-A10A-8BB6F667BB61}">
  <ds:schemaRefs>
    <ds:schemaRef ds:uri="http://purl.org/dc/dcmitype/"/>
    <ds:schemaRef ds:uri="http://purl.org/dc/terms/"/>
    <ds:schemaRef ds:uri="http://www.w3.org/XML/1998/namespace"/>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1a9719da-fe5f-437a-a6ff-844d57a52976"/>
  </ds:schemaRefs>
</ds:datastoreItem>
</file>

<file path=docProps/app.xml><?xml version="1.0" encoding="utf-8"?>
<Properties xmlns="http://schemas.openxmlformats.org/officeDocument/2006/extended-properties" xmlns:vt="http://schemas.openxmlformats.org/officeDocument/2006/docPropsVTypes">
  <Template>office theme</Template>
  <TotalTime>292</TotalTime>
  <Words>703</Words>
  <Application>Microsoft Office PowerPoint</Application>
  <PresentationFormat>Widescreen</PresentationFormat>
  <Paragraphs>43</Paragraphs>
  <Slides>29</Slides>
  <Notes>0</Notes>
  <HiddenSlides>6</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Abadi Extra Light</vt:lpstr>
      <vt:lpstr>Abadi ExtraLight</vt:lpstr>
      <vt:lpstr>Aptos</vt:lpstr>
      <vt:lpstr>Arial</vt:lpstr>
      <vt:lpstr>Calibri</vt:lpstr>
      <vt:lpstr>Calibri Light</vt:lpstr>
      <vt:lpstr>Segoe Print</vt:lpstr>
      <vt:lpstr>Tw Cen MT Condensed Extra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Patterson</dc:creator>
  <cp:lastModifiedBy>Andrew Patterson</cp:lastModifiedBy>
  <cp:revision>3</cp:revision>
  <dcterms:created xsi:type="dcterms:W3CDTF">2022-06-16T11:59:53Z</dcterms:created>
  <dcterms:modified xsi:type="dcterms:W3CDTF">2026-04-30T18:36:11Z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ContentTypeId">
    <vt:lpwstr>0x0101006794325352E032448D621CCF83E7CDF4</vt:lpwstr>
  </property>
  <property fmtid="{D5CDD505-2E9C-101B-9397-08002B2CF9AE}" pid="4" name="MediaServiceImageTags">
    <vt:lpwstr/>
  </property>
  <property fmtid="{D5CDD505-2E9C-101B-9397-08002B2CF9AE}" pid="5" name="Order">
    <vt:r8>12215100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