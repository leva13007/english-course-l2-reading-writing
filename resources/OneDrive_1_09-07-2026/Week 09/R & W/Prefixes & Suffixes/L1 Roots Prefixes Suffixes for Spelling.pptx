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96" r:id="rId5"/>
    <p:sldId id="283" r:id="rId6"/>
    <p:sldId id="287" r:id="rId7"/>
    <p:sldId id="292" r:id="rId8"/>
    <p:sldId id="289" r:id="rId9"/>
    <p:sldId id="281" r:id="rId10"/>
    <p:sldId id="288" r:id="rId11"/>
    <p:sldId id="293" r:id="rId12"/>
    <p:sldId id="290" r:id="rId13"/>
    <p:sldId id="291" r:id="rId14"/>
    <p:sldId id="294" r:id="rId15"/>
    <p:sldId id="286" r:id="rId16"/>
    <p:sldId id="282" r:id="rId17"/>
    <p:sldId id="297" r:id="rId18"/>
    <p:sldId id="285" r:id="rId19"/>
    <p:sldId id="284" r:id="rId20"/>
    <p:sldId id="295"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B5B3F0D-542D-4E91-BBB5-D6113C726A1A}" type="datetimeFigureOut">
              <a:rPr lang="en-US" smtClean="0"/>
              <a:pPr/>
              <a:t>6/23/2025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A7C875-AE4F-4237-B42C-B6540EC715A5}"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This</a:t>
            </a:r>
            <a:r>
              <a:rPr lang="en-GB" baseline="0" dirty="0"/>
              <a:t> lesson is a follow on lesson from ‘Homophones’</a:t>
            </a:r>
            <a:endParaRPr lang="en-GB" dirty="0"/>
          </a:p>
        </p:txBody>
      </p:sp>
      <p:sp>
        <p:nvSpPr>
          <p:cNvPr id="4" name="Slide Number Placeholder 3"/>
          <p:cNvSpPr>
            <a:spLocks noGrp="1"/>
          </p:cNvSpPr>
          <p:nvPr>
            <p:ph type="sldNum" sz="quarter" idx="10"/>
          </p:nvPr>
        </p:nvSpPr>
        <p:spPr/>
        <p:txBody>
          <a:bodyPr/>
          <a:lstStyle/>
          <a:p>
            <a:fld id="{41A7C875-AE4F-4237-B42C-B6540EC715A5}" type="slidenum">
              <a:rPr lang="en-GB" smtClean="0"/>
              <a:pPr/>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Table taken from www.bbc.co.uk/skillswise/prefixes</a:t>
            </a:r>
          </a:p>
        </p:txBody>
      </p:sp>
      <p:sp>
        <p:nvSpPr>
          <p:cNvPr id="4" name="Slide Number Placeholder 3"/>
          <p:cNvSpPr>
            <a:spLocks noGrp="1"/>
          </p:cNvSpPr>
          <p:nvPr>
            <p:ph type="sldNum" sz="quarter" idx="10"/>
          </p:nvPr>
        </p:nvSpPr>
        <p:spPr/>
        <p:txBody>
          <a:bodyPr/>
          <a:lstStyle/>
          <a:p>
            <a:fld id="{41A7C875-AE4F-4237-B42C-B6540EC715A5}" type="slidenum">
              <a:rPr lang="en-GB" smtClean="0"/>
              <a:pPr/>
              <a:t>9</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Word</a:t>
            </a:r>
            <a:r>
              <a:rPr lang="en-GB" baseline="0" dirty="0"/>
              <a:t> map used from www.skillsworkshop.org</a:t>
            </a:r>
            <a:endParaRPr lang="en-GB" dirty="0"/>
          </a:p>
          <a:p>
            <a:endParaRPr lang="en-GB" dirty="0"/>
          </a:p>
        </p:txBody>
      </p:sp>
      <p:sp>
        <p:nvSpPr>
          <p:cNvPr id="4" name="Slide Number Placeholder 3"/>
          <p:cNvSpPr>
            <a:spLocks noGrp="1"/>
          </p:cNvSpPr>
          <p:nvPr>
            <p:ph type="sldNum" sz="quarter" idx="10"/>
          </p:nvPr>
        </p:nvSpPr>
        <p:spPr/>
        <p:txBody>
          <a:bodyPr/>
          <a:lstStyle/>
          <a:p>
            <a:fld id="{41A7C875-AE4F-4237-B42C-B6540EC715A5}" type="slidenum">
              <a:rPr lang="en-GB" smtClean="0"/>
              <a:pPr/>
              <a:t>12</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Word</a:t>
            </a:r>
            <a:r>
              <a:rPr lang="en-GB" baseline="0" dirty="0"/>
              <a:t> map used from www.skillsworkshop.org</a:t>
            </a:r>
            <a:endParaRPr lang="en-GB" dirty="0"/>
          </a:p>
          <a:p>
            <a:endParaRPr lang="en-GB" dirty="0"/>
          </a:p>
        </p:txBody>
      </p:sp>
      <p:sp>
        <p:nvSpPr>
          <p:cNvPr id="4" name="Slide Number Placeholder 3"/>
          <p:cNvSpPr>
            <a:spLocks noGrp="1"/>
          </p:cNvSpPr>
          <p:nvPr>
            <p:ph type="sldNum" sz="quarter" idx="10"/>
          </p:nvPr>
        </p:nvSpPr>
        <p:spPr/>
        <p:txBody>
          <a:bodyPr/>
          <a:lstStyle/>
          <a:p>
            <a:fld id="{41A7C875-AE4F-4237-B42C-B6540EC715A5}" type="slidenum">
              <a:rPr lang="en-GB" smtClean="0"/>
              <a:pPr/>
              <a:t>13</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Word</a:t>
            </a:r>
            <a:r>
              <a:rPr lang="en-GB" baseline="0" dirty="0"/>
              <a:t> map used from www.skillsworkshop.org</a:t>
            </a:r>
            <a:endParaRPr lang="en-GB" dirty="0"/>
          </a:p>
        </p:txBody>
      </p:sp>
      <p:sp>
        <p:nvSpPr>
          <p:cNvPr id="4" name="Slide Number Placeholder 3"/>
          <p:cNvSpPr>
            <a:spLocks noGrp="1"/>
          </p:cNvSpPr>
          <p:nvPr>
            <p:ph type="sldNum" sz="quarter" idx="10"/>
          </p:nvPr>
        </p:nvSpPr>
        <p:spPr/>
        <p:txBody>
          <a:bodyPr/>
          <a:lstStyle/>
          <a:p>
            <a:fld id="{41A7C875-AE4F-4237-B42C-B6540EC715A5}" type="slidenum">
              <a:rPr lang="en-GB" smtClean="0"/>
              <a:pPr/>
              <a:t>16</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AE1E0A31-D2C9-4155-8B81-46EFE5C1B84E}" type="datetimeFigureOut">
              <a:rPr lang="en-US" smtClean="0"/>
              <a:pPr/>
              <a:t>6/23/2025</a:t>
            </a:fld>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6CE8C0C5-4732-407E-B000-24D610D9C36C}"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1E0A31-D2C9-4155-8B81-46EFE5C1B84E}" type="datetimeFigureOut">
              <a:rPr lang="en-US" smtClean="0"/>
              <a:pPr/>
              <a:t>6/23/2025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AE1E0A31-D2C9-4155-8B81-46EFE5C1B84E}" type="datetimeFigureOut">
              <a:rPr lang="en-US" smtClean="0"/>
              <a:pPr/>
              <a:t>6/23/2025</a:t>
            </a:fld>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GB"/>
          </a:p>
        </p:txBody>
      </p:sp>
      <p:sp>
        <p:nvSpPr>
          <p:cNvPr id="6" name="Slide Number Placeholder 5"/>
          <p:cNvSpPr>
            <a:spLocks noGrp="1"/>
          </p:cNvSpPr>
          <p:nvPr>
            <p:ph type="sldNum" sz="quarter" idx="12"/>
          </p:nvPr>
        </p:nvSpPr>
        <p:spPr>
          <a:xfrm>
            <a:off x="6733952" y="6555112"/>
            <a:ext cx="588336" cy="228600"/>
          </a:xfrm>
        </p:spPr>
        <p:txBody>
          <a:bodyPr/>
          <a:lstStyle/>
          <a:p>
            <a:fld id="{6CE8C0C5-4732-407E-B000-24D610D9C36C}"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E1E0A31-D2C9-4155-8B81-46EFE5C1B84E}" type="datetimeFigureOut">
              <a:rPr lang="en-US" smtClean="0"/>
              <a:pPr/>
              <a:t>6/23/2025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E1E0A31-D2C9-4155-8B81-46EFE5C1B84E}" type="datetimeFigureOut">
              <a:rPr lang="en-US" smtClean="0"/>
              <a:pPr/>
              <a:t>6/23/2025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E1E0A31-D2C9-4155-8B81-46EFE5C1B84E}" type="datetimeFigureOut">
              <a:rPr lang="en-US" smtClean="0"/>
              <a:pPr/>
              <a:t>6/23/2025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AE1E0A31-D2C9-4155-8B81-46EFE5C1B84E}" type="datetimeFigureOut">
              <a:rPr lang="en-US" smtClean="0"/>
              <a:pPr/>
              <a:t>6/23/2025</a:t>
            </a:fld>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GB"/>
          </a:p>
        </p:txBody>
      </p:sp>
      <p:sp>
        <p:nvSpPr>
          <p:cNvPr id="4" name="Slide Number Placeholder 3"/>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E1E0A31-D2C9-4155-8B81-46EFE5C1B84E}" type="datetimeFigureOut">
              <a:rPr lang="en-US" smtClean="0"/>
              <a:pPr/>
              <a:t>6/23/2025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AE1E0A31-D2C9-4155-8B81-46EFE5C1B84E}" type="datetimeFigureOut">
              <a:rPr lang="en-US" smtClean="0"/>
              <a:pPr/>
              <a:t>6/23/2025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E8C0C5-4732-407E-B000-24D610D9C36C}" type="slidenum">
              <a:rPr lang="en-GB" smtClean="0"/>
              <a:pPr/>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E1E0A31-D2C9-4155-8B81-46EFE5C1B84E}" type="datetimeFigureOut">
              <a:rPr lang="en-US" smtClean="0"/>
              <a:pPr/>
              <a:t>6/23/2025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E8C0C5-4732-407E-B000-24D610D9C36C}"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AE1E0A31-D2C9-4155-8B81-46EFE5C1B84E}" type="datetimeFigureOut">
              <a:rPr lang="en-US" smtClean="0"/>
              <a:pPr/>
              <a:t>6/23/2025</a:t>
            </a:fld>
            <a:endParaRPr lang="en-GB"/>
          </a:p>
        </p:txBody>
      </p:sp>
      <p:sp>
        <p:nvSpPr>
          <p:cNvPr id="5" name="Footer Placeholder 4"/>
          <p:cNvSpPr>
            <a:spLocks noGrp="1"/>
          </p:cNvSpPr>
          <p:nvPr>
            <p:ph type="ftr" sz="quarter" idx="11"/>
          </p:nvPr>
        </p:nvSpPr>
        <p:spPr>
          <a:xfrm>
            <a:off x="457200" y="6556248"/>
            <a:ext cx="3657600" cy="228600"/>
          </a:xfrm>
        </p:spPr>
        <p:txBody>
          <a:bodyPr/>
          <a:lstStyle/>
          <a:p>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6CE8C0C5-4732-407E-B000-24D610D9C36C}"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AE1E0A31-D2C9-4155-8B81-46EFE5C1B84E}" type="datetimeFigureOut">
              <a:rPr lang="en-US" smtClean="0"/>
              <a:pPr/>
              <a:t>6/23/2025</a:t>
            </a:fld>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6CE8C0C5-4732-407E-B000-24D610D9C36C}"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GB" dirty="0"/>
              <a:t>Prefixes, suffixes and root words</a:t>
            </a:r>
          </a:p>
        </p:txBody>
      </p:sp>
      <p:sp>
        <p:nvSpPr>
          <p:cNvPr id="5" name="Subtitle 4"/>
          <p:cNvSpPr>
            <a:spLocks noGrp="1"/>
          </p:cNvSpPr>
          <p:nvPr>
            <p:ph type="subTitle" idx="1"/>
          </p:nvPr>
        </p:nvSpPr>
        <p:spPr/>
        <p:txBody>
          <a:bodyPr/>
          <a:lstStyle/>
          <a:p>
            <a:r>
              <a:rPr lang="en-GB" dirty="0"/>
              <a:t>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7239000" cy="1143000"/>
          </a:xfrm>
        </p:spPr>
        <p:txBody>
          <a:bodyPr/>
          <a:lstStyle/>
          <a:p>
            <a:r>
              <a:rPr lang="en-GB" dirty="0"/>
              <a:t>Root words</a:t>
            </a:r>
          </a:p>
        </p:txBody>
      </p:sp>
      <p:sp>
        <p:nvSpPr>
          <p:cNvPr id="3" name="Content Placeholder 2"/>
          <p:cNvSpPr>
            <a:spLocks noGrp="1"/>
          </p:cNvSpPr>
          <p:nvPr>
            <p:ph idx="1"/>
          </p:nvPr>
        </p:nvSpPr>
        <p:spPr/>
        <p:txBody>
          <a:bodyPr/>
          <a:lstStyle/>
          <a:p>
            <a:endParaRPr lang="en-GB" dirty="0"/>
          </a:p>
          <a:p>
            <a:endParaRPr lang="en-GB" dirty="0"/>
          </a:p>
          <a:p>
            <a:endParaRPr lang="en-GB" dirty="0"/>
          </a:p>
        </p:txBody>
      </p:sp>
      <p:pic>
        <p:nvPicPr>
          <p:cNvPr id="5" name="Picture 2"/>
          <p:cNvPicPr>
            <a:picLocks noChangeAspect="1" noChangeArrowheads="1"/>
          </p:cNvPicPr>
          <p:nvPr/>
        </p:nvPicPr>
        <p:blipFill>
          <a:blip r:embed="rId2"/>
          <a:srcRect l="8785" t="29297" r="16544" b="48242"/>
          <a:stretch>
            <a:fillRect/>
          </a:stretch>
        </p:blipFill>
        <p:spPr bwMode="auto">
          <a:xfrm>
            <a:off x="214282" y="1785926"/>
            <a:ext cx="7715272" cy="1357322"/>
          </a:xfrm>
          <a:prstGeom prst="rect">
            <a:avLst/>
          </a:prstGeom>
          <a:noFill/>
          <a:ln w="9525">
            <a:noFill/>
            <a:miter lim="800000"/>
            <a:headEnd/>
            <a:tailEnd/>
          </a:ln>
          <a:effectLst/>
        </p:spPr>
      </p:pic>
      <p:sp>
        <p:nvSpPr>
          <p:cNvPr id="6" name="TextBox 5"/>
          <p:cNvSpPr txBox="1"/>
          <p:nvPr/>
        </p:nvSpPr>
        <p:spPr>
          <a:xfrm>
            <a:off x="214282" y="5214950"/>
            <a:ext cx="2214578" cy="1200329"/>
          </a:xfrm>
          <a:prstGeom prst="rect">
            <a:avLst/>
          </a:prstGeom>
          <a:noFill/>
        </p:spPr>
        <p:txBody>
          <a:bodyPr wrap="square" rtlCol="0">
            <a:spAutoFit/>
          </a:bodyPr>
          <a:lstStyle/>
          <a:p>
            <a:r>
              <a:rPr lang="en-GB" sz="3600" dirty="0">
                <a:latin typeface="Comic Sans MS" pitchFamily="66" charset="0"/>
              </a:rPr>
              <a:t>Learning</a:t>
            </a:r>
          </a:p>
          <a:p>
            <a:endParaRPr lang="en-GB" sz="3600" dirty="0">
              <a:latin typeface="Comic Sans MS" pitchFamily="66" charset="0"/>
            </a:endParaRPr>
          </a:p>
        </p:txBody>
      </p:sp>
      <p:cxnSp>
        <p:nvCxnSpPr>
          <p:cNvPr id="8" name="Straight Arrow Connector 7"/>
          <p:cNvCxnSpPr/>
          <p:nvPr/>
        </p:nvCxnSpPr>
        <p:spPr>
          <a:xfrm rot="5400000">
            <a:off x="607985" y="5964255"/>
            <a:ext cx="500066" cy="14287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0" y="5758756"/>
            <a:ext cx="2500298" cy="1384995"/>
          </a:xfrm>
          <a:prstGeom prst="rect">
            <a:avLst/>
          </a:prstGeom>
          <a:noFill/>
        </p:spPr>
        <p:txBody>
          <a:bodyPr wrap="square" rtlCol="0">
            <a:spAutoFit/>
          </a:bodyPr>
          <a:lstStyle/>
          <a:p>
            <a:endParaRPr lang="en-GB" sz="2800" dirty="0">
              <a:latin typeface="Comic Sans MS" pitchFamily="66" charset="0"/>
            </a:endParaRPr>
          </a:p>
          <a:p>
            <a:r>
              <a:rPr lang="en-GB" sz="2800" dirty="0">
                <a:latin typeface="Comic Sans MS" pitchFamily="66" charset="0"/>
              </a:rPr>
              <a:t>Learn    </a:t>
            </a:r>
            <a:r>
              <a:rPr lang="en-GB" sz="2800" dirty="0" err="1">
                <a:latin typeface="Comic Sans MS" pitchFamily="66" charset="0"/>
              </a:rPr>
              <a:t>ing</a:t>
            </a:r>
            <a:endParaRPr lang="en-GB" sz="2800" dirty="0">
              <a:latin typeface="Comic Sans MS" pitchFamily="66" charset="0"/>
            </a:endParaRPr>
          </a:p>
          <a:p>
            <a:endParaRPr lang="en-GB" sz="2800" dirty="0"/>
          </a:p>
        </p:txBody>
      </p:sp>
      <p:cxnSp>
        <p:nvCxnSpPr>
          <p:cNvPr id="11" name="Straight Arrow Connector 10"/>
          <p:cNvCxnSpPr/>
          <p:nvPr/>
        </p:nvCxnSpPr>
        <p:spPr>
          <a:xfrm rot="5400000">
            <a:off x="1358084" y="5999974"/>
            <a:ext cx="642942" cy="7143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857752" y="5072074"/>
            <a:ext cx="2714644" cy="646331"/>
          </a:xfrm>
          <a:prstGeom prst="rect">
            <a:avLst/>
          </a:prstGeom>
          <a:noFill/>
        </p:spPr>
        <p:txBody>
          <a:bodyPr wrap="square" rtlCol="0">
            <a:spAutoFit/>
          </a:bodyPr>
          <a:lstStyle/>
          <a:p>
            <a:r>
              <a:rPr lang="en-GB" sz="3600" dirty="0">
                <a:latin typeface="Comic Sans MS" pitchFamily="66" charset="0"/>
              </a:rPr>
              <a:t>successful</a:t>
            </a:r>
          </a:p>
        </p:txBody>
      </p:sp>
      <p:sp>
        <p:nvSpPr>
          <p:cNvPr id="15" name="TextBox 14"/>
          <p:cNvSpPr txBox="1"/>
          <p:nvPr/>
        </p:nvSpPr>
        <p:spPr>
          <a:xfrm>
            <a:off x="4000496" y="6000767"/>
            <a:ext cx="3500462" cy="646331"/>
          </a:xfrm>
          <a:prstGeom prst="rect">
            <a:avLst/>
          </a:prstGeom>
          <a:noFill/>
        </p:spPr>
        <p:txBody>
          <a:bodyPr wrap="square" rtlCol="0">
            <a:spAutoFit/>
          </a:bodyPr>
          <a:lstStyle/>
          <a:p>
            <a:r>
              <a:rPr lang="en-GB" sz="3600" dirty="0">
                <a:latin typeface="Comic Sans MS" pitchFamily="66" charset="0"/>
              </a:rPr>
              <a:t>Success     </a:t>
            </a:r>
            <a:r>
              <a:rPr lang="en-GB" sz="3600" dirty="0" err="1">
                <a:latin typeface="Comic Sans MS" pitchFamily="66" charset="0"/>
              </a:rPr>
              <a:t>ful</a:t>
            </a:r>
            <a:endParaRPr lang="en-GB" sz="3600" dirty="0">
              <a:latin typeface="Comic Sans MS" pitchFamily="66" charset="0"/>
            </a:endParaRPr>
          </a:p>
        </p:txBody>
      </p:sp>
      <p:cxnSp>
        <p:nvCxnSpPr>
          <p:cNvPr id="16" name="Straight Arrow Connector 15"/>
          <p:cNvCxnSpPr/>
          <p:nvPr/>
        </p:nvCxnSpPr>
        <p:spPr>
          <a:xfrm rot="5400000">
            <a:off x="4929984" y="5785660"/>
            <a:ext cx="714380" cy="42862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a:off x="6608777" y="6035693"/>
            <a:ext cx="357190"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14282" y="1214422"/>
            <a:ext cx="7786742" cy="646331"/>
          </a:xfrm>
          <a:prstGeom prst="rect">
            <a:avLst/>
          </a:prstGeom>
        </p:spPr>
        <p:txBody>
          <a:bodyPr wrap="square">
            <a:spAutoFit/>
          </a:bodyPr>
          <a:lstStyle/>
          <a:p>
            <a:r>
              <a:rPr lang="en-GB" b="1" dirty="0"/>
              <a:t>A root word is a real word and you make new words from it by adding prefixes and suffixes.</a:t>
            </a:r>
            <a:endParaRPr lang="en-GB" dirty="0"/>
          </a:p>
        </p:txBody>
      </p:sp>
      <p:sp>
        <p:nvSpPr>
          <p:cNvPr id="22" name="Rectangle 21"/>
          <p:cNvSpPr/>
          <p:nvPr/>
        </p:nvSpPr>
        <p:spPr>
          <a:xfrm>
            <a:off x="0" y="3143248"/>
            <a:ext cx="8501090" cy="1938992"/>
          </a:xfrm>
          <a:prstGeom prst="rect">
            <a:avLst/>
          </a:prstGeom>
        </p:spPr>
        <p:txBody>
          <a:bodyPr wrap="square">
            <a:spAutoFit/>
          </a:bodyPr>
          <a:lstStyle/>
          <a:p>
            <a:r>
              <a:rPr lang="en-GB" sz="2000" b="1" u="sng" dirty="0">
                <a:latin typeface="Comic Sans MS" pitchFamily="66" charset="0"/>
              </a:rPr>
              <a:t>Root words are helpful because:</a:t>
            </a:r>
          </a:p>
          <a:p>
            <a:r>
              <a:rPr lang="en-GB" sz="2000" dirty="0">
                <a:latin typeface="Comic Sans MS" pitchFamily="66" charset="0"/>
              </a:rPr>
              <a:t>You can use a root word to help you with other spellings. </a:t>
            </a:r>
          </a:p>
          <a:p>
            <a:r>
              <a:rPr lang="en-GB" sz="2000" dirty="0">
                <a:latin typeface="Comic Sans MS" pitchFamily="66" charset="0"/>
              </a:rPr>
              <a:t>If you recognise the root of a word when you are reading it can help you to work out what the word is and what it means. </a:t>
            </a:r>
          </a:p>
          <a:p>
            <a:r>
              <a:rPr lang="en-GB" sz="2000" dirty="0">
                <a:latin typeface="Comic Sans MS" pitchFamily="66" charset="0"/>
              </a:rPr>
              <a:t>There are spelling rules for adding suffixes and prefixes to root words.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 to="" calcmode="lin" valueType="num">
                                      <p:cBhvr>
                                        <p:cTn id="17" dur="1" fill="hold"/>
                                        <p:tgtEl>
                                          <p:spTgt spid="22"/>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to="" calcmode="lin" valueType="num">
                                      <p:cBhvr>
                                        <p:cTn id="22" dur="1" fill="hold"/>
                                        <p:tgtEl>
                                          <p:spTgt spid="6"/>
                                        </p:tgtEl>
                                        <p:attrNameLst>
                                          <p:attrName/>
                                        </p:attrNameLst>
                                      </p:cBhvr>
                                    </p:anim>
                                  </p:childTnLst>
                                </p:cTn>
                              </p:par>
                              <p:par>
                                <p:cTn id="23" presetID="24"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to="" calcmode="lin" valueType="num">
                                      <p:cBhvr>
                                        <p:cTn id="25" dur="1" fill="hold"/>
                                        <p:tgtEl>
                                          <p:spTgt spid="8"/>
                                        </p:tgtEl>
                                        <p:attrNameLst>
                                          <p:attrName/>
                                        </p:attrNameLst>
                                      </p:cBhvr>
                                    </p:anim>
                                  </p:childTnLst>
                                </p:cTn>
                              </p:par>
                              <p:par>
                                <p:cTn id="26" presetID="24"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to="" calcmode="lin" valueType="num">
                                      <p:cBhvr>
                                        <p:cTn id="28" dur="1" fill="hold"/>
                                        <p:tgtEl>
                                          <p:spTgt spid="9"/>
                                        </p:tgtEl>
                                        <p:attrNameLst>
                                          <p:attrName/>
                                        </p:attrNameLst>
                                      </p:cBhvr>
                                    </p:anim>
                                  </p:childTnLst>
                                </p:cTn>
                              </p:par>
                              <p:par>
                                <p:cTn id="29" presetID="24"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to="" calcmode="lin" valueType="num">
                                      <p:cBhvr>
                                        <p:cTn id="31" dur="1" fill="hold"/>
                                        <p:tgtEl>
                                          <p:spTgt spid="11"/>
                                        </p:tgtEl>
                                        <p:attrNameLst>
                                          <p:attrName/>
                                        </p:attrNameLst>
                                      </p:cBhvr>
                                    </p:anim>
                                  </p:childTnLst>
                                </p:cTn>
                              </p:par>
                              <p:par>
                                <p:cTn id="32" presetID="24"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to="" calcmode="lin" valueType="num">
                                      <p:cBhvr>
                                        <p:cTn id="34" dur="1" fill="hold"/>
                                        <p:tgtEl>
                                          <p:spTgt spid="14"/>
                                        </p:tgtEl>
                                        <p:attrNameLst>
                                          <p:attrName/>
                                        </p:attrNameLst>
                                      </p:cBhvr>
                                    </p:anim>
                                  </p:childTnLst>
                                </p:cTn>
                              </p:par>
                              <p:par>
                                <p:cTn id="35" presetID="24"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to="" calcmode="lin" valueType="num">
                                      <p:cBhvr>
                                        <p:cTn id="37" dur="1" fill="hold"/>
                                        <p:tgtEl>
                                          <p:spTgt spid="15"/>
                                        </p:tgtEl>
                                        <p:attrNameLst>
                                          <p:attrName/>
                                        </p:attrNameLst>
                                      </p:cBhvr>
                                    </p:anim>
                                  </p:childTnLst>
                                </p:cTn>
                              </p:par>
                              <p:par>
                                <p:cTn id="38" presetID="24"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 to="" calcmode="lin" valueType="num">
                                      <p:cBhvr>
                                        <p:cTn id="40" dur="1" fill="hold"/>
                                        <p:tgtEl>
                                          <p:spTgt spid="16"/>
                                        </p:tgtEl>
                                        <p:attrNameLst>
                                          <p:attrName/>
                                        </p:attrNameLst>
                                      </p:cBhvr>
                                    </p:anim>
                                  </p:childTnLst>
                                </p:cTn>
                              </p:par>
                              <p:par>
                                <p:cTn id="41" presetID="24"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 to="" calcmode="lin" valueType="num">
                                      <p:cBhvr>
                                        <p:cTn id="43" dur="1" fill="hold"/>
                                        <p:tgtEl>
                                          <p:spTgt spid="1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P spid="15" grpId="0"/>
      <p:bldP spid="21"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Suffixes</a:t>
            </a:r>
          </a:p>
        </p:txBody>
      </p:sp>
      <p:sp>
        <p:nvSpPr>
          <p:cNvPr id="3" name="Content Placeholder 2"/>
          <p:cNvSpPr>
            <a:spLocks noGrp="1"/>
          </p:cNvSpPr>
          <p:nvPr>
            <p:ph idx="1"/>
          </p:nvPr>
        </p:nvSpPr>
        <p:spPr>
          <a:xfrm>
            <a:off x="214282" y="1609416"/>
            <a:ext cx="7929618" cy="4962856"/>
          </a:xfrm>
        </p:spPr>
        <p:txBody>
          <a:bodyPr>
            <a:normAutofit/>
          </a:bodyPr>
          <a:lstStyle/>
          <a:p>
            <a:pPr>
              <a:buNone/>
            </a:pPr>
            <a:r>
              <a:rPr lang="en-GB" sz="2000" dirty="0">
                <a:latin typeface="Comic Sans MS" pitchFamily="66" charset="0"/>
              </a:rPr>
              <a:t>Adding suffixes to words can change or add to their meaning, but most importantly they show how a word will be used in a sentence and what part of speech (</a:t>
            </a:r>
            <a:r>
              <a:rPr lang="en-GB" sz="2000" b="1" dirty="0">
                <a:latin typeface="Comic Sans MS" pitchFamily="66" charset="0"/>
              </a:rPr>
              <a:t>e.g.</a:t>
            </a:r>
            <a:r>
              <a:rPr lang="en-GB" sz="2000" dirty="0">
                <a:latin typeface="Comic Sans MS" pitchFamily="66" charset="0"/>
              </a:rPr>
              <a:t> noun, verb, adjective) the word belongs to.</a:t>
            </a:r>
            <a:br>
              <a:rPr lang="en-GB" sz="2000" dirty="0">
                <a:latin typeface="Comic Sans MS" pitchFamily="66" charset="0"/>
              </a:rPr>
            </a:br>
            <a:br>
              <a:rPr lang="en-GB" sz="2000" dirty="0">
                <a:latin typeface="Comic Sans MS" pitchFamily="66" charset="0"/>
              </a:rPr>
            </a:br>
            <a:r>
              <a:rPr lang="en-GB" sz="2000" b="1" dirty="0">
                <a:latin typeface="Comic Sans MS" pitchFamily="66" charset="0"/>
              </a:rPr>
              <a:t>e.g.</a:t>
            </a:r>
            <a:r>
              <a:rPr lang="en-GB" sz="2000" dirty="0">
                <a:latin typeface="Comic Sans MS" pitchFamily="66" charset="0"/>
              </a:rPr>
              <a:t> If you want to use the root word 'talk' in the following sentence:</a:t>
            </a:r>
          </a:p>
          <a:p>
            <a:pPr>
              <a:buNone/>
            </a:pPr>
            <a:br>
              <a:rPr lang="en-GB" sz="2000" dirty="0">
                <a:latin typeface="Comic Sans MS" pitchFamily="66" charset="0"/>
              </a:rPr>
            </a:br>
            <a:r>
              <a:rPr lang="en-GB" sz="2000" i="1" dirty="0">
                <a:latin typeface="Comic Sans MS" pitchFamily="66" charset="0"/>
              </a:rPr>
              <a:t>I was (talk) to </a:t>
            </a:r>
            <a:r>
              <a:rPr lang="en-GB" sz="2000" i="1" dirty="0" err="1">
                <a:latin typeface="Comic Sans MS" pitchFamily="66" charset="0"/>
              </a:rPr>
              <a:t>Samina</a:t>
            </a:r>
            <a:r>
              <a:rPr lang="en-GB" sz="2000" i="1" dirty="0">
                <a:latin typeface="Comic Sans MS" pitchFamily="66" charset="0"/>
              </a:rPr>
              <a:t>.</a:t>
            </a:r>
            <a:r>
              <a:rPr lang="en-GB" sz="2000" dirty="0">
                <a:latin typeface="Comic Sans MS" pitchFamily="66" charset="0"/>
              </a:rPr>
              <a:t> </a:t>
            </a:r>
          </a:p>
          <a:p>
            <a:pPr>
              <a:buNone/>
            </a:pPr>
            <a:br>
              <a:rPr lang="en-GB" sz="2000" dirty="0">
                <a:latin typeface="Comic Sans MS" pitchFamily="66" charset="0"/>
              </a:rPr>
            </a:br>
            <a:r>
              <a:rPr lang="en-GB" sz="2000" dirty="0">
                <a:latin typeface="Comic Sans MS" pitchFamily="66" charset="0"/>
              </a:rPr>
              <a:t>You need to add the suffix '</a:t>
            </a:r>
            <a:r>
              <a:rPr lang="en-GB" sz="2000" b="1" dirty="0" err="1">
                <a:latin typeface="Comic Sans MS" pitchFamily="66" charset="0"/>
              </a:rPr>
              <a:t>ing</a:t>
            </a:r>
            <a:r>
              <a:rPr lang="en-GB" sz="2000" dirty="0">
                <a:latin typeface="Comic Sans MS" pitchFamily="66" charset="0"/>
              </a:rPr>
              <a:t>' so that the word 'talk' makes better sense grammatically:</a:t>
            </a:r>
          </a:p>
          <a:p>
            <a:pPr>
              <a:buNone/>
            </a:pPr>
            <a:br>
              <a:rPr lang="en-GB" sz="2000" dirty="0">
                <a:latin typeface="Comic Sans MS" pitchFamily="66" charset="0"/>
              </a:rPr>
            </a:br>
            <a:r>
              <a:rPr lang="en-GB" sz="2000" i="1" dirty="0">
                <a:latin typeface="Comic Sans MS" pitchFamily="66" charset="0"/>
              </a:rPr>
              <a:t>"I was talk</a:t>
            </a:r>
            <a:r>
              <a:rPr lang="en-GB" sz="2000" b="1" i="1" dirty="0">
                <a:latin typeface="Comic Sans MS" pitchFamily="66" charset="0"/>
              </a:rPr>
              <a:t>ing</a:t>
            </a:r>
            <a:r>
              <a:rPr lang="en-GB" sz="2000" i="1" dirty="0">
                <a:latin typeface="Comic Sans MS" pitchFamily="66" charset="0"/>
              </a:rPr>
              <a:t> to </a:t>
            </a:r>
            <a:r>
              <a:rPr lang="en-GB" sz="2000" i="1" dirty="0" err="1">
                <a:latin typeface="Comic Sans MS" pitchFamily="66" charset="0"/>
              </a:rPr>
              <a:t>Samina</a:t>
            </a:r>
            <a:r>
              <a:rPr lang="en-GB" sz="2000" i="1" dirty="0">
                <a:latin typeface="Comic Sans MS" pitchFamily="66" charset="0"/>
              </a:rPr>
              <a:t>".</a:t>
            </a:r>
            <a:endParaRPr lang="en-GB" sz="2000" dirty="0">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suffixes</a:t>
            </a:r>
          </a:p>
        </p:txBody>
      </p:sp>
      <p:sp>
        <p:nvSpPr>
          <p:cNvPr id="3" name="Content Placeholder 2"/>
          <p:cNvSpPr>
            <a:spLocks noGrp="1"/>
          </p:cNvSpPr>
          <p:nvPr>
            <p:ph idx="1"/>
          </p:nvPr>
        </p:nvSpPr>
        <p:spPr/>
        <p:txBody>
          <a:bodyPr/>
          <a:lstStyle/>
          <a:p>
            <a:r>
              <a:rPr lang="en-GB" dirty="0"/>
              <a:t>Activity 1:</a:t>
            </a:r>
          </a:p>
          <a:p>
            <a:endParaRPr lang="en-GB" dirty="0"/>
          </a:p>
          <a:p>
            <a:r>
              <a:rPr lang="en-GB" dirty="0"/>
              <a:t>In pairs write down as many suffixes as you can think of.</a:t>
            </a:r>
          </a:p>
          <a:p>
            <a:endParaRPr lang="en-GB" dirty="0"/>
          </a:p>
          <a:p>
            <a:r>
              <a:rPr lang="en-GB" dirty="0"/>
              <a:t>You have 5  minutes!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graphicFrame>
        <p:nvGraphicFramePr>
          <p:cNvPr id="4" name="Content Placeholder 3"/>
          <p:cNvGraphicFramePr>
            <a:graphicFrameLocks noGrp="1"/>
          </p:cNvGraphicFramePr>
          <p:nvPr>
            <p:ph idx="1"/>
          </p:nvPr>
        </p:nvGraphicFramePr>
        <p:xfrm>
          <a:off x="357157" y="357167"/>
          <a:ext cx="7786745" cy="6069990"/>
        </p:xfrm>
        <a:graphic>
          <a:graphicData uri="http://schemas.openxmlformats.org/drawingml/2006/table">
            <a:tbl>
              <a:tblPr/>
              <a:tblGrid>
                <a:gridCol w="1557349">
                  <a:extLst>
                    <a:ext uri="{9D8B030D-6E8A-4147-A177-3AD203B41FA5}">
                      <a16:colId xmlns:a16="http://schemas.microsoft.com/office/drawing/2014/main" val="20000"/>
                    </a:ext>
                  </a:extLst>
                </a:gridCol>
                <a:gridCol w="1557349">
                  <a:extLst>
                    <a:ext uri="{9D8B030D-6E8A-4147-A177-3AD203B41FA5}">
                      <a16:colId xmlns:a16="http://schemas.microsoft.com/office/drawing/2014/main" val="20001"/>
                    </a:ext>
                  </a:extLst>
                </a:gridCol>
                <a:gridCol w="1557349">
                  <a:extLst>
                    <a:ext uri="{9D8B030D-6E8A-4147-A177-3AD203B41FA5}">
                      <a16:colId xmlns:a16="http://schemas.microsoft.com/office/drawing/2014/main" val="20002"/>
                    </a:ext>
                  </a:extLst>
                </a:gridCol>
                <a:gridCol w="1557349">
                  <a:extLst>
                    <a:ext uri="{9D8B030D-6E8A-4147-A177-3AD203B41FA5}">
                      <a16:colId xmlns:a16="http://schemas.microsoft.com/office/drawing/2014/main" val="20003"/>
                    </a:ext>
                  </a:extLst>
                </a:gridCol>
                <a:gridCol w="1557349">
                  <a:extLst>
                    <a:ext uri="{9D8B030D-6E8A-4147-A177-3AD203B41FA5}">
                      <a16:colId xmlns:a16="http://schemas.microsoft.com/office/drawing/2014/main" val="20004"/>
                    </a:ext>
                  </a:extLst>
                </a:gridCol>
              </a:tblGrid>
              <a:tr h="275950">
                <a:tc>
                  <a:txBody>
                    <a:bodyPr/>
                    <a:lstStyle/>
                    <a:p>
                      <a:r>
                        <a:rPr lang="en-GB" sz="1400" b="1" dirty="0">
                          <a:latin typeface="Comic Sans MS" pitchFamily="66" charset="0"/>
                        </a:rPr>
                        <a:t>Suffix</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b="1">
                          <a:latin typeface="Comic Sans MS" pitchFamily="66" charset="0"/>
                        </a:rPr>
                        <a:t>Example</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b="1">
                          <a:latin typeface="Comic Sans MS" pitchFamily="66" charset="0"/>
                        </a:rPr>
                        <a:t> </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b="1">
                          <a:latin typeface="Comic Sans MS" pitchFamily="66" charset="0"/>
                        </a:rPr>
                        <a:t>Suffix</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b="1">
                          <a:latin typeface="Comic Sans MS" pitchFamily="66" charset="0"/>
                        </a:rPr>
                        <a:t>Example</a:t>
                      </a:r>
                      <a:endParaRPr lang="en-GB" sz="140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0"/>
                  </a:ext>
                </a:extLst>
              </a:tr>
              <a:tr h="724255">
                <a:tc>
                  <a:txBody>
                    <a:bodyPr/>
                    <a:lstStyle/>
                    <a:p>
                      <a:r>
                        <a:rPr lang="en-GB" sz="1400" b="1" dirty="0" err="1">
                          <a:latin typeface="Comic Sans MS" pitchFamily="66" charset="0"/>
                        </a:rPr>
                        <a:t>ed</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walk + </a:t>
                      </a:r>
                      <a:r>
                        <a:rPr lang="en-GB" sz="1400" dirty="0" err="1">
                          <a:latin typeface="Comic Sans MS" pitchFamily="66" charset="0"/>
                        </a:rPr>
                        <a:t>ed</a:t>
                      </a:r>
                      <a:r>
                        <a:rPr lang="en-GB" sz="1400" dirty="0">
                          <a:latin typeface="Comic Sans MS" pitchFamily="66" charset="0"/>
                        </a:rPr>
                        <a:t> = walk</a:t>
                      </a:r>
                      <a:r>
                        <a:rPr lang="en-GB" sz="1400" b="1" dirty="0">
                          <a:latin typeface="Comic Sans MS" pitchFamily="66" charset="0"/>
                        </a:rPr>
                        <a:t>ed</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ness</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happy + ness = happi</a:t>
                      </a:r>
                      <a:r>
                        <a:rPr lang="en-GB" sz="1400" b="1">
                          <a:latin typeface="Comic Sans MS" pitchFamily="66" charset="0"/>
                        </a:rPr>
                        <a:t>ness</a:t>
                      </a:r>
                      <a:endParaRPr lang="en-GB" sz="140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1"/>
                  </a:ext>
                </a:extLst>
              </a:tr>
              <a:tr h="724255">
                <a:tc>
                  <a:txBody>
                    <a:bodyPr/>
                    <a:lstStyle/>
                    <a:p>
                      <a:r>
                        <a:rPr lang="en-GB" sz="1400" b="1">
                          <a:latin typeface="Comic Sans MS" pitchFamily="66" charset="0"/>
                        </a:rPr>
                        <a:t>ing</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say + </a:t>
                      </a:r>
                      <a:r>
                        <a:rPr lang="en-GB" sz="1400" dirty="0" err="1">
                          <a:latin typeface="Comic Sans MS" pitchFamily="66" charset="0"/>
                        </a:rPr>
                        <a:t>ing</a:t>
                      </a:r>
                      <a:r>
                        <a:rPr lang="en-GB" sz="1400" dirty="0">
                          <a:latin typeface="Comic Sans MS" pitchFamily="66" charset="0"/>
                        </a:rPr>
                        <a:t> = say</a:t>
                      </a:r>
                      <a:r>
                        <a:rPr lang="en-GB" sz="1400" b="1" dirty="0">
                          <a:latin typeface="Comic Sans MS" pitchFamily="66" charset="0"/>
                        </a:rPr>
                        <a:t>ing</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al</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accident + al = accident</a:t>
                      </a:r>
                      <a:r>
                        <a:rPr lang="en-GB" sz="1400" b="1">
                          <a:latin typeface="Comic Sans MS" pitchFamily="66" charset="0"/>
                        </a:rPr>
                        <a:t>al</a:t>
                      </a:r>
                      <a:endParaRPr lang="en-GB" sz="140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2"/>
                  </a:ext>
                </a:extLst>
              </a:tr>
              <a:tr h="724255">
                <a:tc>
                  <a:txBody>
                    <a:bodyPr/>
                    <a:lstStyle/>
                    <a:p>
                      <a:r>
                        <a:rPr lang="en-GB" sz="1400" b="1">
                          <a:latin typeface="Comic Sans MS" pitchFamily="66" charset="0"/>
                        </a:rPr>
                        <a:t>er</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tall + er = tall</a:t>
                      </a:r>
                      <a:r>
                        <a:rPr lang="en-GB" sz="1400" b="1">
                          <a:latin typeface="Comic Sans MS" pitchFamily="66" charset="0"/>
                        </a:rPr>
                        <a:t>er</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ary</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imagine + ary = imagin</a:t>
                      </a:r>
                      <a:r>
                        <a:rPr lang="en-GB" sz="1400" b="1">
                          <a:latin typeface="Comic Sans MS" pitchFamily="66" charset="0"/>
                        </a:rPr>
                        <a:t>ary</a:t>
                      </a:r>
                      <a:endParaRPr lang="en-GB" sz="140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3"/>
                  </a:ext>
                </a:extLst>
              </a:tr>
              <a:tr h="724255">
                <a:tc>
                  <a:txBody>
                    <a:bodyPr/>
                    <a:lstStyle/>
                    <a:p>
                      <a:r>
                        <a:rPr lang="en-GB" sz="1400" b="1">
                          <a:latin typeface="Comic Sans MS" pitchFamily="66" charset="0"/>
                        </a:rPr>
                        <a:t>tion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educate + tion = educa</a:t>
                      </a:r>
                      <a:r>
                        <a:rPr lang="en-GB" sz="1400" b="1">
                          <a:latin typeface="Comic Sans MS" pitchFamily="66" charset="0"/>
                        </a:rPr>
                        <a:t>tion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dirty="0">
                          <a:latin typeface="Comic Sans MS" pitchFamily="66" charset="0"/>
                        </a:rPr>
                        <a:t>able</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accept + able = accept</a:t>
                      </a:r>
                      <a:r>
                        <a:rPr lang="en-GB" sz="1400" b="1">
                          <a:latin typeface="Comic Sans MS" pitchFamily="66" charset="0"/>
                        </a:rPr>
                        <a:t>able</a:t>
                      </a:r>
                      <a:endParaRPr lang="en-GB" sz="140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4"/>
                  </a:ext>
                </a:extLst>
              </a:tr>
              <a:tr h="724255">
                <a:tc>
                  <a:txBody>
                    <a:bodyPr/>
                    <a:lstStyle/>
                    <a:p>
                      <a:r>
                        <a:rPr lang="en-GB" sz="1400" b="1">
                          <a:latin typeface="Comic Sans MS" pitchFamily="66" charset="0"/>
                        </a:rPr>
                        <a:t>sion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divide + sion = divi</a:t>
                      </a:r>
                      <a:r>
                        <a:rPr lang="en-GB" sz="1400" b="1">
                          <a:latin typeface="Comic Sans MS" pitchFamily="66" charset="0"/>
                        </a:rPr>
                        <a:t>sion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dirty="0" err="1">
                          <a:latin typeface="Comic Sans MS" pitchFamily="66" charset="0"/>
                        </a:rPr>
                        <a:t>ly</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love + </a:t>
                      </a:r>
                      <a:r>
                        <a:rPr lang="en-GB" sz="1400" dirty="0" err="1">
                          <a:latin typeface="Comic Sans MS" pitchFamily="66" charset="0"/>
                        </a:rPr>
                        <a:t>ly</a:t>
                      </a:r>
                      <a:r>
                        <a:rPr lang="en-GB" sz="1400" dirty="0">
                          <a:latin typeface="Comic Sans MS" pitchFamily="66" charset="0"/>
                        </a:rPr>
                        <a:t> = love</a:t>
                      </a:r>
                      <a:r>
                        <a:rPr lang="en-GB" sz="1400" b="1" dirty="0">
                          <a:latin typeface="Comic Sans MS" pitchFamily="66" charset="0"/>
                        </a:rPr>
                        <a:t>ly</a:t>
                      </a:r>
                      <a:endParaRPr lang="en-GB" sz="1400" dirty="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5"/>
                  </a:ext>
                </a:extLst>
              </a:tr>
              <a:tr h="949997">
                <a:tc>
                  <a:txBody>
                    <a:bodyPr/>
                    <a:lstStyle/>
                    <a:p>
                      <a:r>
                        <a:rPr lang="en-GB" sz="1400" b="1">
                          <a:latin typeface="Comic Sans MS" pitchFamily="66" charset="0"/>
                        </a:rPr>
                        <a:t>cian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music + cian = musi</a:t>
                      </a:r>
                      <a:r>
                        <a:rPr lang="en-GB" sz="1400" b="1">
                          <a:latin typeface="Comic Sans MS" pitchFamily="66" charset="0"/>
                        </a:rPr>
                        <a:t>cian</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ment</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excite + </a:t>
                      </a:r>
                      <a:r>
                        <a:rPr lang="en-GB" sz="1400" dirty="0" err="1">
                          <a:latin typeface="Comic Sans MS" pitchFamily="66" charset="0"/>
                        </a:rPr>
                        <a:t>ment</a:t>
                      </a:r>
                      <a:r>
                        <a:rPr lang="en-GB" sz="1400" dirty="0">
                          <a:latin typeface="Comic Sans MS" pitchFamily="66" charset="0"/>
                        </a:rPr>
                        <a:t> = excite</a:t>
                      </a:r>
                      <a:r>
                        <a:rPr lang="en-GB" sz="1400" b="1" dirty="0">
                          <a:latin typeface="Comic Sans MS" pitchFamily="66" charset="0"/>
                        </a:rPr>
                        <a:t>ment</a:t>
                      </a:r>
                      <a:endParaRPr lang="en-GB" sz="1400" dirty="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6"/>
                  </a:ext>
                </a:extLst>
              </a:tr>
              <a:tr h="724255">
                <a:tc>
                  <a:txBody>
                    <a:bodyPr/>
                    <a:lstStyle/>
                    <a:p>
                      <a:r>
                        <a:rPr lang="en-GB" sz="1400" b="1">
                          <a:latin typeface="Comic Sans MS" pitchFamily="66" charset="0"/>
                        </a:rPr>
                        <a:t>fully</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hope + fully = hope</a:t>
                      </a:r>
                      <a:r>
                        <a:rPr lang="en-GB" sz="1400" b="1" dirty="0">
                          <a:latin typeface="Comic Sans MS" pitchFamily="66" charset="0"/>
                        </a:rPr>
                        <a:t>fully</a:t>
                      </a:r>
                      <a:endParaRPr lang="en-GB" sz="1400" dirty="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ful</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help + </a:t>
                      </a:r>
                      <a:r>
                        <a:rPr lang="en-GB" sz="1400" dirty="0" err="1">
                          <a:latin typeface="Comic Sans MS" pitchFamily="66" charset="0"/>
                        </a:rPr>
                        <a:t>ful</a:t>
                      </a:r>
                      <a:r>
                        <a:rPr lang="en-GB" sz="1400" dirty="0">
                          <a:latin typeface="Comic Sans MS" pitchFamily="66" charset="0"/>
                        </a:rPr>
                        <a:t> + help</a:t>
                      </a:r>
                      <a:r>
                        <a:rPr lang="en-GB" sz="1400" b="1" dirty="0">
                          <a:latin typeface="Comic Sans MS" pitchFamily="66" charset="0"/>
                        </a:rPr>
                        <a:t>ful</a:t>
                      </a:r>
                      <a:endParaRPr lang="en-GB" sz="1400" dirty="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7"/>
                  </a:ext>
                </a:extLst>
              </a:tr>
              <a:tr h="498513">
                <a:tc>
                  <a:txBody>
                    <a:bodyPr/>
                    <a:lstStyle/>
                    <a:p>
                      <a:r>
                        <a:rPr lang="en-GB" sz="1400" b="1">
                          <a:latin typeface="Comic Sans MS" pitchFamily="66" charset="0"/>
                        </a:rPr>
                        <a:t>est</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large + est = larg</a:t>
                      </a:r>
                      <a:r>
                        <a:rPr lang="en-GB" sz="1400" b="1">
                          <a:latin typeface="Comic Sans MS" pitchFamily="66" charset="0"/>
                        </a:rPr>
                        <a:t>est</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a:latin typeface="Comic Sans MS" pitchFamily="66" charset="0"/>
                        </a:rPr>
                        <a:t> </a:t>
                      </a:r>
                    </a:p>
                  </a:txBody>
                  <a:tcPr marL="18785" marR="18785" marT="18785" marB="18785">
                    <a:lnL>
                      <a:noFill/>
                    </a:lnL>
                    <a:lnR>
                      <a:noFill/>
                    </a:lnR>
                    <a:lnT>
                      <a:noFill/>
                    </a:lnT>
                    <a:lnB>
                      <a:noFill/>
                    </a:lnB>
                  </a:tcPr>
                </a:tc>
                <a:tc>
                  <a:txBody>
                    <a:bodyPr/>
                    <a:lstStyle/>
                    <a:p>
                      <a:r>
                        <a:rPr lang="en-GB" sz="1400" b="1">
                          <a:latin typeface="Comic Sans MS" pitchFamily="66" charset="0"/>
                        </a:rPr>
                        <a:t>y</a:t>
                      </a:r>
                      <a:endParaRPr lang="en-GB" sz="1400">
                        <a:latin typeface="Comic Sans MS" pitchFamily="66" charset="0"/>
                      </a:endParaRPr>
                    </a:p>
                  </a:txBody>
                  <a:tcPr marL="18785" marR="18785" marT="18785" marB="18785">
                    <a:lnL>
                      <a:noFill/>
                    </a:lnL>
                    <a:lnR>
                      <a:noFill/>
                    </a:lnR>
                    <a:lnT>
                      <a:noFill/>
                    </a:lnT>
                    <a:lnB>
                      <a:noFill/>
                    </a:lnB>
                  </a:tcPr>
                </a:tc>
                <a:tc>
                  <a:txBody>
                    <a:bodyPr/>
                    <a:lstStyle/>
                    <a:p>
                      <a:r>
                        <a:rPr lang="en-GB" sz="1400" dirty="0">
                          <a:latin typeface="Comic Sans MS" pitchFamily="66" charset="0"/>
                        </a:rPr>
                        <a:t>ease + y = eas</a:t>
                      </a:r>
                      <a:r>
                        <a:rPr lang="en-GB" sz="1400" b="1" dirty="0">
                          <a:latin typeface="Comic Sans MS" pitchFamily="66" charset="0"/>
                        </a:rPr>
                        <a:t>y</a:t>
                      </a:r>
                      <a:endParaRPr lang="en-GB" sz="1400" dirty="0">
                        <a:latin typeface="Comic Sans MS" pitchFamily="66" charset="0"/>
                      </a:endParaRPr>
                    </a:p>
                  </a:txBody>
                  <a:tcPr marL="18785" marR="18785" marT="18785" marB="18785">
                    <a:lnL>
                      <a:noFill/>
                    </a:lnL>
                    <a:lnR>
                      <a:noFill/>
                    </a:lnR>
                    <a:lnT>
                      <a:noFill/>
                    </a:lnT>
                    <a:lnB>
                      <a:noFill/>
                    </a:lnB>
                  </a:tcPr>
                </a:tc>
                <a:extLst>
                  <a:ext uri="{0D108BD9-81ED-4DB2-BD59-A6C34878D82A}">
                    <a16:rowId xmlns:a16="http://schemas.microsoft.com/office/drawing/2014/main" val="10008"/>
                  </a:ext>
                </a:extLst>
              </a:tr>
            </a:tbl>
          </a:graphicData>
        </a:graphic>
      </p:graphicFrame>
      <p:sp>
        <p:nvSpPr>
          <p:cNvPr id="5121"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Suffixes... Common errors</a:t>
            </a:r>
          </a:p>
        </p:txBody>
      </p:sp>
      <p:sp>
        <p:nvSpPr>
          <p:cNvPr id="2051" name="Text Box 3"/>
          <p:cNvSpPr txBox="1">
            <a:spLocks noChangeArrowheads="1"/>
          </p:cNvSpPr>
          <p:nvPr/>
        </p:nvSpPr>
        <p:spPr bwMode="auto">
          <a:xfrm>
            <a:off x="500034" y="1785926"/>
            <a:ext cx="7129486" cy="92869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sz="2000" b="0" i="0" u="none" strike="noStrike" cap="none" normalizeH="0" baseline="0" dirty="0">
                <a:ln>
                  <a:noFill/>
                </a:ln>
                <a:solidFill>
                  <a:schemeClr val="tx1"/>
                </a:solidFill>
                <a:effectLst/>
                <a:latin typeface="Comic Sans MS" pitchFamily="66" charset="0"/>
                <a:cs typeface="Arial" pitchFamily="34" charset="0"/>
              </a:rPr>
              <a:t>-less with less than two </a:t>
            </a:r>
            <a:r>
              <a:rPr kumimoji="0" lang="en-GB" sz="2000" b="0" i="0" u="none" strike="noStrike" cap="none" normalizeH="0" baseline="0" dirty="0" err="1">
                <a:ln>
                  <a:noFill/>
                </a:ln>
                <a:solidFill>
                  <a:schemeClr val="tx1"/>
                </a:solidFill>
                <a:effectLst/>
                <a:latin typeface="Comic Sans MS" pitchFamily="66" charset="0"/>
                <a:cs typeface="Arial" pitchFamily="34" charset="0"/>
              </a:rPr>
              <a:t>ss</a:t>
            </a:r>
            <a:r>
              <a:rPr kumimoji="0" lang="en-GB" sz="2000" b="0" i="0" u="none" strike="noStrike" cap="none" normalizeH="0" baseline="0" dirty="0">
                <a:ln>
                  <a:noFill/>
                </a:ln>
                <a:solidFill>
                  <a:schemeClr val="tx1"/>
                </a:solidFill>
                <a:effectLst/>
                <a:latin typeface="Comic Sans MS" pitchFamily="66" charset="0"/>
                <a:cs typeface="Arial" pitchFamily="34" charset="0"/>
              </a:rPr>
              <a:t> is use</a:t>
            </a:r>
            <a:r>
              <a:rPr kumimoji="0" lang="en-GB" sz="2000" b="0" i="0" u="none" strike="noStrike" cap="none" normalizeH="0" baseline="0" dirty="0">
                <a:ln>
                  <a:noFill/>
                </a:ln>
                <a:solidFill>
                  <a:srgbClr val="002060"/>
                </a:solidFill>
                <a:effectLst/>
                <a:latin typeface="Comic Sans MS" pitchFamily="66" charset="0"/>
                <a:cs typeface="Arial" pitchFamily="34" charset="0"/>
              </a:rPr>
              <a:t>less</a:t>
            </a:r>
            <a:r>
              <a:rPr kumimoji="0" lang="en-GB" sz="2000" b="0" i="0" u="none" strike="noStrike" cap="none" normalizeH="0" baseline="0" dirty="0">
                <a:ln>
                  <a:noFill/>
                </a:ln>
                <a:solidFill>
                  <a:schemeClr val="tx1"/>
                </a:solidFill>
                <a:effectLst/>
                <a:latin typeface="Comic Sans MS" pitchFamily="66" charset="0"/>
                <a:cs typeface="Arial" pitchFamily="34" charset="0"/>
              </a:rPr>
              <a:t>.</a:t>
            </a:r>
            <a:endParaRPr lang="en-GB" sz="2000"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sz="2000" b="0" i="0" u="none" strike="noStrike" cap="none" normalizeH="0" baseline="0" dirty="0">
                <a:ln>
                  <a:noFill/>
                </a:ln>
                <a:solidFill>
                  <a:schemeClr val="tx1"/>
                </a:solidFill>
                <a:effectLst/>
                <a:latin typeface="Comic Sans MS" pitchFamily="66" charset="0"/>
                <a:cs typeface="Arial" pitchFamily="34" charset="0"/>
              </a:rPr>
              <a:t>Care</a:t>
            </a:r>
            <a:r>
              <a:rPr kumimoji="0" lang="en-GB" sz="2000" b="0" i="0" u="none" strike="noStrike" cap="none" normalizeH="0" baseline="0" dirty="0">
                <a:ln>
                  <a:noFill/>
                </a:ln>
                <a:solidFill>
                  <a:schemeClr val="tx2">
                    <a:lumMod val="75000"/>
                  </a:schemeClr>
                </a:solidFill>
                <a:effectLst/>
                <a:latin typeface="Comic Sans MS" pitchFamily="66" charset="0"/>
                <a:cs typeface="Arial" pitchFamily="34" charset="0"/>
              </a:rPr>
              <a:t>less</a:t>
            </a:r>
            <a:r>
              <a:rPr kumimoji="0" lang="en-GB" sz="2000" b="0" i="0" u="none" strike="noStrike" cap="none" normalizeH="0" baseline="0" dirty="0">
                <a:ln>
                  <a:noFill/>
                </a:ln>
                <a:solidFill>
                  <a:schemeClr val="tx1"/>
                </a:solidFill>
                <a:effectLst/>
                <a:latin typeface="Comic Sans MS" pitchFamily="66" charset="0"/>
                <a:cs typeface="Arial" pitchFamily="34" charset="0"/>
              </a:rPr>
              <a:t>		hope</a:t>
            </a:r>
            <a:r>
              <a:rPr kumimoji="0" lang="en-GB" sz="2000" b="0" i="0" u="none" strike="noStrike" cap="none" normalizeH="0" baseline="0" dirty="0">
                <a:ln>
                  <a:noFill/>
                </a:ln>
                <a:solidFill>
                  <a:schemeClr val="tx2">
                    <a:lumMod val="75000"/>
                  </a:schemeClr>
                </a:solidFill>
                <a:effectLst/>
                <a:latin typeface="Comic Sans MS" pitchFamily="66" charset="0"/>
                <a:cs typeface="Arial" pitchFamily="34" charset="0"/>
              </a:rPr>
              <a:t>less</a:t>
            </a:r>
            <a:r>
              <a:rPr kumimoji="0" lang="en-GB" sz="2000" b="0" i="0" u="none" strike="noStrike" cap="none" normalizeH="0" baseline="0" dirty="0">
                <a:ln>
                  <a:noFill/>
                </a:ln>
                <a:solidFill>
                  <a:schemeClr val="tx1"/>
                </a:solidFill>
                <a:effectLst/>
                <a:latin typeface="Comic Sans MS" pitchFamily="66" charset="0"/>
                <a:cs typeface="Arial" pitchFamily="34" charset="0"/>
              </a:rPr>
              <a:t> 		relent</a:t>
            </a:r>
            <a:r>
              <a:rPr kumimoji="0" lang="en-GB" sz="2000" b="0" i="0" u="none" strike="noStrike" cap="none" normalizeH="0" baseline="0" dirty="0">
                <a:ln>
                  <a:noFill/>
                </a:ln>
                <a:solidFill>
                  <a:schemeClr val="tx2">
                    <a:lumMod val="75000"/>
                  </a:schemeClr>
                </a:solidFill>
                <a:effectLst/>
                <a:latin typeface="Comic Sans MS" pitchFamily="66" charset="0"/>
                <a:cs typeface="Arial" pitchFamily="34" charset="0"/>
              </a:rPr>
              <a:t>less</a:t>
            </a:r>
            <a:r>
              <a:rPr kumimoji="0" lang="en-GB" sz="2000" b="0" i="0" u="none" strike="noStrike" cap="none" normalizeH="0" dirty="0">
                <a:ln>
                  <a:noFill/>
                </a:ln>
                <a:solidFill>
                  <a:schemeClr val="tx1"/>
                </a:solidFill>
                <a:effectLst/>
                <a:latin typeface="Comic Sans MS" pitchFamily="66" charset="0"/>
                <a:cs typeface="Arial" pitchFamily="34" charset="0"/>
              </a:rPr>
              <a:t> </a:t>
            </a:r>
            <a:r>
              <a:rPr kumimoji="0" lang="en-GB" sz="2000" b="0" i="0" u="none" strike="noStrike" cap="none" normalizeH="0" baseline="0" dirty="0">
                <a:ln>
                  <a:noFill/>
                </a:ln>
                <a:solidFill>
                  <a:schemeClr val="tx1"/>
                </a:solidFill>
                <a:effectLst/>
                <a:latin typeface="Comic Sans MS" pitchFamily="66"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lang="en-GB" sz="2000"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2000" b="0" i="0" u="none" strike="noStrike" cap="none" normalizeH="0" baseline="0" dirty="0">
              <a:ln>
                <a:noFill/>
              </a:ln>
              <a:solidFill>
                <a:schemeClr val="tx1"/>
              </a:solidFill>
              <a:effectLst/>
              <a:latin typeface="Comic Sans MS" pitchFamily="66" charset="0"/>
              <a:cs typeface="Arial" pitchFamily="34" charset="0"/>
            </a:endParaRPr>
          </a:p>
        </p:txBody>
      </p:sp>
      <p:sp>
        <p:nvSpPr>
          <p:cNvPr id="2052" name="Text Box 4"/>
          <p:cNvSpPr txBox="1">
            <a:spLocks noChangeArrowheads="1"/>
          </p:cNvSpPr>
          <p:nvPr/>
        </p:nvSpPr>
        <p:spPr bwMode="auto">
          <a:xfrm>
            <a:off x="500034" y="4500570"/>
            <a:ext cx="7072362" cy="2000264"/>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GB" b="0" i="0" u="none" strike="noStrike" cap="none" normalizeH="0" baseline="0" dirty="0">
                <a:ln>
                  <a:noFill/>
                </a:ln>
                <a:solidFill>
                  <a:schemeClr val="tx1"/>
                </a:solidFill>
                <a:effectLst/>
                <a:latin typeface="Comic Sans MS" pitchFamily="66" charset="0"/>
                <a:cs typeface="Arial" pitchFamily="34" charset="0"/>
              </a:rPr>
              <a:t>-</a:t>
            </a:r>
            <a:r>
              <a:rPr kumimoji="0" lang="en-GB" b="0" i="0" u="none" strike="noStrike" cap="none" normalizeH="0" baseline="0" dirty="0" err="1">
                <a:ln>
                  <a:noFill/>
                </a:ln>
                <a:solidFill>
                  <a:schemeClr val="tx1"/>
                </a:solidFill>
                <a:effectLst/>
                <a:latin typeface="Comic Sans MS" pitchFamily="66" charset="0"/>
                <a:cs typeface="Arial" pitchFamily="34" charset="0"/>
              </a:rPr>
              <a:t>ful</a:t>
            </a:r>
            <a:r>
              <a:rPr kumimoji="0" lang="en-GB" b="0" i="0" u="none" strike="noStrike" cap="none" normalizeH="0" baseline="0" dirty="0">
                <a:ln>
                  <a:noFill/>
                </a:ln>
                <a:solidFill>
                  <a:schemeClr val="tx1"/>
                </a:solidFill>
                <a:effectLst/>
                <a:latin typeface="Comic Sans MS" pitchFamily="66" charset="0"/>
                <a:cs typeface="Arial" pitchFamily="34" charset="0"/>
              </a:rPr>
              <a:t> is </a:t>
            </a:r>
            <a:r>
              <a:rPr kumimoji="0" lang="en-GB" b="0" i="0" u="sng" strike="noStrike" cap="none" normalizeH="0" baseline="0" dirty="0">
                <a:ln>
                  <a:noFill/>
                </a:ln>
                <a:solidFill>
                  <a:schemeClr val="tx1"/>
                </a:solidFill>
                <a:effectLst/>
                <a:latin typeface="Comic Sans MS" pitchFamily="66" charset="0"/>
                <a:cs typeface="Arial" pitchFamily="34" charset="0"/>
              </a:rPr>
              <a:t>always</a:t>
            </a:r>
            <a:r>
              <a:rPr kumimoji="0" lang="en-GB" b="0" i="0" u="none" strike="noStrike" cap="none" normalizeH="0" baseline="0" dirty="0">
                <a:ln>
                  <a:noFill/>
                </a:ln>
                <a:solidFill>
                  <a:schemeClr val="tx1"/>
                </a:solidFill>
                <a:effectLst/>
                <a:latin typeface="Comic Sans MS" pitchFamily="66" charset="0"/>
                <a:cs typeface="Arial" pitchFamily="34" charset="0"/>
              </a:rPr>
              <a:t> a three-letter word - unless it's used as a word on its own:</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b="0" i="0" u="none" strike="noStrike" cap="none" normalizeH="0" baseline="0" dirty="0">
                <a:ln>
                  <a:noFill/>
                </a:ln>
                <a:solidFill>
                  <a:schemeClr val="tx1"/>
                </a:solidFill>
                <a:effectLst/>
                <a:latin typeface="Comic Sans MS" pitchFamily="66" charset="0"/>
                <a:cs typeface="Arial" pitchFamily="34" charset="0"/>
              </a:rPr>
              <a:t>Someone who's </a:t>
            </a:r>
            <a:r>
              <a:rPr kumimoji="0" lang="en-GB" b="1" i="0" u="none" strike="noStrike" cap="none" normalizeH="0" baseline="0" dirty="0">
                <a:ln>
                  <a:noFill/>
                </a:ln>
                <a:solidFill>
                  <a:schemeClr val="tx1"/>
                </a:solidFill>
                <a:effectLst/>
                <a:latin typeface="Comic Sans MS" pitchFamily="66" charset="0"/>
                <a:cs typeface="Arial" pitchFamily="34" charset="0"/>
              </a:rPr>
              <a:t>full</a:t>
            </a:r>
            <a:r>
              <a:rPr kumimoji="0" lang="en-GB" b="0" i="0" u="none" strike="noStrike" cap="none" normalizeH="0" baseline="0" dirty="0">
                <a:ln>
                  <a:noFill/>
                </a:ln>
                <a:solidFill>
                  <a:schemeClr val="tx1"/>
                </a:solidFill>
                <a:effectLst/>
                <a:latin typeface="Comic Sans MS" pitchFamily="66" charset="0"/>
                <a:cs typeface="Arial" pitchFamily="34" charset="0"/>
              </a:rPr>
              <a:t> of care is care</a:t>
            </a:r>
            <a:r>
              <a:rPr kumimoji="0" lang="en-GB" b="1" i="0" u="none" strike="noStrike" cap="none" normalizeH="0" baseline="0" dirty="0">
                <a:ln>
                  <a:noFill/>
                </a:ln>
                <a:solidFill>
                  <a:schemeClr val="tx1"/>
                </a:solidFill>
                <a:effectLst/>
                <a:latin typeface="Comic Sans MS" pitchFamily="66" charset="0"/>
                <a:cs typeface="Arial" pitchFamily="34" charset="0"/>
              </a:rPr>
              <a:t>ful</a:t>
            </a:r>
            <a:r>
              <a:rPr kumimoji="0" lang="en-GB" b="0" i="0" u="none" strike="noStrike" cap="none" normalizeH="0" baseline="0" dirty="0">
                <a:ln>
                  <a:noFill/>
                </a:ln>
                <a:solidFill>
                  <a:schemeClr val="tx1"/>
                </a:solidFill>
                <a:effectLst/>
                <a:latin typeface="Comic Sans MS" pitchFamily="66" charset="0"/>
                <a:cs typeface="Arial" pitchFamily="34" charset="0"/>
              </a:rPr>
              <a:t>.</a:t>
            </a:r>
          </a:p>
          <a:p>
            <a:pPr marL="0" marR="0" lvl="0" indent="0" algn="l" defTabSz="914400" rtl="0" eaLnBrk="1" fontAlgn="base" latinLnBrk="0" hangingPunct="1">
              <a:lnSpc>
                <a:spcPct val="100000"/>
              </a:lnSpc>
              <a:spcBef>
                <a:spcPct val="0"/>
              </a:spcBef>
              <a:spcAft>
                <a:spcPts val="1000"/>
              </a:spcAft>
              <a:buClrTx/>
              <a:buSzTx/>
              <a:buFontTx/>
              <a:buNone/>
              <a:tabLst/>
            </a:pPr>
            <a:endParaRPr lang="en-GB"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b="0" i="0" u="none" strike="noStrike" cap="none" normalizeH="0" baseline="0" dirty="0">
                <a:ln>
                  <a:noFill/>
                </a:ln>
                <a:solidFill>
                  <a:schemeClr val="tx1"/>
                </a:solidFill>
                <a:effectLst/>
                <a:latin typeface="Comic Sans MS" pitchFamily="66" charset="0"/>
                <a:cs typeface="Arial" pitchFamily="34" charset="0"/>
              </a:rPr>
              <a:t>Mind</a:t>
            </a:r>
            <a:r>
              <a:rPr kumimoji="0" lang="en-GB" b="0" i="0" u="none" strike="noStrike" cap="none" normalizeH="0" baseline="0" dirty="0">
                <a:ln>
                  <a:noFill/>
                </a:ln>
                <a:solidFill>
                  <a:schemeClr val="tx2">
                    <a:lumMod val="75000"/>
                  </a:schemeClr>
                </a:solidFill>
                <a:effectLst/>
                <a:latin typeface="Comic Sans MS" pitchFamily="66" charset="0"/>
                <a:cs typeface="Arial" pitchFamily="34" charset="0"/>
              </a:rPr>
              <a:t>ful</a:t>
            </a:r>
            <a:r>
              <a:rPr kumimoji="0" lang="en-GB" b="0" i="0" u="none" strike="noStrike" cap="none" normalizeH="0" baseline="0" dirty="0">
                <a:ln>
                  <a:noFill/>
                </a:ln>
                <a:solidFill>
                  <a:schemeClr val="tx1"/>
                </a:solidFill>
                <a:effectLst/>
                <a:latin typeface="Comic Sans MS" pitchFamily="66" charset="0"/>
                <a:cs typeface="Arial" pitchFamily="34" charset="0"/>
              </a:rPr>
              <a:t>		success</a:t>
            </a:r>
            <a:r>
              <a:rPr kumimoji="0" lang="en-GB" b="0" i="0" u="none" strike="noStrike" cap="none" normalizeH="0" baseline="0" dirty="0">
                <a:ln>
                  <a:noFill/>
                </a:ln>
                <a:solidFill>
                  <a:schemeClr val="tx2">
                    <a:lumMod val="75000"/>
                  </a:schemeClr>
                </a:solidFill>
                <a:effectLst/>
                <a:latin typeface="Comic Sans MS" pitchFamily="66" charset="0"/>
                <a:cs typeface="Arial" pitchFamily="34" charset="0"/>
              </a:rPr>
              <a:t>ful</a:t>
            </a:r>
            <a:r>
              <a:rPr kumimoji="0" lang="en-GB" b="0" i="0" u="none" strike="noStrike" cap="none" normalizeH="0" baseline="0" dirty="0">
                <a:ln>
                  <a:noFill/>
                </a:ln>
                <a:solidFill>
                  <a:schemeClr val="tx1"/>
                </a:solidFill>
                <a:effectLst/>
                <a:latin typeface="Comic Sans MS" pitchFamily="66" charset="0"/>
                <a:cs typeface="Arial" pitchFamily="34" charset="0"/>
              </a:rPr>
              <a:t>	hope</a:t>
            </a:r>
            <a:r>
              <a:rPr kumimoji="0" lang="en-GB" b="0" i="0" u="none" strike="noStrike" cap="none" normalizeH="0" baseline="0" dirty="0">
                <a:ln>
                  <a:noFill/>
                </a:ln>
                <a:solidFill>
                  <a:schemeClr val="tx2">
                    <a:lumMod val="75000"/>
                  </a:schemeClr>
                </a:solidFill>
                <a:effectLst/>
                <a:latin typeface="Comic Sans MS" pitchFamily="66" charset="0"/>
                <a:cs typeface="Arial" pitchFamily="34" charset="0"/>
              </a:rPr>
              <a:t>ful</a:t>
            </a:r>
            <a:r>
              <a:rPr kumimoji="0" lang="en-GB" b="0" i="0" u="none" strike="noStrike" cap="none" normalizeH="0" baseline="0" dirty="0">
                <a:ln>
                  <a:noFill/>
                </a:ln>
                <a:solidFill>
                  <a:schemeClr val="tx1"/>
                </a:solidFill>
                <a:effectLst/>
                <a:latin typeface="Comic Sans MS" pitchFamily="66" charset="0"/>
                <a:cs typeface="Arial" pitchFamily="34" charset="0"/>
              </a:rPr>
              <a:t>		regret</a:t>
            </a:r>
            <a:r>
              <a:rPr kumimoji="0" lang="en-GB" b="0" i="0" u="none" strike="noStrike" cap="none" normalizeH="0" baseline="0" dirty="0">
                <a:ln>
                  <a:noFill/>
                </a:ln>
                <a:solidFill>
                  <a:schemeClr val="tx2">
                    <a:lumMod val="75000"/>
                  </a:schemeClr>
                </a:solidFill>
                <a:effectLst/>
                <a:latin typeface="Comic Sans MS" pitchFamily="66" charset="0"/>
                <a:cs typeface="Arial" pitchFamily="34" charset="0"/>
              </a:rPr>
              <a:t>ful</a:t>
            </a:r>
            <a:endParaRPr kumimoji="0" lang="en-US" b="0" i="0" u="none" strike="noStrike" cap="none" normalizeH="0" baseline="0" dirty="0">
              <a:ln>
                <a:noFill/>
              </a:ln>
              <a:solidFill>
                <a:schemeClr val="tx2">
                  <a:lumMod val="75000"/>
                </a:schemeClr>
              </a:solidFill>
              <a:effectLst/>
              <a:latin typeface="Comic Sans MS" pitchFamily="66" charset="0"/>
              <a:cs typeface="Arial" pitchFamily="34" charset="0"/>
            </a:endParaRPr>
          </a:p>
        </p:txBody>
      </p:sp>
      <p:sp>
        <p:nvSpPr>
          <p:cNvPr id="8" name="Text Box 3"/>
          <p:cNvSpPr txBox="1">
            <a:spLocks noChangeArrowheads="1"/>
          </p:cNvSpPr>
          <p:nvPr/>
        </p:nvSpPr>
        <p:spPr bwMode="auto">
          <a:xfrm>
            <a:off x="500034" y="2928934"/>
            <a:ext cx="7129486" cy="134779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lang="en-GB" sz="2000" dirty="0">
                <a:latin typeface="Comic Sans MS" pitchFamily="66" charset="0"/>
                <a:cs typeface="Arial" pitchFamily="34" charset="0"/>
              </a:rPr>
              <a:t>Root words ending in ‘e’.  Remember to drop the ‘e’ when adding ‘</a:t>
            </a:r>
            <a:r>
              <a:rPr lang="en-GB" sz="2000" dirty="0" err="1">
                <a:latin typeface="Comic Sans MS" pitchFamily="66" charset="0"/>
                <a:cs typeface="Arial" pitchFamily="34" charset="0"/>
              </a:rPr>
              <a:t>ing</a:t>
            </a:r>
            <a:r>
              <a:rPr lang="en-GB" sz="2000" dirty="0">
                <a:latin typeface="Comic Sans MS" pitchFamily="66" charset="0"/>
                <a:cs typeface="Arial" pitchFamily="34" charset="0"/>
              </a:rPr>
              <a:t>’!</a:t>
            </a:r>
            <a:endParaRPr kumimoji="0" lang="en-GB" sz="2000" b="0" i="0" u="none" strike="noStrike" cap="none" normalizeH="0" baseline="0" dirty="0">
              <a:ln>
                <a:noFill/>
              </a:ln>
              <a:solidFill>
                <a:schemeClr val="tx1"/>
              </a:solidFill>
              <a:effectLst/>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sz="2000" b="0" i="0" u="none" strike="noStrike" cap="none" normalizeH="0" baseline="0" dirty="0">
                <a:ln>
                  <a:noFill/>
                </a:ln>
                <a:solidFill>
                  <a:schemeClr val="tx1"/>
                </a:solidFill>
                <a:effectLst/>
                <a:latin typeface="Comic Sans MS" pitchFamily="66" charset="0"/>
                <a:cs typeface="Arial" pitchFamily="34" charset="0"/>
              </a:rPr>
              <a:t>Take</a:t>
            </a:r>
            <a:r>
              <a:rPr kumimoji="0" lang="en-GB" sz="2000" b="0" i="0" u="none" strike="noStrike" cap="none" normalizeH="0" dirty="0">
                <a:ln>
                  <a:noFill/>
                </a:ln>
                <a:solidFill>
                  <a:schemeClr val="tx1"/>
                </a:solidFill>
                <a:effectLst/>
                <a:latin typeface="Comic Sans MS" pitchFamily="66" charset="0"/>
                <a:cs typeface="Arial" pitchFamily="34" charset="0"/>
              </a:rPr>
              <a:t> + </a:t>
            </a:r>
            <a:r>
              <a:rPr kumimoji="0" lang="en-GB" sz="2000" b="0" i="0" u="none" strike="noStrike" cap="none" normalizeH="0" dirty="0" err="1">
                <a:ln>
                  <a:noFill/>
                </a:ln>
                <a:solidFill>
                  <a:schemeClr val="tx1"/>
                </a:solidFill>
                <a:effectLst/>
                <a:latin typeface="Comic Sans MS" pitchFamily="66" charset="0"/>
                <a:cs typeface="Arial" pitchFamily="34" charset="0"/>
              </a:rPr>
              <a:t>ing</a:t>
            </a:r>
            <a:r>
              <a:rPr kumimoji="0" lang="en-GB" sz="2000" b="0" i="0" u="none" strike="noStrike" cap="none" normalizeH="0" dirty="0">
                <a:ln>
                  <a:noFill/>
                </a:ln>
                <a:solidFill>
                  <a:schemeClr val="tx1"/>
                </a:solidFill>
                <a:effectLst/>
                <a:latin typeface="Comic Sans MS" pitchFamily="66" charset="0"/>
                <a:cs typeface="Arial" pitchFamily="34" charset="0"/>
              </a:rPr>
              <a:t> = taking		make + </a:t>
            </a:r>
            <a:r>
              <a:rPr kumimoji="0" lang="en-GB" sz="2000" b="0" i="0" u="none" strike="noStrike" cap="none" normalizeH="0" dirty="0" err="1">
                <a:ln>
                  <a:noFill/>
                </a:ln>
                <a:solidFill>
                  <a:schemeClr val="tx1"/>
                </a:solidFill>
                <a:effectLst/>
                <a:latin typeface="Comic Sans MS" pitchFamily="66" charset="0"/>
                <a:cs typeface="Arial" pitchFamily="34" charset="0"/>
              </a:rPr>
              <a:t>ing</a:t>
            </a:r>
            <a:r>
              <a:rPr kumimoji="0" lang="en-GB" sz="2000" b="0" i="0" u="none" strike="noStrike" cap="none" normalizeH="0" dirty="0">
                <a:ln>
                  <a:noFill/>
                </a:ln>
                <a:solidFill>
                  <a:schemeClr val="tx1"/>
                </a:solidFill>
                <a:effectLst/>
                <a:latin typeface="Comic Sans MS" pitchFamily="66" charset="0"/>
                <a:cs typeface="Arial" pitchFamily="34" charset="0"/>
              </a:rPr>
              <a:t> = making</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sz="2000" b="0" i="0" u="none" strike="noStrike" cap="none" normalizeH="0" baseline="0" dirty="0">
                <a:ln>
                  <a:noFill/>
                </a:ln>
                <a:solidFill>
                  <a:schemeClr val="tx1"/>
                </a:solidFill>
                <a:effectLst/>
                <a:latin typeface="Comic Sans MS" pitchFamily="66"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lang="en-GB" sz="2000"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2000" b="0" i="0" u="none" strike="noStrike" cap="none" normalizeH="0" baseline="0" dirty="0">
              <a:ln>
                <a:noFill/>
              </a:ln>
              <a:solidFill>
                <a:schemeClr val="tx1"/>
              </a:solidFill>
              <a:effectLst/>
              <a:latin typeface="Comic Sans MS" pitchFamily="66"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051"/>
                                        </p:tgtEl>
                                        <p:attrNameLst>
                                          <p:attrName>style.visibility</p:attrName>
                                        </p:attrNameLst>
                                      </p:cBhvr>
                                      <p:to>
                                        <p:strVal val="visible"/>
                                      </p:to>
                                    </p:set>
                                    <p:anim to="" calcmode="lin" valueType="num">
                                      <p:cBhvr>
                                        <p:cTn id="7" dur="1" fill="hold"/>
                                        <p:tgtEl>
                                          <p:spTgt spid="205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052"/>
                                        </p:tgtEl>
                                        <p:attrNameLst>
                                          <p:attrName>style.visibility</p:attrName>
                                        </p:attrNameLst>
                                      </p:cBhvr>
                                      <p:to>
                                        <p:strVal val="visible"/>
                                      </p:to>
                                    </p:set>
                                    <p:anim to="" calcmode="lin" valueType="num">
                                      <p:cBhvr>
                                        <p:cTn id="12" dur="1" fill="hold"/>
                                        <p:tgtEl>
                                          <p:spTgt spid="2052"/>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to="" calcmode="lin" valueType="num">
                                      <p:cBhvr>
                                        <p:cTn id="17"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animBg="1"/>
      <p:bldP spid="2052"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Prefixes</a:t>
            </a:r>
          </a:p>
        </p:txBody>
      </p:sp>
      <p:sp>
        <p:nvSpPr>
          <p:cNvPr id="3" name="Content Placeholder 2"/>
          <p:cNvSpPr>
            <a:spLocks noGrp="1"/>
          </p:cNvSpPr>
          <p:nvPr>
            <p:ph idx="1"/>
          </p:nvPr>
        </p:nvSpPr>
        <p:spPr/>
        <p:txBody>
          <a:bodyPr>
            <a:normAutofit fontScale="85000" lnSpcReduction="20000"/>
          </a:bodyPr>
          <a:lstStyle/>
          <a:p>
            <a:r>
              <a:rPr lang="en-GB" dirty="0"/>
              <a:t>A prefix is a group of letters which you can add to the </a:t>
            </a:r>
            <a:r>
              <a:rPr lang="en-GB" b="1" dirty="0"/>
              <a:t>beginning</a:t>
            </a:r>
            <a:r>
              <a:rPr lang="en-GB" dirty="0"/>
              <a:t> of a root word to change the meaning of the word. </a:t>
            </a:r>
          </a:p>
          <a:p>
            <a:pPr>
              <a:buNone/>
            </a:pPr>
            <a:endParaRPr lang="en-GB" dirty="0"/>
          </a:p>
          <a:p>
            <a:pPr>
              <a:buNone/>
            </a:pPr>
            <a:r>
              <a:rPr lang="en-GB" dirty="0"/>
              <a:t> e.g. </a:t>
            </a:r>
            <a:r>
              <a:rPr lang="en-GB" b="1" dirty="0" err="1"/>
              <a:t>mis</a:t>
            </a:r>
            <a:r>
              <a:rPr lang="en-GB" dirty="0"/>
              <a:t> + fortune = </a:t>
            </a:r>
            <a:r>
              <a:rPr lang="en-GB" b="1" dirty="0"/>
              <a:t>mis</a:t>
            </a:r>
            <a:r>
              <a:rPr lang="en-GB" dirty="0"/>
              <a:t>fortune</a:t>
            </a:r>
          </a:p>
          <a:p>
            <a:pPr>
              <a:buNone/>
            </a:pPr>
            <a:endParaRPr lang="en-GB" dirty="0"/>
          </a:p>
          <a:p>
            <a:pPr>
              <a:buNone/>
            </a:pPr>
            <a:r>
              <a:rPr lang="en-GB" b="1" dirty="0"/>
              <a:t>Prefix meanings:</a:t>
            </a:r>
            <a:r>
              <a:rPr lang="en-GB" dirty="0"/>
              <a:t> </a:t>
            </a:r>
            <a:br>
              <a:rPr lang="en-GB" dirty="0"/>
            </a:br>
            <a:r>
              <a:rPr lang="en-GB" dirty="0"/>
              <a:t>Every prefix has a meaning, for example:</a:t>
            </a:r>
            <a:br>
              <a:rPr lang="en-GB" dirty="0"/>
            </a:br>
            <a:r>
              <a:rPr lang="en-GB" dirty="0"/>
              <a:t>The prefix </a:t>
            </a:r>
            <a:r>
              <a:rPr lang="en-GB" b="1" dirty="0"/>
              <a:t>'un'</a:t>
            </a:r>
            <a:r>
              <a:rPr lang="en-GB" dirty="0"/>
              <a:t> means 'not'</a:t>
            </a:r>
            <a:br>
              <a:rPr lang="en-GB" dirty="0"/>
            </a:br>
            <a:r>
              <a:rPr lang="en-GB" dirty="0"/>
              <a:t>The root word </a:t>
            </a:r>
            <a:r>
              <a:rPr lang="en-GB" b="1" dirty="0"/>
              <a:t>'clear' </a:t>
            </a:r>
            <a:r>
              <a:rPr lang="en-GB" dirty="0"/>
              <a:t>means 'bright', 'free from difficulty'</a:t>
            </a:r>
            <a:br>
              <a:rPr lang="en-GB" dirty="0"/>
            </a:br>
            <a:br>
              <a:rPr lang="en-GB" dirty="0"/>
            </a:br>
            <a:r>
              <a:rPr lang="en-GB" b="1" dirty="0"/>
              <a:t>un</a:t>
            </a:r>
            <a:r>
              <a:rPr lang="en-GB" dirty="0"/>
              <a:t> + </a:t>
            </a:r>
            <a:r>
              <a:rPr lang="en-GB" b="1" dirty="0"/>
              <a:t>clear</a:t>
            </a:r>
            <a:r>
              <a:rPr lang="en-GB" dirty="0"/>
              <a:t> = </a:t>
            </a:r>
            <a:r>
              <a:rPr lang="en-GB" b="1" dirty="0"/>
              <a:t>unclear</a:t>
            </a:r>
            <a:r>
              <a:rPr lang="en-GB" dirty="0"/>
              <a:t> which means 'not clear' or 'dim', 'difficult to see or understand'</a:t>
            </a:r>
          </a:p>
          <a:p>
            <a:pPr>
              <a:buNone/>
            </a:pPr>
            <a:br>
              <a:rPr lang="en-GB" dirty="0"/>
            </a:b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prefixes</a:t>
            </a:r>
          </a:p>
        </p:txBody>
      </p:sp>
      <p:sp>
        <p:nvSpPr>
          <p:cNvPr id="3" name="Content Placeholder 2"/>
          <p:cNvSpPr>
            <a:spLocks noGrp="1"/>
          </p:cNvSpPr>
          <p:nvPr>
            <p:ph idx="1"/>
          </p:nvPr>
        </p:nvSpPr>
        <p:spPr/>
        <p:txBody>
          <a:bodyPr/>
          <a:lstStyle/>
          <a:p>
            <a:r>
              <a:rPr lang="en-GB" dirty="0"/>
              <a:t>Activity 1:</a:t>
            </a:r>
          </a:p>
          <a:p>
            <a:endParaRPr lang="en-GB" dirty="0"/>
          </a:p>
          <a:p>
            <a:r>
              <a:rPr lang="en-GB" dirty="0"/>
              <a:t>In pairs write down as many prefixes as you can think of.</a:t>
            </a:r>
          </a:p>
          <a:p>
            <a:endParaRPr lang="en-GB" dirty="0"/>
          </a:p>
          <a:p>
            <a:r>
              <a:rPr lang="en-GB" dirty="0"/>
              <a:t>You have 5  minutes!</a:t>
            </a:r>
          </a:p>
          <a:p>
            <a:endParaRPr lang="en-GB" dirty="0"/>
          </a:p>
          <a:p>
            <a:r>
              <a:rPr lang="en-GB" dirty="0"/>
              <a:t>Extra points if you can also write down the meaning of the prefix!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Prefixes</a:t>
            </a:r>
          </a:p>
        </p:txBody>
      </p:sp>
      <p:sp>
        <p:nvSpPr>
          <p:cNvPr id="3" name="Content Placeholder 2"/>
          <p:cNvSpPr>
            <a:spLocks noGrp="1"/>
          </p:cNvSpPr>
          <p:nvPr>
            <p:ph idx="1"/>
          </p:nvPr>
        </p:nvSpPr>
        <p:spPr>
          <a:xfrm>
            <a:off x="285720" y="1609416"/>
            <a:ext cx="7715304" cy="4846320"/>
          </a:xfrm>
        </p:spPr>
        <p:txBody>
          <a:bodyPr>
            <a:normAutofit/>
          </a:bodyPr>
          <a:lstStyle/>
          <a:p>
            <a:pPr>
              <a:buNone/>
            </a:pPr>
            <a:r>
              <a:rPr lang="en-GB" sz="2000" dirty="0">
                <a:latin typeface="Comic Sans MS" pitchFamily="66" charset="0"/>
              </a:rPr>
              <a:t>Generally when you add a prefix to a root word the spelling of the prefix and the root words stays the same.</a:t>
            </a:r>
          </a:p>
          <a:p>
            <a:pPr>
              <a:buNone/>
            </a:pPr>
            <a:endParaRPr lang="en-GB" sz="2000" dirty="0">
              <a:latin typeface="Comic Sans MS" pitchFamily="66" charset="0"/>
            </a:endParaRPr>
          </a:p>
          <a:p>
            <a:pPr>
              <a:buNone/>
            </a:pPr>
            <a:r>
              <a:rPr lang="en-GB" sz="1200" dirty="0">
                <a:latin typeface="Comic Sans MS" pitchFamily="66" charset="0"/>
              </a:rPr>
              <a:t>(Think of mobile phone tariffs, you can choose to add ‘bolt </a:t>
            </a:r>
            <a:r>
              <a:rPr lang="en-GB" sz="1200" dirty="0" err="1">
                <a:latin typeface="Comic Sans MS" pitchFamily="66" charset="0"/>
              </a:rPr>
              <a:t>ons</a:t>
            </a:r>
            <a:r>
              <a:rPr lang="en-GB" sz="1200" dirty="0">
                <a:latin typeface="Comic Sans MS" pitchFamily="66" charset="0"/>
              </a:rPr>
              <a:t>’ to your contract to suit a purpose)</a:t>
            </a:r>
          </a:p>
          <a:p>
            <a:pPr>
              <a:buNone/>
            </a:pPr>
            <a:endParaRPr lang="en-GB" sz="1200" dirty="0">
              <a:latin typeface="Comic Sans MS" pitchFamily="66" charset="0"/>
            </a:endParaRPr>
          </a:p>
          <a:p>
            <a:pPr>
              <a:buNone/>
            </a:pPr>
            <a:br>
              <a:rPr lang="en-GB" dirty="0">
                <a:latin typeface="Comic Sans MS" pitchFamily="66" charset="0"/>
              </a:rPr>
            </a:br>
            <a:br>
              <a:rPr lang="en-GB" dirty="0">
                <a:latin typeface="Comic Sans MS" pitchFamily="66" charset="0"/>
              </a:rPr>
            </a:br>
            <a:endParaRPr lang="en-GB" dirty="0">
              <a:latin typeface="Comic Sans MS" pitchFamily="66" charset="0"/>
            </a:endParaRPr>
          </a:p>
          <a:p>
            <a:pPr>
              <a:buNone/>
            </a:pPr>
            <a:endParaRPr lang="en-GB" b="1" dirty="0">
              <a:latin typeface="Comic Sans MS" pitchFamily="66" charset="0"/>
            </a:endParaRPr>
          </a:p>
        </p:txBody>
      </p:sp>
      <p:pic>
        <p:nvPicPr>
          <p:cNvPr id="37890" name="Picture 2"/>
          <p:cNvPicPr>
            <a:picLocks noChangeAspect="1" noChangeArrowheads="1"/>
          </p:cNvPicPr>
          <p:nvPr/>
        </p:nvPicPr>
        <p:blipFill>
          <a:blip r:embed="rId3"/>
          <a:srcRect l="428" t="23438" r="67057" b="53125"/>
          <a:stretch>
            <a:fillRect/>
          </a:stretch>
        </p:blipFill>
        <p:spPr bwMode="auto">
          <a:xfrm>
            <a:off x="1142976" y="3429000"/>
            <a:ext cx="5429288" cy="220030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prefixes... Common errors</a:t>
            </a:r>
          </a:p>
        </p:txBody>
      </p:sp>
      <p:sp>
        <p:nvSpPr>
          <p:cNvPr id="2051" name="Text Box 3"/>
          <p:cNvSpPr txBox="1">
            <a:spLocks noChangeArrowheads="1"/>
          </p:cNvSpPr>
          <p:nvPr/>
        </p:nvSpPr>
        <p:spPr bwMode="auto">
          <a:xfrm>
            <a:off x="500034" y="1785926"/>
            <a:ext cx="7129486" cy="14287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lvl="0" fontAlgn="base">
              <a:spcBef>
                <a:spcPct val="0"/>
              </a:spcBef>
              <a:spcAft>
                <a:spcPts val="1000"/>
              </a:spcAft>
            </a:pPr>
            <a:r>
              <a:rPr lang="en-GB" sz="2000" dirty="0"/>
              <a:t>When the prefix 'all' is added to a root word the final 'l' of 'all' is dropped.</a:t>
            </a:r>
            <a:br>
              <a:rPr lang="en-GB" sz="2000" dirty="0"/>
            </a:br>
            <a:r>
              <a:rPr lang="en-GB" sz="2000" b="1" dirty="0"/>
              <a:t>all</a:t>
            </a:r>
            <a:r>
              <a:rPr lang="en-GB" sz="2000" dirty="0"/>
              <a:t> + together = </a:t>
            </a:r>
            <a:r>
              <a:rPr lang="en-GB" sz="2000" b="1" dirty="0"/>
              <a:t>al</a:t>
            </a:r>
            <a:r>
              <a:rPr lang="en-GB" sz="2000" dirty="0"/>
              <a:t>together</a:t>
            </a:r>
            <a:br>
              <a:rPr lang="en-GB" sz="2000" dirty="0"/>
            </a:br>
            <a:r>
              <a:rPr lang="en-GB" sz="2000" b="1" dirty="0"/>
              <a:t>all</a:t>
            </a:r>
            <a:r>
              <a:rPr lang="en-GB" sz="2000" dirty="0"/>
              <a:t> + ways = </a:t>
            </a:r>
            <a:r>
              <a:rPr lang="en-GB" sz="2000" b="1" dirty="0"/>
              <a:t>al</a:t>
            </a:r>
            <a:r>
              <a:rPr lang="en-GB" sz="2000" dirty="0"/>
              <a:t>ways</a:t>
            </a:r>
            <a:r>
              <a:rPr kumimoji="0" lang="en-GB" sz="2000" b="0" i="0" u="none" strike="noStrike" cap="none" normalizeH="0" baseline="0" dirty="0">
                <a:ln>
                  <a:noFill/>
                </a:ln>
                <a:solidFill>
                  <a:schemeClr val="tx1"/>
                </a:solidFill>
                <a:effectLst/>
                <a:latin typeface="Comic Sans MS" pitchFamily="66"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lang="en-GB" sz="2000"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2000" b="0" i="0" u="none" strike="noStrike" cap="none" normalizeH="0" baseline="0" dirty="0">
              <a:ln>
                <a:noFill/>
              </a:ln>
              <a:solidFill>
                <a:schemeClr val="tx1"/>
              </a:solidFill>
              <a:effectLst/>
              <a:latin typeface="Comic Sans MS" pitchFamily="66" charset="0"/>
              <a:cs typeface="Arial" pitchFamily="34" charset="0"/>
            </a:endParaRPr>
          </a:p>
        </p:txBody>
      </p:sp>
      <p:sp>
        <p:nvSpPr>
          <p:cNvPr id="8" name="Text Box 3"/>
          <p:cNvSpPr txBox="1">
            <a:spLocks noChangeArrowheads="1"/>
          </p:cNvSpPr>
          <p:nvPr/>
        </p:nvSpPr>
        <p:spPr bwMode="auto">
          <a:xfrm>
            <a:off x="428596" y="3429000"/>
            <a:ext cx="7129486" cy="134779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buNone/>
            </a:pPr>
            <a:r>
              <a:rPr lang="en-GB" sz="2000" b="1" dirty="0" err="1"/>
              <a:t>dis</a:t>
            </a:r>
            <a:r>
              <a:rPr lang="en-GB" sz="2000" b="1" dirty="0"/>
              <a:t> – only has one ‘s’ when being used at the start of a word:</a:t>
            </a:r>
          </a:p>
          <a:p>
            <a:pPr>
              <a:buNone/>
            </a:pPr>
            <a:endParaRPr lang="en-GB" sz="2000" b="1" dirty="0"/>
          </a:p>
          <a:p>
            <a:pPr>
              <a:buNone/>
            </a:pPr>
            <a:r>
              <a:rPr lang="en-GB" sz="2000" b="1" dirty="0" err="1"/>
              <a:t>Dis</a:t>
            </a:r>
            <a:r>
              <a:rPr lang="en-GB" sz="2000" b="1" dirty="0"/>
              <a:t>+ appear + disappear	</a:t>
            </a:r>
            <a:r>
              <a:rPr lang="en-GB" sz="2000" b="1" dirty="0" err="1"/>
              <a:t>dis</a:t>
            </a:r>
            <a:r>
              <a:rPr lang="en-GB" sz="2000" b="1" dirty="0"/>
              <a:t> + respect = disrespect</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GB" sz="2000" b="0" i="0" u="none" strike="noStrike" cap="none" normalizeH="0" baseline="0" dirty="0">
                <a:ln>
                  <a:noFill/>
                </a:ln>
                <a:solidFill>
                  <a:schemeClr val="tx1"/>
                </a:solidFill>
                <a:effectLst/>
                <a:latin typeface="Comic Sans MS" pitchFamily="66"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endParaRPr lang="en-GB" sz="2000" dirty="0">
              <a:latin typeface="Comic Sans MS" pitchFamily="66"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en-US" sz="2000" b="0" i="0" u="none" strike="noStrike" cap="none" normalizeH="0" baseline="0" dirty="0">
              <a:ln>
                <a:noFill/>
              </a:ln>
              <a:solidFill>
                <a:schemeClr val="tx1"/>
              </a:solidFill>
              <a:effectLst/>
              <a:latin typeface="Comic Sans MS" pitchFamily="66"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051"/>
                                        </p:tgtEl>
                                        <p:attrNameLst>
                                          <p:attrName>style.visibility</p:attrName>
                                        </p:attrNameLst>
                                      </p:cBhvr>
                                      <p:to>
                                        <p:strVal val="visible"/>
                                      </p:to>
                                    </p:set>
                                    <p:anim to="" calcmode="lin" valueType="num">
                                      <p:cBhvr>
                                        <p:cTn id="7" dur="1" fill="hold"/>
                                        <p:tgtEl>
                                          <p:spTgt spid="2051"/>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Mix it up!</a:t>
            </a:r>
          </a:p>
        </p:txBody>
      </p:sp>
      <p:sp>
        <p:nvSpPr>
          <p:cNvPr id="3" name="Content Placeholder 2"/>
          <p:cNvSpPr>
            <a:spLocks noGrp="1"/>
          </p:cNvSpPr>
          <p:nvPr>
            <p:ph idx="1"/>
          </p:nvPr>
        </p:nvSpPr>
        <p:spPr/>
        <p:txBody>
          <a:bodyPr/>
          <a:lstStyle/>
          <a:p>
            <a:pPr>
              <a:buNone/>
            </a:pPr>
            <a:r>
              <a:rPr lang="en-GB" dirty="0"/>
              <a:t>You can also add a prefix to a word which already has a suffix</a:t>
            </a:r>
            <a:r>
              <a:rPr lang="en-GB" b="1" dirty="0"/>
              <a:t> </a:t>
            </a:r>
            <a:r>
              <a:rPr lang="en-GB" dirty="0"/>
              <a:t>added to it.</a:t>
            </a:r>
          </a:p>
          <a:p>
            <a:pPr>
              <a:buNone/>
            </a:pPr>
            <a:endParaRPr lang="en-GB" dirty="0"/>
          </a:p>
        </p:txBody>
      </p:sp>
      <p:pic>
        <p:nvPicPr>
          <p:cNvPr id="38914" name="Picture 2"/>
          <p:cNvPicPr>
            <a:picLocks noChangeAspect="1" noChangeArrowheads="1"/>
          </p:cNvPicPr>
          <p:nvPr/>
        </p:nvPicPr>
        <p:blipFill>
          <a:blip r:embed="rId2"/>
          <a:srcRect t="67383" r="56625" b="16992"/>
          <a:stretch>
            <a:fillRect/>
          </a:stretch>
        </p:blipFill>
        <p:spPr bwMode="auto">
          <a:xfrm>
            <a:off x="428596" y="3000372"/>
            <a:ext cx="7143800" cy="144685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400948" cy="1143000"/>
          </a:xfrm>
        </p:spPr>
        <p:txBody>
          <a:bodyPr>
            <a:normAutofit fontScale="90000"/>
          </a:bodyPr>
          <a:lstStyle/>
          <a:p>
            <a:r>
              <a:rPr lang="en-GB" dirty="0"/>
              <a:t>How many words can you make?</a:t>
            </a:r>
          </a:p>
        </p:txBody>
      </p:sp>
      <p:sp>
        <p:nvSpPr>
          <p:cNvPr id="3" name="Content Placeholder 2"/>
          <p:cNvSpPr>
            <a:spLocks noGrp="1"/>
          </p:cNvSpPr>
          <p:nvPr>
            <p:ph idx="1"/>
          </p:nvPr>
        </p:nvSpPr>
        <p:spPr/>
        <p:txBody>
          <a:bodyPr/>
          <a:lstStyle/>
          <a:p>
            <a:pPr>
              <a:buNone/>
            </a:pPr>
            <a:endParaRPr lang="en-GB" dirty="0"/>
          </a:p>
        </p:txBody>
      </p:sp>
      <p:pic>
        <p:nvPicPr>
          <p:cNvPr id="4" name="Picture 2"/>
          <p:cNvPicPr>
            <a:picLocks noChangeAspect="1" noChangeArrowheads="1"/>
          </p:cNvPicPr>
          <p:nvPr/>
        </p:nvPicPr>
        <p:blipFill>
          <a:blip r:embed="rId3"/>
          <a:srcRect l="47010" t="50385" r="47395" b="33541"/>
          <a:stretch>
            <a:fillRect/>
          </a:stretch>
        </p:blipFill>
        <p:spPr bwMode="auto">
          <a:xfrm>
            <a:off x="3000364" y="2258516"/>
            <a:ext cx="2071702" cy="334659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Answer</a:t>
            </a:r>
          </a:p>
        </p:txBody>
      </p:sp>
      <p:pic>
        <p:nvPicPr>
          <p:cNvPr id="3074" name="Picture 2"/>
          <p:cNvPicPr>
            <a:picLocks noChangeAspect="1" noChangeArrowheads="1"/>
          </p:cNvPicPr>
          <p:nvPr/>
        </p:nvPicPr>
        <p:blipFill>
          <a:blip r:embed="rId3"/>
          <a:srcRect l="26354" t="31250" r="24231" b="12109"/>
          <a:stretch>
            <a:fillRect/>
          </a:stretch>
        </p:blipFill>
        <p:spPr bwMode="auto">
          <a:xfrm>
            <a:off x="-1" y="1571612"/>
            <a:ext cx="8203017" cy="528638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4314"/>
            <a:ext cx="7776864" cy="1152128"/>
          </a:xfrm>
          <a:noFill/>
          <a:ln>
            <a:noFill/>
          </a:ln>
        </p:spPr>
        <p:txBody>
          <a:bodyPr>
            <a:noAutofit/>
          </a:bodyPr>
          <a:lstStyle/>
          <a:p>
            <a:r>
              <a:rPr lang="en-GB" sz="1800" cap="none" dirty="0">
                <a:solidFill>
                  <a:schemeClr val="tx1"/>
                </a:solidFill>
                <a:latin typeface="Comic Sans MS" panose="030F0702030302020204" pitchFamily="66" charset="0"/>
                <a:ea typeface="+mn-ea"/>
                <a:cs typeface="+mn-cs"/>
              </a:rPr>
              <a:t>Instructions: as you read this paragraph, underline all words that have prefixes or suffixes. Write them below the paragraph and then write a definition of the word</a:t>
            </a:r>
          </a:p>
        </p:txBody>
      </p:sp>
      <p:sp>
        <p:nvSpPr>
          <p:cNvPr id="3" name="Content Placeholder 2"/>
          <p:cNvSpPr>
            <a:spLocks noGrp="1"/>
          </p:cNvSpPr>
          <p:nvPr>
            <p:ph idx="1"/>
          </p:nvPr>
        </p:nvSpPr>
        <p:spPr>
          <a:xfrm>
            <a:off x="395536" y="1340768"/>
            <a:ext cx="7300664" cy="5114968"/>
          </a:xfrm>
        </p:spPr>
        <p:txBody>
          <a:bodyPr>
            <a:normAutofit/>
          </a:bodyPr>
          <a:lstStyle/>
          <a:p>
            <a:pPr marL="0" indent="0">
              <a:lnSpc>
                <a:spcPct val="150000"/>
              </a:lnSpc>
              <a:buNone/>
            </a:pPr>
            <a:r>
              <a:rPr lang="en-GB" sz="1800" dirty="0">
                <a:latin typeface="Comic Sans MS" panose="030F0702030302020204" pitchFamily="66" charset="0"/>
              </a:rPr>
              <a:t>The Garbage Problem Improper garbage disposal can cause contamination of subterranean water sources. Relocating garbage dumps doesn’t necessarily solve this incredibly unhealthful problem. Laws preceding the discovery of this problem were predictably relaxed in terms of garbage disposal. Since the discovery, authorities have proceeded to toughen these laws and have injected funds into </a:t>
            </a:r>
            <a:r>
              <a:rPr lang="en-GB" sz="1800" dirty="0" err="1">
                <a:latin typeface="Comic Sans MS" panose="030F0702030302020204" pitchFamily="66" charset="0"/>
              </a:rPr>
              <a:t>reevaluating</a:t>
            </a:r>
            <a:r>
              <a:rPr lang="en-GB" sz="1800" dirty="0">
                <a:latin typeface="Comic Sans MS" panose="030F0702030302020204" pitchFamily="66" charset="0"/>
              </a:rPr>
              <a:t> ongoing practices. Interjection of environmental organizations has helped to convince an incredulous public of the depth of the problem and the need to recycle. Some garbage dumps have receded in size, but most have increased as the unbelievable amount of garbage produced continues to multiply unnecessarily.  </a:t>
            </a:r>
          </a:p>
        </p:txBody>
      </p:sp>
    </p:spTree>
    <p:extLst>
      <p:ext uri="{BB962C8B-B14F-4D97-AF65-F5344CB8AC3E}">
        <p14:creationId xmlns:p14="http://schemas.microsoft.com/office/powerpoint/2010/main" val="1533089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Create your own word map</a:t>
            </a:r>
          </a:p>
        </p:txBody>
      </p:sp>
      <p:sp>
        <p:nvSpPr>
          <p:cNvPr id="3" name="Content Placeholder 2"/>
          <p:cNvSpPr>
            <a:spLocks noGrp="1"/>
          </p:cNvSpPr>
          <p:nvPr>
            <p:ph idx="1"/>
          </p:nvPr>
        </p:nvSpPr>
        <p:spPr/>
        <p:txBody>
          <a:bodyPr>
            <a:normAutofit fontScale="85000" lnSpcReduction="20000"/>
          </a:bodyPr>
          <a:lstStyle/>
          <a:p>
            <a:pPr>
              <a:buNone/>
            </a:pPr>
            <a:r>
              <a:rPr lang="en-GB" dirty="0"/>
              <a:t>Choose a root word from the list below and create a word  map adding suffixes and prefixes.</a:t>
            </a:r>
          </a:p>
          <a:p>
            <a:pPr>
              <a:buNone/>
            </a:pPr>
            <a:endParaRPr lang="en-GB" dirty="0"/>
          </a:p>
          <a:p>
            <a:endParaRPr lang="en-GB" dirty="0" err="1"/>
          </a:p>
          <a:p>
            <a:r>
              <a:rPr lang="en-GB" dirty="0" err="1"/>
              <a:t>spect</a:t>
            </a:r>
            <a:r>
              <a:rPr lang="en-GB" dirty="0"/>
              <a:t> –				use</a:t>
            </a:r>
          </a:p>
          <a:p>
            <a:endParaRPr lang="en-GB" dirty="0"/>
          </a:p>
          <a:p>
            <a:endParaRPr lang="en-GB" dirty="0"/>
          </a:p>
          <a:p>
            <a:endParaRPr lang="en-GB" dirty="0"/>
          </a:p>
          <a:p>
            <a:r>
              <a:rPr lang="en-GB" dirty="0"/>
              <a:t> late					act		</a:t>
            </a:r>
          </a:p>
          <a:p>
            <a:endParaRPr lang="en-GB" dirty="0"/>
          </a:p>
          <a:p>
            <a:pPr>
              <a:buNone/>
            </a:pPr>
            <a:endParaRPr lang="en-GB" dirty="0"/>
          </a:p>
          <a:p>
            <a:pPr>
              <a:buNone/>
            </a:pPr>
            <a:r>
              <a:rPr lang="en-GB" dirty="0"/>
              <a:t>If you are uncertain whether the prefix you have used is correct, check the word in a dictionary when you proof-read your writing!</a:t>
            </a:r>
          </a:p>
        </p:txBody>
      </p:sp>
      <p:pic>
        <p:nvPicPr>
          <p:cNvPr id="5" name="Picture 2"/>
          <p:cNvPicPr>
            <a:picLocks noChangeAspect="1" noChangeArrowheads="1"/>
          </p:cNvPicPr>
          <p:nvPr/>
        </p:nvPicPr>
        <p:blipFill>
          <a:blip r:embed="rId2"/>
          <a:srcRect l="48273" t="56358" r="46699" b="30227"/>
          <a:stretch>
            <a:fillRect/>
          </a:stretch>
        </p:blipFill>
        <p:spPr bwMode="auto">
          <a:xfrm>
            <a:off x="1785918" y="2500306"/>
            <a:ext cx="928694" cy="1393041"/>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Word maps</a:t>
            </a:r>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3"/>
          <a:srcRect l="26903" t="32226" r="25329" b="13086"/>
          <a:stretch>
            <a:fillRect/>
          </a:stretch>
        </p:blipFill>
        <p:spPr bwMode="auto">
          <a:xfrm>
            <a:off x="0" y="1615949"/>
            <a:ext cx="8143900" cy="5242051"/>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To sum up</a:t>
            </a:r>
          </a:p>
        </p:txBody>
      </p:sp>
      <p:sp>
        <p:nvSpPr>
          <p:cNvPr id="3" name="Content Placeholder 2"/>
          <p:cNvSpPr>
            <a:spLocks noGrp="1"/>
          </p:cNvSpPr>
          <p:nvPr>
            <p:ph idx="1"/>
          </p:nvPr>
        </p:nvSpPr>
        <p:spPr/>
        <p:txBody>
          <a:bodyPr/>
          <a:lstStyle/>
          <a:p>
            <a:r>
              <a:rPr lang="en-GB" dirty="0"/>
              <a:t>A root word is...</a:t>
            </a:r>
          </a:p>
          <a:p>
            <a:endParaRPr lang="en-GB" dirty="0"/>
          </a:p>
          <a:p>
            <a:r>
              <a:rPr lang="en-GB" dirty="0"/>
              <a:t>A suffix is...</a:t>
            </a:r>
          </a:p>
          <a:p>
            <a:pPr>
              <a:buNone/>
            </a:pPr>
            <a:r>
              <a:rPr lang="en-GB" dirty="0"/>
              <a:t>For example: </a:t>
            </a:r>
          </a:p>
          <a:p>
            <a:endParaRPr lang="en-GB" dirty="0"/>
          </a:p>
          <a:p>
            <a:r>
              <a:rPr lang="en-GB" dirty="0"/>
              <a:t>Identify the prefix in the word below:</a:t>
            </a:r>
          </a:p>
          <a:p>
            <a:pPr>
              <a:buNone/>
            </a:pPr>
            <a:r>
              <a:rPr lang="en-GB" dirty="0" err="1"/>
              <a:t>Antibacteria</a:t>
            </a:r>
            <a:r>
              <a:rPr lang="en-GB" dirty="0"/>
              <a:t> </a:t>
            </a:r>
          </a:p>
          <a:p>
            <a:pPr>
              <a:buNone/>
            </a:pPr>
            <a:endParaRPr lang="en-GB" dirty="0"/>
          </a:p>
          <a:p>
            <a:r>
              <a:rPr lang="en-GB" dirty="0"/>
              <a:t>Is it ‘full’ or ‘</a:t>
            </a:r>
            <a:r>
              <a:rPr lang="en-GB" dirty="0" err="1"/>
              <a:t>ful</a:t>
            </a:r>
            <a:r>
              <a:rPr lang="en-GB" dirty="0"/>
              <a:t>’ and the end of a word?</a:t>
            </a:r>
          </a:p>
          <a:p>
            <a:r>
              <a:rPr lang="en-GB" dirty="0"/>
              <a:t>Is it ‘</a:t>
            </a:r>
            <a:r>
              <a:rPr lang="en-GB" dirty="0" err="1"/>
              <a:t>dis</a:t>
            </a:r>
            <a:r>
              <a:rPr lang="en-GB" dirty="0"/>
              <a:t>’ or ‘</a:t>
            </a:r>
            <a:r>
              <a:rPr lang="en-GB" dirty="0" err="1"/>
              <a:t>diss</a:t>
            </a:r>
            <a:r>
              <a:rPr lang="en-GB" dirty="0"/>
              <a:t>’ at the start of a word?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79E22CC-D177-466B-AC2A-8B4DA5B15CFA}">
  <ds:schemaRefs>
    <ds:schemaRef ds:uri="http://schemas.microsoft.com/sharepoint/v3/contenttype/forms"/>
  </ds:schemaRefs>
</ds:datastoreItem>
</file>

<file path=customXml/itemProps2.xml><?xml version="1.0" encoding="utf-8"?>
<ds:datastoreItem xmlns:ds="http://schemas.openxmlformats.org/officeDocument/2006/customXml" ds:itemID="{90977F50-E1EF-4806-B042-605BBF74AEBD}"/>
</file>

<file path=customXml/itemProps3.xml><?xml version="1.0" encoding="utf-8"?>
<ds:datastoreItem xmlns:ds="http://schemas.openxmlformats.org/officeDocument/2006/customXml" ds:itemID="{A45CCC98-568F-47D2-8A17-B9B2AA670BA8}">
  <ds:schemaRefs>
    <ds:schemaRef ds:uri="http://schemas.microsoft.com/office/2006/metadata/properties"/>
    <ds:schemaRef ds:uri="http://schemas.microsoft.com/office/infopath/2007/PartnerControls"/>
    <ds:schemaRef ds:uri="0b5197e8-b3d5-44fa-9c9e-08a78b475116"/>
  </ds:schemaRefs>
</ds:datastoreItem>
</file>

<file path=docProps/app.xml><?xml version="1.0" encoding="utf-8"?>
<Properties xmlns="http://schemas.openxmlformats.org/officeDocument/2006/extended-properties" xmlns:vt="http://schemas.openxmlformats.org/officeDocument/2006/docPropsVTypes">
  <Template>Opulent</Template>
  <TotalTime>323</TotalTime>
  <Words>774</Words>
  <Application>Microsoft Office PowerPoint</Application>
  <PresentationFormat>On-screen Show (4:3)</PresentationFormat>
  <Paragraphs>148</Paragraphs>
  <Slides>17</Slides>
  <Notes>5</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Opulent</vt:lpstr>
      <vt:lpstr>Prefixes, suffixes and root words</vt:lpstr>
      <vt:lpstr>Root words</vt:lpstr>
      <vt:lpstr>Suffixes</vt:lpstr>
      <vt:lpstr>suffixes</vt:lpstr>
      <vt:lpstr>PowerPoint Presentation</vt:lpstr>
      <vt:lpstr>Suffixes... Common errors</vt:lpstr>
      <vt:lpstr>Prefixes</vt:lpstr>
      <vt:lpstr>prefixes</vt:lpstr>
      <vt:lpstr>Prefixes</vt:lpstr>
      <vt:lpstr>prefixes... Common errors</vt:lpstr>
      <vt:lpstr>Mix it up!</vt:lpstr>
      <vt:lpstr>How many words can you make?</vt:lpstr>
      <vt:lpstr>Answer</vt:lpstr>
      <vt:lpstr>Instructions: as you read this paragraph, underline all words that have prefixes or suffixes. Write them below the paragraph and then write a definition of the word</vt:lpstr>
      <vt:lpstr>Create your own word map</vt:lpstr>
      <vt:lpstr>Word maps</vt:lpstr>
      <vt:lpstr>To sum 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Would You Rather?</dc:title>
  <dc:creator>Charlotte</dc:creator>
  <cp:lastModifiedBy>Victoria Cheung</cp:lastModifiedBy>
  <cp:revision>36</cp:revision>
  <dcterms:created xsi:type="dcterms:W3CDTF">2011-01-03T19:05:17Z</dcterms:created>
  <dcterms:modified xsi:type="dcterms:W3CDTF">2025-06-23T10:22:11Z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TaxKeyword">
    <vt:lpwstr/>
  </property>
  <property fmtid="{D5CDD505-2E9C-101B-9397-08002B2CF9AE}" pid="4" name="Order">
    <vt:r8>20165700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