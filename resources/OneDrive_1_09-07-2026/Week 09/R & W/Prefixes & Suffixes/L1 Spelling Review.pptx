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9"/>
  </p:notesMasterIdLst>
  <p:sldIdLst>
    <p:sldId id="257" r:id="rId5"/>
    <p:sldId id="258" r:id="rId6"/>
    <p:sldId id="256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5EE6A-F52D-4F0E-9DCA-91D4C2DD5551}" type="datetimeFigureOut">
              <a:rPr lang="en-US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BDBD8-16C5-48AB-B1A5-1B965CE7749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4BDBD8-16C5-48AB-B1A5-1B965CE7749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5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4BDBD8-16C5-48AB-B1A5-1B965CE7749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9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4BDBD8-16C5-48AB-B1A5-1B965CE7749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84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4BDBD8-16C5-48AB-B1A5-1B965CE7749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3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5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8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0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9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4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2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3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8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3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Plural nouns</a:t>
            </a:r>
            <a:endParaRPr lang="en-US">
              <a:solidFill>
                <a:schemeClr val="tx1"/>
              </a:solidFill>
              <a:latin typeface="Corbel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867912" y="180975"/>
            <a:ext cx="3474720" cy="807720"/>
          </a:xfrm>
        </p:spPr>
        <p:txBody>
          <a:bodyPr/>
          <a:lstStyle/>
          <a:p>
            <a:r>
              <a:rPr lang="en-US"/>
              <a:t>Change these to plural nouns.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67150" y="1179337"/>
            <a:ext cx="3475038" cy="4775376"/>
          </a:xfrm>
        </p:spPr>
        <p:txBody>
          <a:bodyPr>
            <a:normAutofit/>
          </a:bodyPr>
          <a:lstStyle/>
          <a:p>
            <a:r>
              <a:rPr lang="en-US"/>
              <a:t>Fish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Sandwich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Wish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Diary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Voice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Octopus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Leaf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Baby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Ferry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Fox</a:t>
            </a:r>
          </a:p>
          <a:p>
            <a:endParaRPr lang="en-US">
              <a:solidFill>
                <a:srgbClr val="595959"/>
              </a:solidFill>
              <a:latin typeface="Corbel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7818461" y="180975"/>
            <a:ext cx="3474720" cy="813171"/>
          </a:xfrm>
        </p:spPr>
        <p:txBody>
          <a:bodyPr/>
          <a:lstStyle/>
          <a:p>
            <a:r>
              <a:rPr lang="en-US"/>
              <a:t>Change these to singular.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7818438" y="1167223"/>
            <a:ext cx="3475037" cy="4787490"/>
          </a:xfrm>
        </p:spPr>
        <p:txBody>
          <a:bodyPr/>
          <a:lstStyle/>
          <a:p>
            <a:r>
              <a:rPr lang="en-US"/>
              <a:t>Children</a:t>
            </a:r>
          </a:p>
          <a:p>
            <a:r>
              <a:rPr lang="en-US"/>
              <a:t>Calves</a:t>
            </a:r>
          </a:p>
          <a:p>
            <a:r>
              <a:rPr lang="en-US"/>
              <a:t>Men</a:t>
            </a:r>
          </a:p>
          <a:p>
            <a:r>
              <a:rPr lang="en-US"/>
              <a:t>Roses</a:t>
            </a:r>
          </a:p>
          <a:p>
            <a:r>
              <a:rPr lang="en-US"/>
              <a:t>Galaxies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Noises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Ladies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Potatoes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Wolves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Deer</a:t>
            </a:r>
          </a:p>
        </p:txBody>
      </p:sp>
    </p:spTree>
    <p:extLst>
      <p:ext uri="{BB962C8B-B14F-4D97-AF65-F5344CB8AC3E}">
        <p14:creationId xmlns:p14="http://schemas.microsoft.com/office/powerpoint/2010/main" val="220168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Prefixes &amp; suffixes</a:t>
            </a:r>
            <a:endParaRPr lang="en-US">
              <a:latin typeface="Corbe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80975"/>
            <a:ext cx="3474720" cy="80772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Add a prefix before each word to make an opposite.</a:t>
            </a:r>
          </a:p>
          <a:p>
            <a:r>
              <a:rPr lang="en-US"/>
              <a:t>Write the word in full.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1033463"/>
            <a:ext cx="3475038" cy="4921250"/>
          </a:xfrm>
        </p:spPr>
        <p:txBody>
          <a:bodyPr/>
          <a:lstStyle/>
          <a:p>
            <a:r>
              <a:rPr lang="en-US"/>
              <a:t>Appear</a:t>
            </a:r>
          </a:p>
          <a:p>
            <a:r>
              <a:rPr lang="en-US"/>
              <a:t>Clear</a:t>
            </a:r>
          </a:p>
          <a:p>
            <a:r>
              <a:rPr lang="en-US"/>
              <a:t>True</a:t>
            </a:r>
          </a:p>
          <a:p>
            <a:r>
              <a:rPr lang="en-US"/>
              <a:t>Conception</a:t>
            </a:r>
          </a:p>
          <a:p>
            <a:r>
              <a:rPr lang="en-US"/>
              <a:t>Likely</a:t>
            </a:r>
          </a:p>
          <a:p>
            <a:r>
              <a:rPr lang="en-US"/>
              <a:t>Agree</a:t>
            </a:r>
          </a:p>
          <a:p>
            <a:r>
              <a:rPr lang="en-US"/>
              <a:t>Honest</a:t>
            </a:r>
          </a:p>
          <a:p>
            <a:r>
              <a:rPr lang="en-US"/>
              <a:t>Respect</a:t>
            </a:r>
          </a:p>
          <a:p>
            <a:r>
              <a:rPr lang="en-US"/>
              <a:t>Loyal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Understanding</a:t>
            </a:r>
          </a:p>
          <a:p>
            <a:r>
              <a:rPr lang="en-US">
                <a:solidFill>
                  <a:srgbClr val="595959"/>
                </a:solidFill>
                <a:latin typeface="Corbel"/>
              </a:rPr>
              <a:t>Common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1" y="180975"/>
            <a:ext cx="3474720" cy="813171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Write a definition for each of the following words. </a:t>
            </a:r>
          </a:p>
          <a:p>
            <a:r>
              <a:rPr lang="en-US"/>
              <a:t>You can use a dictionary.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38" y="1021856"/>
            <a:ext cx="3475037" cy="493285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Amateur: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Saboteur: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Chauffeur: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Connoisseur:</a:t>
            </a:r>
            <a:endParaRPr lang="en-US">
              <a:solidFill>
                <a:srgbClr val="4A78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62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00000"/>
                </a:solidFill>
                <a:latin typeface="Calibri Light"/>
              </a:rPr>
              <a:t>Spelling List:</a:t>
            </a:r>
            <a:br>
              <a:rPr lang="en-US">
                <a:solidFill>
                  <a:schemeClr val="tx1"/>
                </a:solidFill>
                <a:latin typeface="Calibri Light"/>
              </a:rPr>
            </a:br>
            <a:r>
              <a:rPr lang="en-US">
                <a:solidFill>
                  <a:srgbClr val="000000"/>
                </a:solidFill>
                <a:latin typeface="Calibri Light"/>
              </a:rPr>
              <a:t>Copy these words carefully into your notebook.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3868738" y="196850"/>
            <a:ext cx="2892425" cy="645429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Direction</a:t>
            </a:r>
          </a:p>
          <a:p>
            <a:r>
              <a:rPr lang="en-US">
                <a:solidFill>
                  <a:srgbClr val="0070C0"/>
                </a:solidFill>
              </a:rPr>
              <a:t>Education</a:t>
            </a:r>
          </a:p>
          <a:p>
            <a:r>
              <a:rPr lang="en-US">
                <a:solidFill>
                  <a:srgbClr val="0070C0"/>
                </a:solidFill>
              </a:rPr>
              <a:t>Mention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Horrible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Possible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Terrible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Equally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Gradually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Really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Dumb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Crumb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Limb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Chief</a:t>
            </a:r>
            <a:r>
              <a:rPr lang="en-US">
                <a:solidFill>
                  <a:srgbClr val="000000"/>
                </a:solidFill>
                <a:latin typeface="Corbel"/>
              </a:rPr>
              <a:t> </a:t>
            </a:r>
            <a:endParaRPr lang="en-US">
              <a:latin typeface="Corbel"/>
            </a:endParaRP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Grief</a:t>
            </a:r>
            <a:r>
              <a:rPr lang="en-US">
                <a:solidFill>
                  <a:srgbClr val="000000"/>
                </a:solidFill>
                <a:latin typeface="Corbel"/>
              </a:rPr>
              <a:t> </a:t>
            </a:r>
            <a:endParaRPr lang="en-US">
              <a:latin typeface="Corbel"/>
            </a:endParaRP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Thief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394575" y="173038"/>
            <a:ext cx="2892425" cy="64781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70C0"/>
                </a:solidFill>
                <a:latin typeface="Corbel"/>
              </a:rPr>
              <a:t>Conclude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Confirm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Contact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Image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Imaginary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Imagination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Excellent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Explain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Explore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Succeed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Success</a:t>
            </a:r>
          </a:p>
          <a:p>
            <a:r>
              <a:rPr lang="en-US">
                <a:solidFill>
                  <a:srgbClr val="0070C0"/>
                </a:solidFill>
                <a:latin typeface="Corbel"/>
              </a:rPr>
              <a:t>Successful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you notice about the spelling words?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890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B0B7B-C713-4AAB-BEB7-B9F99D0DFB68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2.xml><?xml version="1.0" encoding="utf-8"?>
<ds:datastoreItem xmlns:ds="http://schemas.openxmlformats.org/officeDocument/2006/customXml" ds:itemID="{C08733A2-5ED2-4334-AE3C-E06203117441}"/>
</file>

<file path=customXml/itemProps3.xml><?xml version="1.0" encoding="utf-8"?>
<ds:datastoreItem xmlns:ds="http://schemas.openxmlformats.org/officeDocument/2006/customXml" ds:itemID="{7F8B86CA-A12F-4A55-B34D-1A59C5807B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Frame</vt:lpstr>
      <vt:lpstr>Plural nouns</vt:lpstr>
      <vt:lpstr>Prefixes &amp; suffixes</vt:lpstr>
      <vt:lpstr>Spelling List: Copy these words carefully into your notebook.</vt:lpstr>
      <vt:lpstr>What do you notice about the spelling words?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Plural nouns</dc:title>
  <cp:revision>2</cp:revision>
  <dcterms:modified xsi:type="dcterms:W3CDTF">2025-06-23T10:22:56Z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20165600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