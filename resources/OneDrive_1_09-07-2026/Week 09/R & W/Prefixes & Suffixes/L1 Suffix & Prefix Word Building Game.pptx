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7" r:id="rId35"/>
    <p:sldId id="288" r:id="rId36"/>
    <p:sldId id="289" r:id="rId37"/>
    <p:sldId id="290" r:id="rId38"/>
    <p:sldId id="291" r:id="rId39"/>
    <p:sldId id="292" r:id="rId40"/>
    <p:sldId id="293" r:id="rId41"/>
  </p:sldIdLst>
  <p:sldSz cx="9144000" cy="6858000" type="screen4x3"/>
  <p:notesSz cx="6858000" cy="9144000"/>
  <p:embeddedFontLst>
    <p:embeddedFont>
      <p:font typeface="Angsana New" panose="02020603050405020304" pitchFamily="18" charset="-34"/>
      <p:regular r:id="rId42"/>
      <p:bold r:id="rId43"/>
      <p:italic r:id="rId44"/>
      <p:boldItalic r:id="rId45"/>
    </p:embeddedFont>
    <p:embeddedFont>
      <p:font typeface="Calibri" panose="020F0502020204030204" pitchFamily="34" charset="0"/>
      <p:regular r:id="rId46"/>
      <p:bold r:id="rId47"/>
      <p:italic r:id="rId48"/>
      <p:boldItalic r:id="rId49"/>
    </p:embeddedFont>
    <p:embeddedFont>
      <p:font typeface="Context Condensed SSi" panose="020B0800000000000000"/>
      <p:regular r:id="rId50"/>
      <p:bold r:id="rId51"/>
      <p:italic r:id="rId52"/>
      <p:boldItalic r:id="rId53"/>
    </p:embeddedFont>
    <p:embeddedFont>
      <p:font typeface="Cordia New" panose="020B0304020202020204" pitchFamily="34" charset="-34"/>
      <p:regular r:id="rId54"/>
      <p:bold r:id="rId55"/>
      <p:italic r:id="rId56"/>
      <p:boldItalic r:id="rId57"/>
    </p:embeddedFont>
  </p:embeddedFontLst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50" Type="http://schemas.openxmlformats.org/officeDocument/2006/relationships/font" Target="fonts/font9.fntdata"/><Relationship Id="rId55" Type="http://schemas.openxmlformats.org/officeDocument/2006/relationships/font" Target="fonts/font14.fntdata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font" Target="fonts/font13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font" Target="fonts/font4.fntdata"/><Relationship Id="rId53" Type="http://schemas.openxmlformats.org/officeDocument/2006/relationships/font" Target="fonts/font12.fntdata"/><Relationship Id="rId58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8.fntdata"/><Relationship Id="rId57" Type="http://schemas.openxmlformats.org/officeDocument/2006/relationships/font" Target="fonts/font16.fntdata"/><Relationship Id="rId61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3.fntdata"/><Relationship Id="rId52" Type="http://schemas.openxmlformats.org/officeDocument/2006/relationships/font" Target="fonts/font11.fntdata"/><Relationship Id="rId6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2.fntdata"/><Relationship Id="rId48" Type="http://schemas.openxmlformats.org/officeDocument/2006/relationships/font" Target="fonts/font7.fntdata"/><Relationship Id="rId56" Type="http://schemas.openxmlformats.org/officeDocument/2006/relationships/font" Target="fonts/font15.fntdata"/><Relationship Id="rId8" Type="http://schemas.openxmlformats.org/officeDocument/2006/relationships/slide" Target="slides/slide4.xml"/><Relationship Id="rId51" Type="http://schemas.openxmlformats.org/officeDocument/2006/relationships/font" Target="fonts/font10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font" Target="fonts/font5.fntdata"/><Relationship Id="rId5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C7109-1EB5-4515-814A-7AA58A9BE6D9}" type="datetimeFigureOut">
              <a:rPr lang="th-TH" smtClean="0"/>
              <a:pPr/>
              <a:t>23/06/68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DCF3F-20D8-439E-B823-E244B5017C96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C7109-1EB5-4515-814A-7AA58A9BE6D9}" type="datetimeFigureOut">
              <a:rPr lang="th-TH" smtClean="0"/>
              <a:pPr/>
              <a:t>23/06/68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DCF3F-20D8-439E-B823-E244B5017C96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C7109-1EB5-4515-814A-7AA58A9BE6D9}" type="datetimeFigureOut">
              <a:rPr lang="th-TH" smtClean="0"/>
              <a:pPr/>
              <a:t>23/06/68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DCF3F-20D8-439E-B823-E244B5017C96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C7109-1EB5-4515-814A-7AA58A9BE6D9}" type="datetimeFigureOut">
              <a:rPr lang="th-TH" smtClean="0"/>
              <a:pPr/>
              <a:t>23/06/68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DCF3F-20D8-439E-B823-E244B5017C96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C7109-1EB5-4515-814A-7AA58A9BE6D9}" type="datetimeFigureOut">
              <a:rPr lang="th-TH" smtClean="0"/>
              <a:pPr/>
              <a:t>23/06/68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DCF3F-20D8-439E-B823-E244B5017C96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C7109-1EB5-4515-814A-7AA58A9BE6D9}" type="datetimeFigureOut">
              <a:rPr lang="th-TH" smtClean="0"/>
              <a:pPr/>
              <a:t>23/06/68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DCF3F-20D8-439E-B823-E244B5017C96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C7109-1EB5-4515-814A-7AA58A9BE6D9}" type="datetimeFigureOut">
              <a:rPr lang="th-TH" smtClean="0"/>
              <a:pPr/>
              <a:t>23/06/68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DCF3F-20D8-439E-B823-E244B5017C96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C7109-1EB5-4515-814A-7AA58A9BE6D9}" type="datetimeFigureOut">
              <a:rPr lang="th-TH" smtClean="0"/>
              <a:pPr/>
              <a:t>23/06/68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DCF3F-20D8-439E-B823-E244B5017C96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C7109-1EB5-4515-814A-7AA58A9BE6D9}" type="datetimeFigureOut">
              <a:rPr lang="th-TH" smtClean="0"/>
              <a:pPr/>
              <a:t>23/06/68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DCF3F-20D8-439E-B823-E244B5017C96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C7109-1EB5-4515-814A-7AA58A9BE6D9}" type="datetimeFigureOut">
              <a:rPr lang="th-TH" smtClean="0"/>
              <a:pPr/>
              <a:t>23/06/68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DCF3F-20D8-439E-B823-E244B5017C96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C7109-1EB5-4515-814A-7AA58A9BE6D9}" type="datetimeFigureOut">
              <a:rPr lang="th-TH" smtClean="0"/>
              <a:pPr/>
              <a:t>23/06/68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DCF3F-20D8-439E-B823-E244B5017C96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C7109-1EB5-4515-814A-7AA58A9BE6D9}" type="datetimeFigureOut">
              <a:rPr lang="th-TH" smtClean="0"/>
              <a:pPr/>
              <a:t>23/06/68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4DCF3F-20D8-439E-B823-E244B5017C96}" type="slidenum">
              <a:rPr lang="th-TH" smtClean="0"/>
              <a:pPr/>
              <a:t>‹#›</a:t>
            </a:fld>
            <a:endParaRPr lang="th-T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2.bp.blogspot.com/-1-7593jv9Xs/TrbhYq3ilaI/AAAAAAAAAmM/SVAVMtqfYgQ/s1600/prod6300_dt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76600" y="990600"/>
            <a:ext cx="5867401" cy="5867401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438400"/>
            <a:ext cx="7772400" cy="1470025"/>
          </a:xfrm>
        </p:spPr>
        <p:txBody>
          <a:bodyPr>
            <a:noAutofit/>
          </a:bodyPr>
          <a:lstStyle/>
          <a:p>
            <a:pPr algn="l"/>
            <a:r>
              <a:rPr lang="en-US" sz="9600" dirty="0">
                <a:solidFill>
                  <a:srgbClr val="FF0000"/>
                </a:solidFill>
                <a:latin typeface="Context Condensed SSi" pitchFamily="34" charset="0"/>
              </a:rPr>
              <a:t>Word </a:t>
            </a:r>
            <a:br>
              <a:rPr lang="en-US" sz="9600" dirty="0">
                <a:solidFill>
                  <a:srgbClr val="FF0000"/>
                </a:solidFill>
                <a:latin typeface="Context Condensed SSi" pitchFamily="34" charset="0"/>
              </a:rPr>
            </a:br>
            <a:r>
              <a:rPr lang="en-US" sz="9600" dirty="0">
                <a:solidFill>
                  <a:srgbClr val="FF0000"/>
                </a:solidFill>
                <a:latin typeface="Context Condensed SSi" pitchFamily="34" charset="0"/>
              </a:rPr>
              <a:t>Building</a:t>
            </a:r>
            <a:endParaRPr lang="th-TH" sz="9600" dirty="0">
              <a:solidFill>
                <a:srgbClr val="FF0000"/>
              </a:solidFill>
              <a:latin typeface="Context Condensed SSi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438400"/>
            <a:ext cx="7772400" cy="1470025"/>
          </a:xfrm>
        </p:spPr>
        <p:txBody>
          <a:bodyPr>
            <a:noAutofit/>
          </a:bodyPr>
          <a:lstStyle/>
          <a:p>
            <a:pPr algn="l"/>
            <a:r>
              <a:rPr lang="en-US" sz="9600" dirty="0">
                <a:solidFill>
                  <a:srgbClr val="FF0000"/>
                </a:solidFill>
                <a:latin typeface="Context Condensed SSi" pitchFamily="34" charset="0"/>
              </a:rPr>
              <a:t>Add a suffix.</a:t>
            </a:r>
            <a:endParaRPr lang="th-TH" sz="9600" dirty="0">
              <a:solidFill>
                <a:srgbClr val="FF0000"/>
              </a:solidFill>
              <a:latin typeface="Context Condensed SSi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438400"/>
            <a:ext cx="7772400" cy="1470025"/>
          </a:xfrm>
        </p:spPr>
        <p:txBody>
          <a:bodyPr>
            <a:noAutofit/>
          </a:bodyPr>
          <a:lstStyle/>
          <a:p>
            <a:pPr algn="l"/>
            <a:r>
              <a:rPr lang="en-US" sz="9600" dirty="0">
                <a:solidFill>
                  <a:srgbClr val="FF0000"/>
                </a:solidFill>
                <a:latin typeface="Context Condensed SSi" pitchFamily="34" charset="0"/>
              </a:rPr>
              <a:t>fear</a:t>
            </a:r>
            <a:endParaRPr lang="th-TH" sz="9600" dirty="0">
              <a:solidFill>
                <a:srgbClr val="FF0000"/>
              </a:solidFill>
              <a:latin typeface="Context Condensed SSi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93180" y="3962400"/>
            <a:ext cx="622682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/>
              <a:t>a feeling of being afraid </a:t>
            </a:r>
            <a:r>
              <a:rPr lang="en-US" sz="5400" dirty="0">
                <a:solidFill>
                  <a:srgbClr val="FF0000"/>
                </a:solidFill>
              </a:rPr>
              <a:t>(n)</a:t>
            </a:r>
            <a:endParaRPr lang="th-TH" sz="5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438400"/>
            <a:ext cx="7772400" cy="1470025"/>
          </a:xfrm>
        </p:spPr>
        <p:txBody>
          <a:bodyPr>
            <a:noAutofit/>
          </a:bodyPr>
          <a:lstStyle/>
          <a:p>
            <a:pPr algn="l"/>
            <a:r>
              <a:rPr lang="en-US" sz="9600" dirty="0">
                <a:solidFill>
                  <a:srgbClr val="FF0000"/>
                </a:solidFill>
                <a:latin typeface="Context Condensed SSi" pitchFamily="34" charset="0"/>
              </a:rPr>
              <a:t>fear</a:t>
            </a:r>
            <a:r>
              <a:rPr lang="en-US" sz="9600" dirty="0">
                <a:solidFill>
                  <a:srgbClr val="0070C0"/>
                </a:solidFill>
                <a:latin typeface="Context Condensed SSi" pitchFamily="34" charset="0"/>
              </a:rPr>
              <a:t>less</a:t>
            </a:r>
            <a:endParaRPr lang="th-TH" sz="9600" dirty="0">
              <a:solidFill>
                <a:srgbClr val="0070C0"/>
              </a:solidFill>
              <a:latin typeface="Context Condensed SSi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93180" y="3962400"/>
            <a:ext cx="622682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/>
              <a:t>not afraid;</a:t>
            </a:r>
          </a:p>
          <a:p>
            <a:r>
              <a:rPr lang="en-US" sz="5400" dirty="0"/>
              <a:t>very brave </a:t>
            </a:r>
            <a:r>
              <a:rPr lang="en-US" sz="5400" dirty="0">
                <a:solidFill>
                  <a:srgbClr val="FF0000"/>
                </a:solidFill>
              </a:rPr>
              <a:t>(</a:t>
            </a:r>
            <a:r>
              <a:rPr lang="en-US" sz="5400" dirty="0" err="1">
                <a:solidFill>
                  <a:srgbClr val="FF0000"/>
                </a:solidFill>
              </a:rPr>
              <a:t>adj</a:t>
            </a:r>
            <a:r>
              <a:rPr lang="en-US" sz="5400" dirty="0">
                <a:solidFill>
                  <a:srgbClr val="FF0000"/>
                </a:solidFill>
              </a:rPr>
              <a:t>)</a:t>
            </a:r>
            <a:endParaRPr lang="th-TH" sz="5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438400"/>
            <a:ext cx="7772400" cy="1470025"/>
          </a:xfrm>
        </p:spPr>
        <p:txBody>
          <a:bodyPr>
            <a:noAutofit/>
          </a:bodyPr>
          <a:lstStyle/>
          <a:p>
            <a:pPr algn="l"/>
            <a:r>
              <a:rPr lang="en-US" sz="9600" dirty="0">
                <a:solidFill>
                  <a:srgbClr val="FF0000"/>
                </a:solidFill>
                <a:latin typeface="Context Condensed SSi" pitchFamily="34" charset="0"/>
              </a:rPr>
              <a:t>care</a:t>
            </a:r>
            <a:endParaRPr lang="th-TH" sz="9600" dirty="0">
              <a:solidFill>
                <a:srgbClr val="FF0000"/>
              </a:solidFill>
              <a:latin typeface="Context Condensed SSi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93180" y="3962400"/>
            <a:ext cx="622682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/>
              <a:t>effort made to do something correctly, safely </a:t>
            </a:r>
            <a:r>
              <a:rPr lang="en-US" sz="5400" dirty="0">
                <a:solidFill>
                  <a:srgbClr val="FF0000"/>
                </a:solidFill>
              </a:rPr>
              <a:t>(n)</a:t>
            </a:r>
            <a:endParaRPr lang="th-TH" sz="5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438400"/>
            <a:ext cx="7772400" cy="1470025"/>
          </a:xfrm>
        </p:spPr>
        <p:txBody>
          <a:bodyPr>
            <a:noAutofit/>
          </a:bodyPr>
          <a:lstStyle/>
          <a:p>
            <a:pPr algn="l"/>
            <a:r>
              <a:rPr lang="en-US" sz="9600" dirty="0">
                <a:solidFill>
                  <a:srgbClr val="FF0000"/>
                </a:solidFill>
                <a:latin typeface="Context Condensed SSi" pitchFamily="34" charset="0"/>
              </a:rPr>
              <a:t>care</a:t>
            </a:r>
            <a:r>
              <a:rPr lang="en-US" sz="9600" dirty="0">
                <a:solidFill>
                  <a:srgbClr val="0070C0"/>
                </a:solidFill>
                <a:latin typeface="Context Condensed SSi" pitchFamily="34" charset="0"/>
              </a:rPr>
              <a:t>ful</a:t>
            </a:r>
            <a:endParaRPr lang="th-TH" sz="9600" dirty="0">
              <a:solidFill>
                <a:srgbClr val="0070C0"/>
              </a:solidFill>
              <a:latin typeface="Context Condensed SSi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93180" y="3962400"/>
            <a:ext cx="622682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/>
              <a:t>using care</a:t>
            </a:r>
            <a:r>
              <a:rPr lang="en-US" sz="5400" dirty="0">
                <a:solidFill>
                  <a:srgbClr val="FF0000"/>
                </a:solidFill>
              </a:rPr>
              <a:t>(</a:t>
            </a:r>
            <a:r>
              <a:rPr lang="en-US" sz="5400" dirty="0" err="1">
                <a:solidFill>
                  <a:srgbClr val="FF0000"/>
                </a:solidFill>
              </a:rPr>
              <a:t>adj</a:t>
            </a:r>
            <a:r>
              <a:rPr lang="en-US" sz="5400" dirty="0">
                <a:solidFill>
                  <a:srgbClr val="FF0000"/>
                </a:solidFill>
              </a:rPr>
              <a:t>)</a:t>
            </a:r>
            <a:endParaRPr lang="th-TH" sz="5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438400"/>
            <a:ext cx="7772400" cy="1470025"/>
          </a:xfrm>
        </p:spPr>
        <p:txBody>
          <a:bodyPr>
            <a:noAutofit/>
          </a:bodyPr>
          <a:lstStyle/>
          <a:p>
            <a:pPr algn="l"/>
            <a:r>
              <a:rPr lang="en-US" sz="9600" dirty="0">
                <a:solidFill>
                  <a:srgbClr val="FF0000"/>
                </a:solidFill>
                <a:latin typeface="Context Condensed SSi" pitchFamily="34" charset="0"/>
              </a:rPr>
              <a:t>extravagant</a:t>
            </a:r>
            <a:endParaRPr lang="th-TH" sz="9600" dirty="0">
              <a:solidFill>
                <a:srgbClr val="FF0000"/>
              </a:solidFill>
              <a:latin typeface="Context Condensed SSi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93180" y="3962400"/>
            <a:ext cx="622682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/>
              <a:t>more than is usual, necessary, or proper </a:t>
            </a:r>
            <a:r>
              <a:rPr lang="en-US" sz="5400" dirty="0">
                <a:solidFill>
                  <a:srgbClr val="FF0000"/>
                </a:solidFill>
              </a:rPr>
              <a:t>(</a:t>
            </a:r>
            <a:r>
              <a:rPr lang="en-US" sz="5400" dirty="0" err="1">
                <a:solidFill>
                  <a:srgbClr val="FF0000"/>
                </a:solidFill>
              </a:rPr>
              <a:t>adj</a:t>
            </a:r>
            <a:r>
              <a:rPr lang="en-US" sz="5400" dirty="0">
                <a:solidFill>
                  <a:srgbClr val="FF0000"/>
                </a:solidFill>
              </a:rPr>
              <a:t>)</a:t>
            </a:r>
            <a:endParaRPr lang="th-TH" sz="5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438400"/>
            <a:ext cx="7772400" cy="1470025"/>
          </a:xfrm>
        </p:spPr>
        <p:txBody>
          <a:bodyPr>
            <a:noAutofit/>
          </a:bodyPr>
          <a:lstStyle/>
          <a:p>
            <a:pPr algn="l"/>
            <a:r>
              <a:rPr lang="en-US" sz="9600" dirty="0">
                <a:solidFill>
                  <a:srgbClr val="FF0000"/>
                </a:solidFill>
                <a:latin typeface="Context Condensed SSi" pitchFamily="34" charset="0"/>
              </a:rPr>
              <a:t>extravagant</a:t>
            </a:r>
            <a:r>
              <a:rPr lang="en-US" sz="9600" dirty="0">
                <a:solidFill>
                  <a:srgbClr val="0070C0"/>
                </a:solidFill>
                <a:latin typeface="Context Condensed SSi" pitchFamily="34" charset="0"/>
              </a:rPr>
              <a:t>ly</a:t>
            </a:r>
            <a:endParaRPr lang="th-TH" sz="9600" dirty="0">
              <a:solidFill>
                <a:srgbClr val="0070C0"/>
              </a:solidFill>
              <a:latin typeface="Context Condensed SSi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93180" y="3962400"/>
            <a:ext cx="622682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>
                <a:solidFill>
                  <a:srgbClr val="FF0000"/>
                </a:solidFill>
              </a:rPr>
              <a:t>(adv)</a:t>
            </a:r>
            <a:endParaRPr lang="th-TH" sz="5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438400"/>
            <a:ext cx="7772400" cy="1470025"/>
          </a:xfrm>
        </p:spPr>
        <p:txBody>
          <a:bodyPr>
            <a:noAutofit/>
          </a:bodyPr>
          <a:lstStyle/>
          <a:p>
            <a:pPr algn="l"/>
            <a:r>
              <a:rPr lang="en-US" sz="9600" dirty="0">
                <a:solidFill>
                  <a:srgbClr val="FF0000"/>
                </a:solidFill>
                <a:latin typeface="Context Condensed SSi" pitchFamily="34" charset="0"/>
              </a:rPr>
              <a:t>sun</a:t>
            </a:r>
            <a:endParaRPr lang="th-TH" sz="9600" dirty="0">
              <a:solidFill>
                <a:srgbClr val="FF0000"/>
              </a:solidFill>
              <a:latin typeface="Context Condensed SSi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93180" y="3962400"/>
            <a:ext cx="622682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/>
              <a:t>the star that the Earth moves around </a:t>
            </a:r>
            <a:r>
              <a:rPr lang="en-US" sz="5400" dirty="0">
                <a:solidFill>
                  <a:srgbClr val="FF0000"/>
                </a:solidFill>
              </a:rPr>
              <a:t>(n)</a:t>
            </a:r>
            <a:endParaRPr lang="th-TH" sz="5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438400"/>
            <a:ext cx="7772400" cy="1470025"/>
          </a:xfrm>
        </p:spPr>
        <p:txBody>
          <a:bodyPr>
            <a:noAutofit/>
          </a:bodyPr>
          <a:lstStyle/>
          <a:p>
            <a:pPr algn="l"/>
            <a:r>
              <a:rPr lang="en-US" sz="9600" dirty="0">
                <a:solidFill>
                  <a:srgbClr val="FF0000"/>
                </a:solidFill>
                <a:latin typeface="Context Condensed SSi" pitchFamily="34" charset="0"/>
              </a:rPr>
              <a:t>sun</a:t>
            </a:r>
            <a:r>
              <a:rPr lang="en-US" sz="9600" dirty="0">
                <a:solidFill>
                  <a:srgbClr val="0070C0"/>
                </a:solidFill>
                <a:latin typeface="Context Condensed SSi" pitchFamily="34" charset="0"/>
              </a:rPr>
              <a:t>ny</a:t>
            </a:r>
            <a:endParaRPr lang="th-TH" sz="9600" dirty="0">
              <a:solidFill>
                <a:srgbClr val="0070C0"/>
              </a:solidFill>
              <a:latin typeface="Context Condensed SSi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93180" y="3962400"/>
            <a:ext cx="622682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/>
              <a:t>having plenty of bright sunlight  </a:t>
            </a:r>
            <a:r>
              <a:rPr lang="en-US" sz="5400" dirty="0">
                <a:solidFill>
                  <a:srgbClr val="FF0000"/>
                </a:solidFill>
              </a:rPr>
              <a:t>(</a:t>
            </a:r>
            <a:r>
              <a:rPr lang="en-US" sz="5400" dirty="0" err="1">
                <a:solidFill>
                  <a:srgbClr val="FF0000"/>
                </a:solidFill>
              </a:rPr>
              <a:t>adj</a:t>
            </a:r>
            <a:r>
              <a:rPr lang="en-US" sz="5400" dirty="0">
                <a:solidFill>
                  <a:srgbClr val="FF0000"/>
                </a:solidFill>
              </a:rPr>
              <a:t>)</a:t>
            </a:r>
            <a:endParaRPr lang="th-TH" sz="5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438400"/>
            <a:ext cx="7772400" cy="1470025"/>
          </a:xfrm>
        </p:spPr>
        <p:txBody>
          <a:bodyPr>
            <a:noAutofit/>
          </a:bodyPr>
          <a:lstStyle/>
          <a:p>
            <a:pPr algn="l"/>
            <a:r>
              <a:rPr lang="en-US" sz="9600" dirty="0">
                <a:solidFill>
                  <a:srgbClr val="FF0000"/>
                </a:solidFill>
                <a:latin typeface="Context Condensed SSi" pitchFamily="34" charset="0"/>
              </a:rPr>
              <a:t>move</a:t>
            </a:r>
            <a:endParaRPr lang="th-TH" sz="9600" dirty="0">
              <a:solidFill>
                <a:srgbClr val="FF0000"/>
              </a:solidFill>
              <a:latin typeface="Context Condensed SSi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93180" y="3962400"/>
            <a:ext cx="6226820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dirty="0"/>
              <a:t>to cause </a:t>
            </a:r>
            <a:r>
              <a:rPr lang="en-US" sz="4400" dirty="0">
                <a:solidFill>
                  <a:srgbClr val="0070C0"/>
                </a:solidFill>
              </a:rPr>
              <a:t>(something or someone) </a:t>
            </a:r>
            <a:r>
              <a:rPr lang="en-US" sz="4400" dirty="0"/>
              <a:t>to go from one place or position to another </a:t>
            </a:r>
            <a:r>
              <a:rPr lang="en-US" sz="4400" dirty="0">
                <a:solidFill>
                  <a:srgbClr val="FF0000"/>
                </a:solidFill>
              </a:rPr>
              <a:t>(v)</a:t>
            </a:r>
            <a:endParaRPr lang="th-TH" sz="4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438400"/>
            <a:ext cx="7772400" cy="1470025"/>
          </a:xfrm>
        </p:spPr>
        <p:txBody>
          <a:bodyPr>
            <a:noAutofit/>
          </a:bodyPr>
          <a:lstStyle/>
          <a:p>
            <a:pPr algn="l"/>
            <a:r>
              <a:rPr lang="en-US" sz="9600" dirty="0">
                <a:solidFill>
                  <a:srgbClr val="FF0000"/>
                </a:solidFill>
                <a:latin typeface="Context Condensed SSi" pitchFamily="34" charset="0"/>
              </a:rPr>
              <a:t>move</a:t>
            </a:r>
            <a:r>
              <a:rPr lang="en-US" sz="9600" dirty="0">
                <a:solidFill>
                  <a:srgbClr val="0070C0"/>
                </a:solidFill>
                <a:latin typeface="Context Condensed SSi" pitchFamily="34" charset="0"/>
              </a:rPr>
              <a:t>ment</a:t>
            </a:r>
            <a:endParaRPr lang="th-TH" sz="9600" dirty="0">
              <a:solidFill>
                <a:srgbClr val="FF0000"/>
              </a:solidFill>
              <a:latin typeface="Context Condensed SSi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93180" y="3962400"/>
            <a:ext cx="622682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dirty="0"/>
              <a:t>the act of moving people or things from one place or position to another </a:t>
            </a:r>
            <a:r>
              <a:rPr lang="en-US" sz="4400" dirty="0">
                <a:solidFill>
                  <a:srgbClr val="FF0000"/>
                </a:solidFill>
              </a:rPr>
              <a:t>(n)</a:t>
            </a:r>
            <a:endParaRPr lang="th-TH" sz="4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438400"/>
            <a:ext cx="7772400" cy="1470025"/>
          </a:xfrm>
        </p:spPr>
        <p:txBody>
          <a:bodyPr>
            <a:noAutofit/>
          </a:bodyPr>
          <a:lstStyle/>
          <a:p>
            <a:pPr algn="l"/>
            <a:r>
              <a:rPr lang="en-US" sz="9600" dirty="0">
                <a:solidFill>
                  <a:srgbClr val="FF0000"/>
                </a:solidFill>
                <a:latin typeface="Context Condensed SSi" pitchFamily="34" charset="0"/>
              </a:rPr>
              <a:t>nerve</a:t>
            </a:r>
            <a:endParaRPr lang="th-TH" sz="9600" dirty="0">
              <a:solidFill>
                <a:srgbClr val="FF0000"/>
              </a:solidFill>
              <a:latin typeface="Context Condensed SSi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93180" y="3962400"/>
            <a:ext cx="622682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/>
              <a:t>part of body that controls movement and feeling </a:t>
            </a:r>
            <a:r>
              <a:rPr lang="en-US" sz="5400" dirty="0">
                <a:solidFill>
                  <a:srgbClr val="FF0000"/>
                </a:solidFill>
              </a:rPr>
              <a:t>(n)</a:t>
            </a:r>
            <a:endParaRPr lang="th-TH" sz="5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438400"/>
            <a:ext cx="7772400" cy="1470025"/>
          </a:xfrm>
        </p:spPr>
        <p:txBody>
          <a:bodyPr>
            <a:noAutofit/>
          </a:bodyPr>
          <a:lstStyle/>
          <a:p>
            <a:pPr algn="l"/>
            <a:r>
              <a:rPr lang="en-US" sz="9600" dirty="0">
                <a:solidFill>
                  <a:srgbClr val="FF0000"/>
                </a:solidFill>
                <a:latin typeface="Context Condensed SSi" pitchFamily="34" charset="0"/>
              </a:rPr>
              <a:t>nerv</a:t>
            </a:r>
            <a:r>
              <a:rPr lang="en-US" sz="9600" dirty="0">
                <a:solidFill>
                  <a:srgbClr val="0070C0"/>
                </a:solidFill>
                <a:latin typeface="Context Condensed SSi" pitchFamily="34" charset="0"/>
              </a:rPr>
              <a:t>ous</a:t>
            </a:r>
            <a:endParaRPr lang="th-TH" sz="9600" dirty="0">
              <a:solidFill>
                <a:srgbClr val="0070C0"/>
              </a:solidFill>
              <a:latin typeface="Context Condensed SSi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93180" y="3962400"/>
            <a:ext cx="622682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/>
              <a:t>having feelings of being worried and afraid  </a:t>
            </a:r>
            <a:r>
              <a:rPr lang="en-US" sz="5400" dirty="0">
                <a:solidFill>
                  <a:srgbClr val="FF0000"/>
                </a:solidFill>
              </a:rPr>
              <a:t>(</a:t>
            </a:r>
            <a:r>
              <a:rPr lang="en-US" sz="5400" dirty="0" err="1">
                <a:solidFill>
                  <a:srgbClr val="FF0000"/>
                </a:solidFill>
              </a:rPr>
              <a:t>adj</a:t>
            </a:r>
            <a:r>
              <a:rPr lang="en-US" sz="5400" dirty="0">
                <a:solidFill>
                  <a:srgbClr val="FF0000"/>
                </a:solidFill>
              </a:rPr>
              <a:t>)</a:t>
            </a:r>
            <a:endParaRPr lang="th-TH" sz="5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438400"/>
            <a:ext cx="7772400" cy="1470025"/>
          </a:xfrm>
        </p:spPr>
        <p:txBody>
          <a:bodyPr>
            <a:noAutofit/>
          </a:bodyPr>
          <a:lstStyle/>
          <a:p>
            <a:pPr algn="l"/>
            <a:r>
              <a:rPr lang="en-US" sz="9600" dirty="0">
                <a:solidFill>
                  <a:srgbClr val="FF0000"/>
                </a:solidFill>
                <a:latin typeface="Context Condensed SSi" pitchFamily="34" charset="0"/>
              </a:rPr>
              <a:t>situate</a:t>
            </a:r>
            <a:endParaRPr lang="th-TH" sz="9600" dirty="0">
              <a:solidFill>
                <a:srgbClr val="FF0000"/>
              </a:solidFill>
              <a:latin typeface="Context Condensed SSi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93180" y="3962400"/>
            <a:ext cx="622682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/>
              <a:t>to place in a particular location  </a:t>
            </a:r>
            <a:r>
              <a:rPr lang="en-US" sz="5400" dirty="0">
                <a:solidFill>
                  <a:srgbClr val="FF0000"/>
                </a:solidFill>
              </a:rPr>
              <a:t>(v)</a:t>
            </a:r>
            <a:endParaRPr lang="th-TH" sz="5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438400"/>
            <a:ext cx="7772400" cy="1470025"/>
          </a:xfrm>
        </p:spPr>
        <p:txBody>
          <a:bodyPr>
            <a:noAutofit/>
          </a:bodyPr>
          <a:lstStyle/>
          <a:p>
            <a:pPr algn="l"/>
            <a:r>
              <a:rPr lang="en-US" sz="9600" dirty="0">
                <a:solidFill>
                  <a:srgbClr val="FF0000"/>
                </a:solidFill>
                <a:latin typeface="Context Condensed SSi" pitchFamily="34" charset="0"/>
              </a:rPr>
              <a:t>situat</a:t>
            </a:r>
            <a:r>
              <a:rPr lang="en-US" sz="9600" dirty="0">
                <a:solidFill>
                  <a:srgbClr val="0070C0"/>
                </a:solidFill>
                <a:latin typeface="Context Condensed SSi" pitchFamily="34" charset="0"/>
              </a:rPr>
              <a:t>ion</a:t>
            </a:r>
            <a:endParaRPr lang="th-TH" sz="9600" dirty="0">
              <a:solidFill>
                <a:srgbClr val="0070C0"/>
              </a:solidFill>
              <a:latin typeface="Context Condensed SSi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93180" y="3962400"/>
            <a:ext cx="744602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/>
              <a:t>all of the things that affect someone at a particular time/place </a:t>
            </a:r>
            <a:r>
              <a:rPr lang="en-US" sz="5400" dirty="0">
                <a:solidFill>
                  <a:srgbClr val="FF0000"/>
                </a:solidFill>
              </a:rPr>
              <a:t>(n)</a:t>
            </a:r>
            <a:endParaRPr lang="th-TH" sz="5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438400"/>
            <a:ext cx="7772400" cy="1470025"/>
          </a:xfrm>
        </p:spPr>
        <p:txBody>
          <a:bodyPr>
            <a:noAutofit/>
          </a:bodyPr>
          <a:lstStyle/>
          <a:p>
            <a:pPr algn="l"/>
            <a:r>
              <a:rPr lang="en-US" sz="9600" dirty="0">
                <a:solidFill>
                  <a:srgbClr val="FF0000"/>
                </a:solidFill>
                <a:latin typeface="Context Condensed SSi" pitchFamily="34" charset="0"/>
              </a:rPr>
              <a:t>Add a </a:t>
            </a:r>
            <a:r>
              <a:rPr lang="en-US" sz="9600" dirty="0">
                <a:solidFill>
                  <a:srgbClr val="0070C0"/>
                </a:solidFill>
                <a:latin typeface="Context Condensed SSi" pitchFamily="34" charset="0"/>
              </a:rPr>
              <a:t>pre</a:t>
            </a:r>
            <a:r>
              <a:rPr lang="en-US" sz="9600" dirty="0">
                <a:solidFill>
                  <a:srgbClr val="FF0000"/>
                </a:solidFill>
                <a:latin typeface="Context Condensed SSi" pitchFamily="34" charset="0"/>
              </a:rPr>
              <a:t>fix.</a:t>
            </a:r>
            <a:endParaRPr lang="th-TH" sz="9600" dirty="0">
              <a:solidFill>
                <a:srgbClr val="FF0000"/>
              </a:solidFill>
              <a:latin typeface="Context Condensed SSi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438400"/>
            <a:ext cx="7772400" cy="1470025"/>
          </a:xfrm>
        </p:spPr>
        <p:txBody>
          <a:bodyPr>
            <a:noAutofit/>
          </a:bodyPr>
          <a:lstStyle/>
          <a:p>
            <a:pPr algn="l"/>
            <a:r>
              <a:rPr lang="en-US" sz="9600" dirty="0">
                <a:solidFill>
                  <a:srgbClr val="FF0000"/>
                </a:solidFill>
                <a:latin typeface="Context Condensed SSi" pitchFamily="34" charset="0"/>
              </a:rPr>
              <a:t>do</a:t>
            </a:r>
            <a:endParaRPr lang="th-TH" sz="9600" dirty="0">
              <a:solidFill>
                <a:srgbClr val="FF0000"/>
              </a:solidFill>
              <a:latin typeface="Context Condensed SSi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93180" y="3962400"/>
            <a:ext cx="721742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/>
              <a:t>to perform </a:t>
            </a:r>
            <a:r>
              <a:rPr lang="en-US" sz="5400" dirty="0">
                <a:solidFill>
                  <a:srgbClr val="0070C0"/>
                </a:solidFill>
              </a:rPr>
              <a:t>(an action or activity)</a:t>
            </a:r>
            <a:r>
              <a:rPr lang="en-US" sz="5400" dirty="0"/>
              <a:t> </a:t>
            </a:r>
            <a:r>
              <a:rPr lang="en-US" sz="5400" dirty="0">
                <a:solidFill>
                  <a:srgbClr val="FF0000"/>
                </a:solidFill>
              </a:rPr>
              <a:t>(v)</a:t>
            </a:r>
            <a:endParaRPr lang="th-TH" sz="5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438400"/>
            <a:ext cx="7772400" cy="1470025"/>
          </a:xfrm>
        </p:spPr>
        <p:txBody>
          <a:bodyPr>
            <a:noAutofit/>
          </a:bodyPr>
          <a:lstStyle/>
          <a:p>
            <a:pPr algn="l"/>
            <a:r>
              <a:rPr lang="en-US" sz="9600" dirty="0">
                <a:solidFill>
                  <a:srgbClr val="0070C0"/>
                </a:solidFill>
                <a:latin typeface="Context Condensed SSi" pitchFamily="34" charset="0"/>
              </a:rPr>
              <a:t>un</a:t>
            </a:r>
            <a:r>
              <a:rPr lang="en-US" sz="9600" dirty="0">
                <a:solidFill>
                  <a:srgbClr val="FF0000"/>
                </a:solidFill>
                <a:latin typeface="Context Condensed SSi" pitchFamily="34" charset="0"/>
              </a:rPr>
              <a:t>do</a:t>
            </a:r>
            <a:endParaRPr lang="th-TH" sz="9600" dirty="0">
              <a:solidFill>
                <a:srgbClr val="FF0000"/>
              </a:solidFill>
              <a:latin typeface="Context Condensed SSi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93180" y="3962400"/>
            <a:ext cx="721742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/>
              <a:t>to change or stop the effect of (something); </a:t>
            </a:r>
            <a:r>
              <a:rPr lang="en-US" sz="5400" dirty="0">
                <a:solidFill>
                  <a:srgbClr val="0070C0"/>
                </a:solidFill>
              </a:rPr>
              <a:t>reverse</a:t>
            </a:r>
            <a:r>
              <a:rPr lang="en-US" sz="5400" dirty="0"/>
              <a:t> </a:t>
            </a:r>
            <a:r>
              <a:rPr lang="en-US" sz="5400" dirty="0">
                <a:solidFill>
                  <a:srgbClr val="FF0000"/>
                </a:solidFill>
              </a:rPr>
              <a:t>(v)</a:t>
            </a:r>
            <a:endParaRPr lang="th-TH" sz="5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438400"/>
            <a:ext cx="7772400" cy="1470025"/>
          </a:xfrm>
        </p:spPr>
        <p:txBody>
          <a:bodyPr>
            <a:noAutofit/>
          </a:bodyPr>
          <a:lstStyle/>
          <a:p>
            <a:pPr algn="l"/>
            <a:r>
              <a:rPr lang="en-US" sz="9600" dirty="0">
                <a:solidFill>
                  <a:srgbClr val="FF0000"/>
                </a:solidFill>
                <a:latin typeface="Context Condensed SSi" pitchFamily="34" charset="0"/>
              </a:rPr>
              <a:t>read</a:t>
            </a:r>
            <a:endParaRPr lang="th-TH" sz="9600" dirty="0">
              <a:solidFill>
                <a:srgbClr val="FF0000"/>
              </a:solidFill>
              <a:latin typeface="Context Condensed SSi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93180" y="3962400"/>
            <a:ext cx="721742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/>
              <a:t>to look at and understand the meaning of letters, words </a:t>
            </a:r>
            <a:r>
              <a:rPr lang="en-US" sz="5400" dirty="0">
                <a:solidFill>
                  <a:srgbClr val="FF0000"/>
                </a:solidFill>
              </a:rPr>
              <a:t>(v)</a:t>
            </a:r>
            <a:endParaRPr lang="th-TH" sz="5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438400"/>
            <a:ext cx="7772400" cy="1470025"/>
          </a:xfrm>
        </p:spPr>
        <p:txBody>
          <a:bodyPr>
            <a:noAutofit/>
          </a:bodyPr>
          <a:lstStyle/>
          <a:p>
            <a:pPr algn="l"/>
            <a:r>
              <a:rPr lang="en-US" sz="9600" dirty="0">
                <a:solidFill>
                  <a:srgbClr val="0070C0"/>
                </a:solidFill>
                <a:latin typeface="Context Condensed SSi" pitchFamily="34" charset="0"/>
              </a:rPr>
              <a:t>re</a:t>
            </a:r>
            <a:r>
              <a:rPr lang="en-US" sz="9600" dirty="0">
                <a:solidFill>
                  <a:srgbClr val="FF0000"/>
                </a:solidFill>
                <a:latin typeface="Context Condensed SSi" pitchFamily="34" charset="0"/>
              </a:rPr>
              <a:t>read</a:t>
            </a:r>
            <a:endParaRPr lang="th-TH" sz="9600" dirty="0">
              <a:solidFill>
                <a:srgbClr val="FF0000"/>
              </a:solidFill>
              <a:latin typeface="Context Condensed SSi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93180" y="3962400"/>
            <a:ext cx="721742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/>
              <a:t>to read again </a:t>
            </a:r>
            <a:r>
              <a:rPr lang="en-US" sz="5400" dirty="0">
                <a:solidFill>
                  <a:srgbClr val="FF0000"/>
                </a:solidFill>
              </a:rPr>
              <a:t>(v)</a:t>
            </a:r>
            <a:endParaRPr lang="th-TH" sz="5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438400"/>
            <a:ext cx="7772400" cy="1470025"/>
          </a:xfrm>
        </p:spPr>
        <p:txBody>
          <a:bodyPr>
            <a:noAutofit/>
          </a:bodyPr>
          <a:lstStyle/>
          <a:p>
            <a:pPr algn="l"/>
            <a:r>
              <a:rPr lang="en-US" sz="9600" dirty="0">
                <a:solidFill>
                  <a:srgbClr val="FF0000"/>
                </a:solidFill>
                <a:latin typeface="Context Condensed SSi" pitchFamily="34" charset="0"/>
              </a:rPr>
              <a:t>possible</a:t>
            </a:r>
            <a:endParaRPr lang="th-TH" sz="9600" dirty="0">
              <a:solidFill>
                <a:srgbClr val="FF0000"/>
              </a:solidFill>
              <a:latin typeface="Context Condensed SSi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93180" y="3962400"/>
            <a:ext cx="721742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/>
              <a:t>able to be done </a:t>
            </a:r>
            <a:r>
              <a:rPr lang="en-US" sz="5400" dirty="0">
                <a:solidFill>
                  <a:srgbClr val="FF0000"/>
                </a:solidFill>
              </a:rPr>
              <a:t>(</a:t>
            </a:r>
            <a:r>
              <a:rPr lang="en-US" sz="5400" dirty="0" err="1">
                <a:solidFill>
                  <a:srgbClr val="FF0000"/>
                </a:solidFill>
              </a:rPr>
              <a:t>adj</a:t>
            </a:r>
            <a:r>
              <a:rPr lang="en-US" sz="5400" dirty="0">
                <a:solidFill>
                  <a:srgbClr val="FF0000"/>
                </a:solidFill>
              </a:rPr>
              <a:t>)</a:t>
            </a:r>
            <a:endParaRPr lang="th-TH" sz="5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438400"/>
            <a:ext cx="7772400" cy="1470025"/>
          </a:xfrm>
        </p:spPr>
        <p:txBody>
          <a:bodyPr>
            <a:noAutofit/>
          </a:bodyPr>
          <a:lstStyle/>
          <a:p>
            <a:pPr algn="l"/>
            <a:r>
              <a:rPr lang="en-US" sz="9600" dirty="0">
                <a:solidFill>
                  <a:srgbClr val="0070C0"/>
                </a:solidFill>
                <a:latin typeface="Context Condensed SSi" pitchFamily="34" charset="0"/>
              </a:rPr>
              <a:t>im</a:t>
            </a:r>
            <a:r>
              <a:rPr lang="en-US" sz="9600" dirty="0">
                <a:solidFill>
                  <a:srgbClr val="FF0000"/>
                </a:solidFill>
                <a:latin typeface="Context Condensed SSi" pitchFamily="34" charset="0"/>
              </a:rPr>
              <a:t>possible</a:t>
            </a:r>
            <a:endParaRPr lang="th-TH" sz="9600" dirty="0">
              <a:solidFill>
                <a:srgbClr val="FF0000"/>
              </a:solidFill>
              <a:latin typeface="Context Condensed SSi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93180" y="3962400"/>
            <a:ext cx="721742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/>
              <a:t>unable to be done or to happen </a:t>
            </a:r>
            <a:r>
              <a:rPr lang="en-US" sz="5400" dirty="0">
                <a:solidFill>
                  <a:srgbClr val="FF0000"/>
                </a:solidFill>
              </a:rPr>
              <a:t>(</a:t>
            </a:r>
            <a:r>
              <a:rPr lang="en-US" sz="5400" dirty="0" err="1">
                <a:solidFill>
                  <a:srgbClr val="FF0000"/>
                </a:solidFill>
              </a:rPr>
              <a:t>adj</a:t>
            </a:r>
            <a:r>
              <a:rPr lang="en-US" sz="5400" dirty="0">
                <a:solidFill>
                  <a:srgbClr val="FF0000"/>
                </a:solidFill>
              </a:rPr>
              <a:t>)</a:t>
            </a:r>
            <a:endParaRPr lang="th-TH" sz="5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438400"/>
            <a:ext cx="7772400" cy="1470025"/>
          </a:xfrm>
        </p:spPr>
        <p:txBody>
          <a:bodyPr>
            <a:noAutofit/>
          </a:bodyPr>
          <a:lstStyle/>
          <a:p>
            <a:pPr algn="l"/>
            <a:r>
              <a:rPr lang="en-US" sz="9600" dirty="0">
                <a:solidFill>
                  <a:srgbClr val="FF0000"/>
                </a:solidFill>
                <a:latin typeface="Context Condensed SSi" pitchFamily="34" charset="0"/>
              </a:rPr>
              <a:t>legal</a:t>
            </a:r>
            <a:endParaRPr lang="th-TH" sz="9600" dirty="0">
              <a:solidFill>
                <a:srgbClr val="FF0000"/>
              </a:solidFill>
              <a:latin typeface="Context Condensed SSi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93180" y="3962400"/>
            <a:ext cx="721742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/>
              <a:t>allowed by the law or by the rules in a game </a:t>
            </a:r>
            <a:r>
              <a:rPr lang="en-US" sz="5400" dirty="0">
                <a:solidFill>
                  <a:srgbClr val="FF0000"/>
                </a:solidFill>
              </a:rPr>
              <a:t>(</a:t>
            </a:r>
            <a:r>
              <a:rPr lang="en-US" sz="5400" dirty="0" err="1">
                <a:solidFill>
                  <a:srgbClr val="FF0000"/>
                </a:solidFill>
              </a:rPr>
              <a:t>adj</a:t>
            </a:r>
            <a:r>
              <a:rPr lang="en-US" sz="5400" dirty="0">
                <a:solidFill>
                  <a:srgbClr val="FF0000"/>
                </a:solidFill>
              </a:rPr>
              <a:t>)</a:t>
            </a:r>
            <a:endParaRPr lang="th-TH" sz="5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438400"/>
            <a:ext cx="7772400" cy="1470025"/>
          </a:xfrm>
        </p:spPr>
        <p:txBody>
          <a:bodyPr>
            <a:noAutofit/>
          </a:bodyPr>
          <a:lstStyle/>
          <a:p>
            <a:pPr algn="l"/>
            <a:r>
              <a:rPr lang="en-US" sz="9600" dirty="0">
                <a:solidFill>
                  <a:srgbClr val="0070C0"/>
                </a:solidFill>
                <a:latin typeface="Context Condensed SSi" pitchFamily="34" charset="0"/>
              </a:rPr>
              <a:t>il</a:t>
            </a:r>
            <a:r>
              <a:rPr lang="en-US" sz="9600" dirty="0">
                <a:solidFill>
                  <a:srgbClr val="FF0000"/>
                </a:solidFill>
                <a:latin typeface="Context Condensed SSi" pitchFamily="34" charset="0"/>
              </a:rPr>
              <a:t>legal</a:t>
            </a:r>
            <a:endParaRPr lang="th-TH" sz="9600" dirty="0">
              <a:solidFill>
                <a:srgbClr val="FF0000"/>
              </a:solidFill>
              <a:latin typeface="Context Condensed SSi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93180" y="3962400"/>
            <a:ext cx="721742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/>
              <a:t>not allowed </a:t>
            </a:r>
            <a:r>
              <a:rPr lang="en-US" sz="5400" dirty="0">
                <a:solidFill>
                  <a:srgbClr val="FF0000"/>
                </a:solidFill>
              </a:rPr>
              <a:t>(</a:t>
            </a:r>
            <a:r>
              <a:rPr lang="en-US" sz="5400" dirty="0" err="1">
                <a:solidFill>
                  <a:srgbClr val="FF0000"/>
                </a:solidFill>
              </a:rPr>
              <a:t>adj</a:t>
            </a:r>
            <a:r>
              <a:rPr lang="en-US" sz="5400" dirty="0">
                <a:solidFill>
                  <a:srgbClr val="FF0000"/>
                </a:solidFill>
              </a:rPr>
              <a:t>)</a:t>
            </a:r>
            <a:endParaRPr lang="th-TH" sz="5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438400"/>
            <a:ext cx="7772400" cy="1470025"/>
          </a:xfrm>
        </p:spPr>
        <p:txBody>
          <a:bodyPr>
            <a:noAutofit/>
          </a:bodyPr>
          <a:lstStyle/>
          <a:p>
            <a:pPr algn="l"/>
            <a:r>
              <a:rPr lang="en-US" sz="9600" dirty="0">
                <a:solidFill>
                  <a:srgbClr val="FF0000"/>
                </a:solidFill>
                <a:latin typeface="Context Condensed SSi" pitchFamily="34" charset="0"/>
              </a:rPr>
              <a:t>behave</a:t>
            </a:r>
            <a:endParaRPr lang="th-TH" sz="9600" dirty="0">
              <a:solidFill>
                <a:srgbClr val="FF0000"/>
              </a:solidFill>
              <a:latin typeface="Context Condensed SSi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93180" y="3962400"/>
            <a:ext cx="721742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/>
              <a:t>to act in an acceptable way </a:t>
            </a:r>
            <a:r>
              <a:rPr lang="en-US" sz="5400" dirty="0">
                <a:solidFill>
                  <a:srgbClr val="FF0000"/>
                </a:solidFill>
              </a:rPr>
              <a:t>(v)</a:t>
            </a:r>
            <a:endParaRPr lang="th-TH" sz="5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438400"/>
            <a:ext cx="7772400" cy="1470025"/>
          </a:xfrm>
        </p:spPr>
        <p:txBody>
          <a:bodyPr>
            <a:noAutofit/>
          </a:bodyPr>
          <a:lstStyle/>
          <a:p>
            <a:pPr algn="l"/>
            <a:r>
              <a:rPr lang="en-US" sz="9600" dirty="0">
                <a:solidFill>
                  <a:srgbClr val="0070C0"/>
                </a:solidFill>
                <a:latin typeface="Context Condensed SSi" pitchFamily="34" charset="0"/>
              </a:rPr>
              <a:t>mis</a:t>
            </a:r>
            <a:r>
              <a:rPr lang="en-US" sz="9600" dirty="0">
                <a:solidFill>
                  <a:srgbClr val="FF0000"/>
                </a:solidFill>
                <a:latin typeface="Context Condensed SSi" pitchFamily="34" charset="0"/>
              </a:rPr>
              <a:t>behave</a:t>
            </a:r>
            <a:endParaRPr lang="th-TH" sz="9600" dirty="0">
              <a:solidFill>
                <a:srgbClr val="FF0000"/>
              </a:solidFill>
              <a:latin typeface="Context Condensed SSi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93180" y="3962400"/>
            <a:ext cx="721742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/>
              <a:t>to behave badly </a:t>
            </a:r>
            <a:r>
              <a:rPr lang="en-US" sz="5400" dirty="0">
                <a:solidFill>
                  <a:srgbClr val="FF0000"/>
                </a:solidFill>
              </a:rPr>
              <a:t>(v)</a:t>
            </a:r>
            <a:endParaRPr lang="th-TH" sz="5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438400"/>
            <a:ext cx="7772400" cy="1470025"/>
          </a:xfrm>
        </p:spPr>
        <p:txBody>
          <a:bodyPr>
            <a:noAutofit/>
          </a:bodyPr>
          <a:lstStyle/>
          <a:p>
            <a:pPr algn="l"/>
            <a:r>
              <a:rPr lang="en-US" sz="9600" dirty="0">
                <a:solidFill>
                  <a:srgbClr val="FF0000"/>
                </a:solidFill>
                <a:latin typeface="Context Condensed SSi" pitchFamily="34" charset="0"/>
              </a:rPr>
              <a:t>marine</a:t>
            </a:r>
            <a:endParaRPr lang="th-TH" sz="9600" dirty="0">
              <a:solidFill>
                <a:srgbClr val="FF0000"/>
              </a:solidFill>
              <a:latin typeface="Context Condensed SSi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93180" y="3962400"/>
            <a:ext cx="721742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/>
              <a:t>of the sea </a:t>
            </a:r>
            <a:r>
              <a:rPr lang="en-US" sz="5400" dirty="0">
                <a:solidFill>
                  <a:srgbClr val="FF0000"/>
                </a:solidFill>
              </a:rPr>
              <a:t>(</a:t>
            </a:r>
            <a:r>
              <a:rPr lang="en-US" sz="5400" dirty="0" err="1">
                <a:solidFill>
                  <a:srgbClr val="FF0000"/>
                </a:solidFill>
              </a:rPr>
              <a:t>adj</a:t>
            </a:r>
            <a:r>
              <a:rPr lang="en-US" sz="5400" dirty="0">
                <a:solidFill>
                  <a:srgbClr val="FF0000"/>
                </a:solidFill>
              </a:rPr>
              <a:t>)</a:t>
            </a:r>
            <a:endParaRPr lang="th-TH" sz="5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438400"/>
            <a:ext cx="7772400" cy="1470025"/>
          </a:xfrm>
        </p:spPr>
        <p:txBody>
          <a:bodyPr>
            <a:noAutofit/>
          </a:bodyPr>
          <a:lstStyle/>
          <a:p>
            <a:pPr algn="l"/>
            <a:r>
              <a:rPr lang="en-US" sz="9600" dirty="0">
                <a:solidFill>
                  <a:srgbClr val="0070C0"/>
                </a:solidFill>
                <a:latin typeface="Context Condensed SSi" pitchFamily="34" charset="0"/>
              </a:rPr>
              <a:t>sub</a:t>
            </a:r>
            <a:r>
              <a:rPr lang="en-US" sz="9600" dirty="0">
                <a:solidFill>
                  <a:srgbClr val="FF0000"/>
                </a:solidFill>
                <a:latin typeface="Context Condensed SSi" pitchFamily="34" charset="0"/>
              </a:rPr>
              <a:t>marine</a:t>
            </a:r>
            <a:endParaRPr lang="th-TH" sz="9600" dirty="0">
              <a:solidFill>
                <a:srgbClr val="FF0000"/>
              </a:solidFill>
              <a:latin typeface="Context Condensed SSi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93180" y="3962400"/>
            <a:ext cx="721742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/>
              <a:t>a ship that can operate underwater </a:t>
            </a:r>
            <a:r>
              <a:rPr lang="en-US" sz="5400" dirty="0">
                <a:solidFill>
                  <a:srgbClr val="FF0000"/>
                </a:solidFill>
              </a:rPr>
              <a:t>(n)</a:t>
            </a:r>
            <a:endParaRPr lang="th-TH" sz="5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438400"/>
            <a:ext cx="7772400" cy="1470025"/>
          </a:xfrm>
        </p:spPr>
        <p:txBody>
          <a:bodyPr>
            <a:noAutofit/>
          </a:bodyPr>
          <a:lstStyle/>
          <a:p>
            <a:pPr algn="l"/>
            <a:r>
              <a:rPr lang="en-US" sz="9600" dirty="0">
                <a:solidFill>
                  <a:srgbClr val="FF0000"/>
                </a:solidFill>
                <a:latin typeface="Context Condensed SSi" pitchFamily="34" charset="0"/>
              </a:rPr>
              <a:t>Add </a:t>
            </a:r>
            <a:br>
              <a:rPr lang="en-US" sz="9600" dirty="0">
                <a:solidFill>
                  <a:srgbClr val="FF0000"/>
                </a:solidFill>
                <a:latin typeface="Context Condensed SSi" pitchFamily="34" charset="0"/>
              </a:rPr>
            </a:br>
            <a:r>
              <a:rPr lang="en-US" sz="9600" dirty="0">
                <a:solidFill>
                  <a:srgbClr val="FF0000"/>
                </a:solidFill>
                <a:latin typeface="Context Condensed SSi" pitchFamily="34" charset="0"/>
              </a:rPr>
              <a:t>a </a:t>
            </a:r>
            <a:r>
              <a:rPr lang="en-US" sz="9600" dirty="0">
                <a:solidFill>
                  <a:srgbClr val="0070C0"/>
                </a:solidFill>
                <a:latin typeface="Context Condensed SSi" pitchFamily="34" charset="0"/>
              </a:rPr>
              <a:t>prefix</a:t>
            </a:r>
            <a:br>
              <a:rPr lang="en-US" sz="9600" dirty="0">
                <a:solidFill>
                  <a:srgbClr val="0070C0"/>
                </a:solidFill>
                <a:latin typeface="Context Condensed SSi" pitchFamily="34" charset="0"/>
              </a:rPr>
            </a:br>
            <a:r>
              <a:rPr lang="en-US" sz="9600" dirty="0">
                <a:solidFill>
                  <a:srgbClr val="FF0000"/>
                </a:solidFill>
                <a:latin typeface="Context Condensed SSi" pitchFamily="34" charset="0"/>
              </a:rPr>
              <a:t>&amp;</a:t>
            </a:r>
            <a:br>
              <a:rPr lang="en-US" sz="9600" dirty="0">
                <a:solidFill>
                  <a:srgbClr val="FF0000"/>
                </a:solidFill>
                <a:latin typeface="Context Condensed SSi" pitchFamily="34" charset="0"/>
              </a:rPr>
            </a:br>
            <a:r>
              <a:rPr lang="en-US" sz="9600" dirty="0">
                <a:solidFill>
                  <a:srgbClr val="FF0000"/>
                </a:solidFill>
                <a:latin typeface="Context Condensed SSi" pitchFamily="34" charset="0"/>
              </a:rPr>
              <a:t>a </a:t>
            </a:r>
            <a:r>
              <a:rPr lang="en-US" sz="9600" dirty="0">
                <a:solidFill>
                  <a:srgbClr val="0070C0"/>
                </a:solidFill>
                <a:latin typeface="Context Condensed SSi" pitchFamily="34" charset="0"/>
              </a:rPr>
              <a:t>suffix</a:t>
            </a:r>
            <a:r>
              <a:rPr lang="en-US" sz="9600" dirty="0">
                <a:solidFill>
                  <a:srgbClr val="FF0000"/>
                </a:solidFill>
                <a:latin typeface="Context Condensed SSi" pitchFamily="34" charset="0"/>
              </a:rPr>
              <a:t>!</a:t>
            </a:r>
            <a:endParaRPr lang="th-TH" sz="9600" dirty="0">
              <a:solidFill>
                <a:srgbClr val="FF0000"/>
              </a:solidFill>
              <a:latin typeface="Context Condensed SSi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438400"/>
            <a:ext cx="7772400" cy="1470025"/>
          </a:xfrm>
        </p:spPr>
        <p:txBody>
          <a:bodyPr>
            <a:noAutofit/>
          </a:bodyPr>
          <a:lstStyle/>
          <a:p>
            <a:pPr algn="l"/>
            <a:r>
              <a:rPr lang="en-US" sz="9600" dirty="0">
                <a:solidFill>
                  <a:srgbClr val="FF0000"/>
                </a:solidFill>
                <a:latin typeface="Context Condensed SSi" pitchFamily="34" charset="0"/>
              </a:rPr>
              <a:t>do</a:t>
            </a:r>
            <a:endParaRPr lang="th-TH" sz="9600" dirty="0">
              <a:solidFill>
                <a:srgbClr val="FF0000"/>
              </a:solidFill>
              <a:latin typeface="Context Condensed SSi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438400"/>
            <a:ext cx="7772400" cy="1470025"/>
          </a:xfrm>
        </p:spPr>
        <p:txBody>
          <a:bodyPr>
            <a:noAutofit/>
          </a:bodyPr>
          <a:lstStyle/>
          <a:p>
            <a:pPr algn="l"/>
            <a:r>
              <a:rPr lang="en-US" sz="9600" dirty="0">
                <a:solidFill>
                  <a:srgbClr val="0070C0"/>
                </a:solidFill>
                <a:latin typeface="Context Condensed SSi" pitchFamily="34" charset="0"/>
              </a:rPr>
              <a:t>un</a:t>
            </a:r>
            <a:r>
              <a:rPr lang="en-US" sz="9600" dirty="0">
                <a:solidFill>
                  <a:srgbClr val="FF0000"/>
                </a:solidFill>
                <a:latin typeface="Context Condensed SSi" pitchFamily="34" charset="0"/>
              </a:rPr>
              <a:t>do</a:t>
            </a:r>
            <a:r>
              <a:rPr lang="en-US" sz="9600" dirty="0">
                <a:solidFill>
                  <a:srgbClr val="0070C0"/>
                </a:solidFill>
                <a:latin typeface="Context Condensed SSi" pitchFamily="34" charset="0"/>
              </a:rPr>
              <a:t>able</a:t>
            </a:r>
            <a:endParaRPr lang="th-TH" sz="9600" dirty="0">
              <a:solidFill>
                <a:srgbClr val="FF0000"/>
              </a:solidFill>
              <a:latin typeface="Context Condensed SSi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93180" y="3962400"/>
            <a:ext cx="721742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/>
              <a:t>not able to be done </a:t>
            </a:r>
            <a:r>
              <a:rPr lang="en-US" sz="5400" dirty="0">
                <a:solidFill>
                  <a:srgbClr val="FF0000"/>
                </a:solidFill>
              </a:rPr>
              <a:t>(</a:t>
            </a:r>
            <a:r>
              <a:rPr lang="en-US" sz="5400" dirty="0" err="1">
                <a:solidFill>
                  <a:srgbClr val="FF0000"/>
                </a:solidFill>
              </a:rPr>
              <a:t>adj</a:t>
            </a:r>
            <a:r>
              <a:rPr lang="en-US" sz="5400" dirty="0">
                <a:solidFill>
                  <a:srgbClr val="FF0000"/>
                </a:solidFill>
              </a:rPr>
              <a:t>)</a:t>
            </a:r>
            <a:endParaRPr lang="th-TH" sz="5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438400"/>
            <a:ext cx="7772400" cy="1470025"/>
          </a:xfrm>
        </p:spPr>
        <p:txBody>
          <a:bodyPr>
            <a:noAutofit/>
          </a:bodyPr>
          <a:lstStyle/>
          <a:p>
            <a:pPr algn="l"/>
            <a:r>
              <a:rPr lang="en-US" sz="9600" dirty="0">
                <a:solidFill>
                  <a:srgbClr val="FF0000"/>
                </a:solidFill>
                <a:latin typeface="Context Condensed SSi" pitchFamily="34" charset="0"/>
              </a:rPr>
              <a:t>form</a:t>
            </a:r>
            <a:endParaRPr lang="th-TH" sz="9600" dirty="0">
              <a:solidFill>
                <a:srgbClr val="FF0000"/>
              </a:solidFill>
              <a:latin typeface="Context Condensed SSi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393180" y="3962400"/>
            <a:ext cx="721742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/>
              <a:t>a type or kind of something </a:t>
            </a:r>
            <a:r>
              <a:rPr lang="en-US" sz="5400" dirty="0">
                <a:solidFill>
                  <a:srgbClr val="FF0000"/>
                </a:solidFill>
              </a:rPr>
              <a:t>(n)</a:t>
            </a:r>
            <a:endParaRPr lang="th-TH" sz="5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438400"/>
            <a:ext cx="7772400" cy="1470025"/>
          </a:xfrm>
        </p:spPr>
        <p:txBody>
          <a:bodyPr>
            <a:noAutofit/>
          </a:bodyPr>
          <a:lstStyle/>
          <a:p>
            <a:pPr algn="l"/>
            <a:r>
              <a:rPr lang="en-US" sz="9600" dirty="0">
                <a:solidFill>
                  <a:srgbClr val="0070C0"/>
                </a:solidFill>
                <a:latin typeface="Context Condensed SSi" pitchFamily="34" charset="0"/>
              </a:rPr>
              <a:t>in</a:t>
            </a:r>
            <a:r>
              <a:rPr lang="en-US" sz="9600" dirty="0">
                <a:solidFill>
                  <a:srgbClr val="FF0000"/>
                </a:solidFill>
                <a:latin typeface="Context Condensed SSi" pitchFamily="34" charset="0"/>
              </a:rPr>
              <a:t>form</a:t>
            </a:r>
            <a:r>
              <a:rPr lang="en-US" sz="9600" dirty="0">
                <a:solidFill>
                  <a:srgbClr val="0070C0"/>
                </a:solidFill>
                <a:latin typeface="Context Condensed SSi" pitchFamily="34" charset="0"/>
              </a:rPr>
              <a:t>ation</a:t>
            </a:r>
            <a:endParaRPr lang="th-TH" sz="9600" dirty="0">
              <a:solidFill>
                <a:srgbClr val="FF0000"/>
              </a:solidFill>
              <a:latin typeface="Context Condensed SSi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393180" y="3962400"/>
            <a:ext cx="721742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/>
              <a:t>facts or details about a subject </a:t>
            </a:r>
            <a:r>
              <a:rPr lang="en-US" sz="5400" dirty="0">
                <a:solidFill>
                  <a:srgbClr val="FF0000"/>
                </a:solidFill>
              </a:rPr>
              <a:t>(n)</a:t>
            </a:r>
            <a:endParaRPr lang="th-TH" sz="5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438400"/>
            <a:ext cx="7772400" cy="1470025"/>
          </a:xfrm>
        </p:spPr>
        <p:txBody>
          <a:bodyPr>
            <a:noAutofit/>
          </a:bodyPr>
          <a:lstStyle/>
          <a:p>
            <a:pPr algn="l"/>
            <a:r>
              <a:rPr lang="en-US" sz="9600" dirty="0">
                <a:solidFill>
                  <a:srgbClr val="FF0000"/>
                </a:solidFill>
                <a:latin typeface="Context Condensed SSi" pitchFamily="34" charset="0"/>
              </a:rPr>
              <a:t>forest</a:t>
            </a:r>
            <a:endParaRPr lang="th-TH" sz="9600" dirty="0">
              <a:solidFill>
                <a:srgbClr val="FF0000"/>
              </a:solidFill>
              <a:latin typeface="Context Condensed SSi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393180" y="3962400"/>
            <a:ext cx="721742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/>
              <a:t>a thick growth of trees </a:t>
            </a:r>
            <a:r>
              <a:rPr lang="en-US" sz="5400" dirty="0">
                <a:solidFill>
                  <a:srgbClr val="FF0000"/>
                </a:solidFill>
              </a:rPr>
              <a:t>(n)</a:t>
            </a:r>
            <a:endParaRPr lang="th-TH" sz="5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438400"/>
            <a:ext cx="7772400" cy="1470025"/>
          </a:xfrm>
        </p:spPr>
        <p:txBody>
          <a:bodyPr>
            <a:noAutofit/>
          </a:bodyPr>
          <a:lstStyle/>
          <a:p>
            <a:pPr algn="l"/>
            <a:r>
              <a:rPr lang="en-US" sz="9600" dirty="0">
                <a:solidFill>
                  <a:srgbClr val="0070C0"/>
                </a:solidFill>
                <a:latin typeface="Context Condensed SSi" pitchFamily="34" charset="0"/>
              </a:rPr>
              <a:t>de</a:t>
            </a:r>
            <a:r>
              <a:rPr lang="en-US" sz="9600" dirty="0">
                <a:solidFill>
                  <a:srgbClr val="FF0000"/>
                </a:solidFill>
                <a:latin typeface="Context Condensed SSi" pitchFamily="34" charset="0"/>
              </a:rPr>
              <a:t>forest</a:t>
            </a:r>
            <a:r>
              <a:rPr lang="en-US" sz="9600" dirty="0">
                <a:solidFill>
                  <a:srgbClr val="0070C0"/>
                </a:solidFill>
                <a:latin typeface="Context Condensed SSi" pitchFamily="34" charset="0"/>
              </a:rPr>
              <a:t>ation</a:t>
            </a:r>
            <a:endParaRPr lang="th-TH" sz="9600" dirty="0">
              <a:solidFill>
                <a:srgbClr val="FF0000"/>
              </a:solidFill>
              <a:latin typeface="Context Condensed SSi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393180" y="3962400"/>
            <a:ext cx="759842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/>
              <a:t>the act of cutting down all the trees in an area </a:t>
            </a:r>
            <a:r>
              <a:rPr lang="en-US" sz="5400" dirty="0">
                <a:solidFill>
                  <a:srgbClr val="FF0000"/>
                </a:solidFill>
              </a:rPr>
              <a:t>(n)</a:t>
            </a:r>
            <a:endParaRPr lang="th-TH" sz="5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ttp://i48.servimg.com/u/f48/14/38/97/20/68dbb31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43400" y="990600"/>
            <a:ext cx="4800599" cy="48006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438400"/>
            <a:ext cx="7772400" cy="1470025"/>
          </a:xfrm>
        </p:spPr>
        <p:txBody>
          <a:bodyPr>
            <a:noAutofit/>
          </a:bodyPr>
          <a:lstStyle/>
          <a:p>
            <a:pPr algn="l"/>
            <a:r>
              <a:rPr lang="en-US" sz="9600" dirty="0">
                <a:solidFill>
                  <a:srgbClr val="FF0000"/>
                </a:solidFill>
                <a:latin typeface="Context Condensed SSi" pitchFamily="34" charset="0"/>
              </a:rPr>
              <a:t>Final</a:t>
            </a:r>
            <a:r>
              <a:rPr lang="en-US" sz="9600" dirty="0">
                <a:solidFill>
                  <a:srgbClr val="0070C0"/>
                </a:solidFill>
                <a:latin typeface="Context Condensed SSi" pitchFamily="34" charset="0"/>
              </a:rPr>
              <a:t>ly</a:t>
            </a:r>
            <a:r>
              <a:rPr lang="en-US" sz="9600" dirty="0">
                <a:solidFill>
                  <a:srgbClr val="FF0000"/>
                </a:solidFill>
                <a:latin typeface="Context Condensed SSi" pitchFamily="34" charset="0"/>
              </a:rPr>
              <a:t> </a:t>
            </a:r>
            <a:br>
              <a:rPr lang="en-US" sz="9600" dirty="0">
                <a:solidFill>
                  <a:srgbClr val="FF0000"/>
                </a:solidFill>
                <a:latin typeface="Context Condensed SSi" pitchFamily="34" charset="0"/>
              </a:rPr>
            </a:br>
            <a:r>
              <a:rPr lang="en-US" sz="9600" dirty="0">
                <a:solidFill>
                  <a:srgbClr val="FF0000"/>
                </a:solidFill>
                <a:latin typeface="Context Condensed SSi" pitchFamily="34" charset="0"/>
              </a:rPr>
              <a:t>finish</a:t>
            </a:r>
            <a:r>
              <a:rPr lang="en-US" sz="9600" dirty="0">
                <a:solidFill>
                  <a:srgbClr val="0070C0"/>
                </a:solidFill>
                <a:latin typeface="Context Condensed SSi" pitchFamily="34" charset="0"/>
              </a:rPr>
              <a:t>ed!</a:t>
            </a:r>
            <a:endParaRPr lang="th-TH" sz="9600" dirty="0">
              <a:solidFill>
                <a:srgbClr val="0070C0"/>
              </a:solidFill>
              <a:latin typeface="Context Condensed SSi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94325352E032448D621CCF83E7CDF4" ma:contentTypeVersion="7" ma:contentTypeDescription="Create a new document." ma:contentTypeScope="" ma:versionID="ba3f5d81746a1d17f477876d09e42da9">
  <xsd:schema xmlns:xsd="http://www.w3.org/2001/XMLSchema" xmlns:xs="http://www.w3.org/2001/XMLSchema" xmlns:p="http://schemas.microsoft.com/office/2006/metadata/properties" xmlns:ns2="31635c7e-3a11-4128-b6ca-f17fd774e46d" targetNamespace="http://schemas.microsoft.com/office/2006/metadata/properties" ma:root="true" ma:fieldsID="53fdc2f79366fcea6d46fcbf154b677f" ns2:_="">
    <xsd:import namespace="31635c7e-3a11-4128-b6ca-f17fd774e4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635c7e-3a11-4128-b6ca-f17fd774e4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45FA29-A6F6-496B-9459-96A8C234C3F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569F461-FBC5-400B-A458-79B42894639D}">
  <ds:schemaRefs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purl.org/dc/dcmitype/"/>
    <ds:schemaRef ds:uri="d07cdbcb-6bf8-4229-9f51-710a061aab9f"/>
    <ds:schemaRef ds:uri="http://purl.org/dc/elements/1.1/"/>
    <ds:schemaRef ds:uri="http://schemas.microsoft.com/office/2006/metadata/properties"/>
    <ds:schemaRef ds:uri="3617593f-8dae-4122-a698-17231987a4d3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D1C615D-DEF7-4524-B518-1FA259FB7C21}"/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370</Words>
  <Application>Microsoft Office PowerPoint</Application>
  <PresentationFormat>On-screen Show (4:3)</PresentationFormat>
  <Paragraphs>69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Context Condensed SSi</vt:lpstr>
      <vt:lpstr>Angsana New</vt:lpstr>
      <vt:lpstr>Calibri</vt:lpstr>
      <vt:lpstr>Cordia New</vt:lpstr>
      <vt:lpstr>Arial</vt:lpstr>
      <vt:lpstr>Office Theme</vt:lpstr>
      <vt:lpstr>Word  Building</vt:lpstr>
      <vt:lpstr>Add a suffix.</vt:lpstr>
      <vt:lpstr>fear</vt:lpstr>
      <vt:lpstr>fearless</vt:lpstr>
      <vt:lpstr>care</vt:lpstr>
      <vt:lpstr>careful</vt:lpstr>
      <vt:lpstr>extravagant</vt:lpstr>
      <vt:lpstr>extravagantly</vt:lpstr>
      <vt:lpstr>sun</vt:lpstr>
      <vt:lpstr>sunny</vt:lpstr>
      <vt:lpstr>move</vt:lpstr>
      <vt:lpstr>movement</vt:lpstr>
      <vt:lpstr>nerve</vt:lpstr>
      <vt:lpstr>nervous</vt:lpstr>
      <vt:lpstr>situate</vt:lpstr>
      <vt:lpstr>situation</vt:lpstr>
      <vt:lpstr>Add a prefix.</vt:lpstr>
      <vt:lpstr>do</vt:lpstr>
      <vt:lpstr>undo</vt:lpstr>
      <vt:lpstr>read</vt:lpstr>
      <vt:lpstr>reread</vt:lpstr>
      <vt:lpstr>possible</vt:lpstr>
      <vt:lpstr>impossible</vt:lpstr>
      <vt:lpstr>legal</vt:lpstr>
      <vt:lpstr>illegal</vt:lpstr>
      <vt:lpstr>behave</vt:lpstr>
      <vt:lpstr>misbehave</vt:lpstr>
      <vt:lpstr>marine</vt:lpstr>
      <vt:lpstr>submarine</vt:lpstr>
      <vt:lpstr>Add  a prefix &amp; a suffix!</vt:lpstr>
      <vt:lpstr>do</vt:lpstr>
      <vt:lpstr>undoable</vt:lpstr>
      <vt:lpstr>form</vt:lpstr>
      <vt:lpstr>information</vt:lpstr>
      <vt:lpstr>forest</vt:lpstr>
      <vt:lpstr>deforestation</vt:lpstr>
      <vt:lpstr>Finally  finished!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Building</dc:title>
  <dc:creator>mini com</dc:creator>
  <cp:lastModifiedBy>Veronique Whittle</cp:lastModifiedBy>
  <cp:revision>17</cp:revision>
  <dcterms:created xsi:type="dcterms:W3CDTF">2016-08-22T06:24:03Z</dcterms:created>
  <dcterms:modified xsi:type="dcterms:W3CDTF">2025-06-23T10:27:53Z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0x0101006794325352E032448D621CCF83E7CDF4</vt:lpwstr>
  </property>
  <property fmtid="{D5CDD505-2E9C-101B-9397-08002B2CF9AE}" pid="3" name="Order">
    <vt:r8>20165500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</Properties>
</file>