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65" r:id="rId5"/>
    <p:sldId id="267" r:id="rId6"/>
    <p:sldId id="268" r:id="rId7"/>
    <p:sldId id="269" r:id="rId8"/>
    <p:sldId id="279" r:id="rId9"/>
    <p:sldId id="266" r:id="rId10"/>
    <p:sldId id="272" r:id="rId11"/>
    <p:sldId id="271" r:id="rId12"/>
    <p:sldId id="270" r:id="rId13"/>
    <p:sldId id="274" r:id="rId14"/>
    <p:sldId id="273" r:id="rId15"/>
    <p:sldId id="276" r:id="rId16"/>
    <p:sldId id="275" r:id="rId17"/>
    <p:sldId id="280" r:id="rId18"/>
    <p:sldId id="277" r:id="rId19"/>
    <p:sldId id="278"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15F6C7-0939-DBD9-2D33-05810A0CB640}" v="7" dt="2025-07-04T11:18:57.708"/>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52"/>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a Nasrallah" userId="S::jnasrallah1@cavc.ac.uk::a195ca03-6986-4630-8fa7-5c8ad63c348f" providerId="AD" clId="Web-{3B15F6C7-0939-DBD9-2D33-05810A0CB640}"/>
    <pc:docChg chg="modSld">
      <pc:chgData name="Julia Nasrallah" userId="S::jnasrallah1@cavc.ac.uk::a195ca03-6986-4630-8fa7-5c8ad63c348f" providerId="AD" clId="Web-{3B15F6C7-0939-DBD9-2D33-05810A0CB640}" dt="2025-07-04T11:18:55.583" v="5" actId="20577"/>
      <pc:docMkLst>
        <pc:docMk/>
      </pc:docMkLst>
      <pc:sldChg chg="modSp">
        <pc:chgData name="Julia Nasrallah" userId="S::jnasrallah1@cavc.ac.uk::a195ca03-6986-4630-8fa7-5c8ad63c348f" providerId="AD" clId="Web-{3B15F6C7-0939-DBD9-2D33-05810A0CB640}" dt="2025-07-04T11:18:55.583" v="5" actId="20577"/>
        <pc:sldMkLst>
          <pc:docMk/>
          <pc:sldMk cId="375739712" sldId="266"/>
        </pc:sldMkLst>
        <pc:spChg chg="mod">
          <ac:chgData name="Julia Nasrallah" userId="S::jnasrallah1@cavc.ac.uk::a195ca03-6986-4630-8fa7-5c8ad63c348f" providerId="AD" clId="Web-{3B15F6C7-0939-DBD9-2D33-05810A0CB640}" dt="2025-07-04T11:18:55.583" v="5" actId="20577"/>
          <ac:spMkLst>
            <pc:docMk/>
            <pc:sldMk cId="375739712" sldId="266"/>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7/4/2025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7/4/2025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Sun rising over grassy hills" title="Slide Design Pictu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 y="0"/>
            <a:ext cx="12188699" cy="4799300"/>
          </a:xfrm>
          <a:prstGeom prst="rect">
            <a:avLst/>
          </a:prstGeom>
        </p:spPr>
      </p:pic>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7/4/2025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583DDF-CA54-461A-A486-592D2374C532}" type="datetimeFigureOut">
              <a:rPr lang="en-US"/>
              <a:t>7/4/2025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7/4/2025</a:t>
            </a:fld>
            <a:endParaRPr/>
          </a:p>
        </p:txBody>
      </p:sp>
      <p:sp>
        <p:nvSpPr>
          <p:cNvPr id="5" name="Footer Placeholder 4"/>
          <p:cNvSpPr>
            <a:spLocks noGrp="1"/>
          </p:cNvSpPr>
          <p:nvPr>
            <p:ph type="ftr" sz="quarter" idx="11"/>
          </p:nvPr>
        </p:nvSpPr>
        <p:spPr/>
        <p:txBody>
          <a:bodyPr/>
          <a:lstStyle>
            <a:lvl1pPr>
              <a:defRPr>
                <a:solidFill>
                  <a:schemeClr val="tx2"/>
                </a:solidFill>
              </a:defRPr>
            </a:lvl1pPr>
          </a:lstStyle>
          <a:p>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DD7D43D-6574-4C7B-808D-C6C12215A4D4}" type="datetimeFigureOut">
              <a:rPr lang="en-US"/>
              <a:t>7/4/2025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A0ECE5F2-81AA-4605-B028-6FBA391056AF}" type="slidenum">
              <a:rPr/>
              <a:t>‹#›</a:t>
            </a:fld>
            <a:endParaRPr/>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E583DDF-CA54-461A-A486-592D2374C532}" type="datetimeFigureOut">
              <a:rPr lang="en-US"/>
              <a:t>7/4/2025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E583DDF-CA54-461A-A486-592D2374C532}" type="datetimeFigureOut">
              <a:rPr lang="en-US"/>
              <a:t>7/4/2025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7/4/2025</a:t>
            </a:fld>
            <a:endParaRPr/>
          </a:p>
        </p:txBody>
      </p:sp>
      <p:sp>
        <p:nvSpPr>
          <p:cNvPr id="3" name="Footer Placeholder 2"/>
          <p:cNvSpPr>
            <a:spLocks noGrp="1"/>
          </p:cNvSpPr>
          <p:nvPr>
            <p:ph type="ftr" sz="quarter" idx="11"/>
          </p:nvPr>
        </p:nvSpPr>
        <p:spPr/>
        <p:txBody>
          <a:bodyPr/>
          <a:lstStyle>
            <a:lvl1pPr>
              <a:defRPr>
                <a:solidFill>
                  <a:schemeClr val="tx2"/>
                </a:solidFill>
              </a:defRPr>
            </a:lvl1pPr>
          </a:lstStyle>
          <a:p>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7/4/2025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7/4/2025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7/4/2025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7/4/2025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7/4/2025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83680"/>
            <a:ext cx="12188826" cy="2743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587" y="65836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800">
                <a:solidFill>
                  <a:schemeClr val="bg2"/>
                </a:solidFill>
              </a:defRPr>
            </a:lvl1pPr>
          </a:lstStyle>
          <a:p>
            <a:fld id="{9E583DDF-CA54-461A-A486-592D2374C532}" type="datetimeFigureOut">
              <a:rPr lang="en-US"/>
              <a:pPr/>
              <a:t>7/4/2025</a:t>
            </a:fld>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800" cap="all" baseline="0">
                <a:solidFill>
                  <a:schemeClr val="bg2"/>
                </a:solidFill>
              </a:defRPr>
            </a:lvl1pPr>
          </a:lstStyle>
          <a:p>
            <a:endParaRPr/>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800">
                <a:solidFill>
                  <a:schemeClr val="bg2"/>
                </a:solidFill>
              </a:defRPr>
            </a:lvl1pPr>
          </a:lstStyle>
          <a:p>
            <a:fld id="{CA8D9AD5-F248-4919-864A-CFD76CC027D6}" type="slidenum">
              <a:rPr/>
              <a:pPr/>
              <a:t>‹#›</a:t>
            </a:fld>
            <a:endParaRPr/>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100000"/>
        <a:buFont typeface="Arial" pitchFamily="34" charset="0"/>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100000"/>
        <a:buFont typeface="Arial" pitchFamily="34" charset="0"/>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100000"/>
        <a:buFont typeface="Arial" pitchFamily="34" charset="0"/>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100000"/>
        <a:buFont typeface="Arial" pitchFamily="34" charset="0"/>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2300" y="5295900"/>
            <a:ext cx="11087100" cy="1143000"/>
          </a:xfrm>
        </p:spPr>
        <p:txBody>
          <a:bodyPr>
            <a:normAutofit/>
          </a:bodyPr>
          <a:lstStyle/>
          <a:p>
            <a:r>
              <a:rPr lang="en-US"/>
              <a:t>If this is the answer, what is the question?</a:t>
            </a:r>
          </a:p>
        </p:txBody>
      </p:sp>
    </p:spTree>
    <p:extLst>
      <p:ext uri="{BB962C8B-B14F-4D97-AF65-F5344CB8AC3E}">
        <p14:creationId xmlns:p14="http://schemas.microsoft.com/office/powerpoint/2010/main" val="279880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Cardiff &amp; Vale College</a:t>
            </a:r>
          </a:p>
        </p:txBody>
      </p:sp>
      <p:sp>
        <p:nvSpPr>
          <p:cNvPr id="3" name="Content Placeholder 2"/>
          <p:cNvSpPr>
            <a:spLocks noGrp="1"/>
          </p:cNvSpPr>
          <p:nvPr>
            <p:ph idx="1"/>
          </p:nvPr>
        </p:nvSpPr>
        <p:spPr/>
        <p:txBody>
          <a:bodyPr>
            <a:normAutofit/>
          </a:bodyPr>
          <a:lstStyle/>
          <a:p>
            <a:pPr marL="45720" indent="0">
              <a:buNone/>
            </a:pPr>
            <a:r>
              <a:rPr lang="en-GB" sz="4000" dirty="0"/>
              <a:t>What’s the name of </a:t>
            </a:r>
            <a:r>
              <a:rPr lang="en-GB" sz="4000"/>
              <a:t>your college?</a:t>
            </a:r>
            <a:endParaRPr lang="en-GB" sz="4000" dirty="0"/>
          </a:p>
        </p:txBody>
      </p:sp>
    </p:spTree>
    <p:extLst>
      <p:ext uri="{BB962C8B-B14F-4D97-AF65-F5344CB8AC3E}">
        <p14:creationId xmlns:p14="http://schemas.microsoft.com/office/powerpoint/2010/main" val="307551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On Fridays</a:t>
            </a:r>
          </a:p>
        </p:txBody>
      </p:sp>
      <p:sp>
        <p:nvSpPr>
          <p:cNvPr id="3" name="Content Placeholder 2"/>
          <p:cNvSpPr>
            <a:spLocks noGrp="1"/>
          </p:cNvSpPr>
          <p:nvPr>
            <p:ph idx="1"/>
          </p:nvPr>
        </p:nvSpPr>
        <p:spPr/>
        <p:txBody>
          <a:bodyPr>
            <a:normAutofit/>
          </a:bodyPr>
          <a:lstStyle/>
          <a:p>
            <a:pPr marL="45720" indent="0">
              <a:buNone/>
            </a:pPr>
            <a:r>
              <a:rPr lang="en-GB" sz="4000"/>
              <a:t>When do you have Numeracy classes?</a:t>
            </a:r>
          </a:p>
        </p:txBody>
      </p:sp>
    </p:spTree>
    <p:extLst>
      <p:ext uri="{BB962C8B-B14F-4D97-AF65-F5344CB8AC3E}">
        <p14:creationId xmlns:p14="http://schemas.microsoft.com/office/powerpoint/2010/main" val="2726593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Once a week</a:t>
            </a:r>
          </a:p>
        </p:txBody>
      </p:sp>
      <p:sp>
        <p:nvSpPr>
          <p:cNvPr id="3" name="Content Placeholder 2"/>
          <p:cNvSpPr>
            <a:spLocks noGrp="1"/>
          </p:cNvSpPr>
          <p:nvPr>
            <p:ph idx="1"/>
          </p:nvPr>
        </p:nvSpPr>
        <p:spPr/>
        <p:txBody>
          <a:bodyPr>
            <a:normAutofit/>
          </a:bodyPr>
          <a:lstStyle/>
          <a:p>
            <a:pPr marL="45720" indent="0">
              <a:buNone/>
            </a:pPr>
            <a:r>
              <a:rPr lang="en-GB" sz="4000"/>
              <a:t>How often do you have a Tutorial lesson?</a:t>
            </a:r>
          </a:p>
        </p:txBody>
      </p:sp>
    </p:spTree>
    <p:extLst>
      <p:ext uri="{BB962C8B-B14F-4D97-AF65-F5344CB8AC3E}">
        <p14:creationId xmlns:p14="http://schemas.microsoft.com/office/powerpoint/2010/main" val="223306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4714240"/>
          </a:xfrm>
        </p:spPr>
        <p:txBody>
          <a:bodyPr>
            <a:normAutofit/>
          </a:bodyPr>
          <a:lstStyle/>
          <a:p>
            <a:pPr algn="ctr"/>
            <a:r>
              <a:rPr lang="en-GB" sz="5400" b="1" dirty="0">
                <a:solidFill>
                  <a:schemeClr val="tx2">
                    <a:lumMod val="60000"/>
                    <a:lumOff val="40000"/>
                  </a:schemeClr>
                </a:solidFill>
              </a:rPr>
              <a:t>Turn right onto </a:t>
            </a:r>
            <a:r>
              <a:rPr lang="en-GB" sz="5400" b="1" dirty="0" err="1">
                <a:solidFill>
                  <a:schemeClr val="tx2">
                    <a:lumMod val="60000"/>
                    <a:lumOff val="40000"/>
                  </a:schemeClr>
                </a:solidFill>
              </a:rPr>
              <a:t>Dumballs</a:t>
            </a:r>
            <a:r>
              <a:rPr lang="en-GB" sz="5400" b="1" dirty="0">
                <a:solidFill>
                  <a:schemeClr val="tx2">
                    <a:lumMod val="60000"/>
                    <a:lumOff val="40000"/>
                  </a:schemeClr>
                </a:solidFill>
              </a:rPr>
              <a:t> Road, when you get to the traffic lights cross the road. It's right in front of you on the left. </a:t>
            </a:r>
            <a:endParaRPr lang="en-US" dirty="0">
              <a:solidFill>
                <a:schemeClr val="tx2">
                  <a:lumMod val="60000"/>
                  <a:lumOff val="40000"/>
                </a:schemeClr>
              </a:solidFill>
            </a:endParaRPr>
          </a:p>
        </p:txBody>
      </p:sp>
      <p:sp>
        <p:nvSpPr>
          <p:cNvPr id="3" name="Content Placeholder 2"/>
          <p:cNvSpPr>
            <a:spLocks noGrp="1"/>
          </p:cNvSpPr>
          <p:nvPr>
            <p:ph idx="1"/>
          </p:nvPr>
        </p:nvSpPr>
        <p:spPr>
          <a:xfrm>
            <a:off x="1341120" y="5486400"/>
            <a:ext cx="9509760" cy="774700"/>
          </a:xfrm>
        </p:spPr>
        <p:txBody>
          <a:bodyPr vert="horz" lIns="91440" tIns="45720" rIns="91440" bIns="45720" rtlCol="0" anchor="t">
            <a:normAutofit fontScale="92500"/>
          </a:bodyPr>
          <a:lstStyle/>
          <a:p>
            <a:pPr marL="45720" indent="0">
              <a:buNone/>
            </a:pPr>
            <a:r>
              <a:rPr lang="en-GB" sz="4000" dirty="0"/>
              <a:t>How do you get to the train station from here?</a:t>
            </a:r>
          </a:p>
        </p:txBody>
      </p:sp>
    </p:spTree>
    <p:extLst>
      <p:ext uri="{BB962C8B-B14F-4D97-AF65-F5344CB8AC3E}">
        <p14:creationId xmlns:p14="http://schemas.microsoft.com/office/powerpoint/2010/main" val="1417343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dirty="0">
                <a:solidFill>
                  <a:schemeClr val="tx2">
                    <a:lumMod val="60000"/>
                    <a:lumOff val="40000"/>
                  </a:schemeClr>
                </a:solidFill>
              </a:rPr>
              <a:t>Keir Starmer</a:t>
            </a:r>
          </a:p>
        </p:txBody>
      </p:sp>
      <p:sp>
        <p:nvSpPr>
          <p:cNvPr id="3" name="Content Placeholder 2"/>
          <p:cNvSpPr>
            <a:spLocks noGrp="1"/>
          </p:cNvSpPr>
          <p:nvPr>
            <p:ph idx="1"/>
          </p:nvPr>
        </p:nvSpPr>
        <p:spPr/>
        <p:txBody>
          <a:bodyPr>
            <a:normAutofit/>
          </a:bodyPr>
          <a:lstStyle/>
          <a:p>
            <a:pPr marL="45720" indent="0">
              <a:buNone/>
            </a:pPr>
            <a:r>
              <a:rPr lang="en-GB" sz="4000"/>
              <a:t>Who is the Prime Minister of Britain today?</a:t>
            </a:r>
          </a:p>
        </p:txBody>
      </p:sp>
    </p:spTree>
    <p:extLst>
      <p:ext uri="{BB962C8B-B14F-4D97-AF65-F5344CB8AC3E}">
        <p14:creationId xmlns:p14="http://schemas.microsoft.com/office/powerpoint/2010/main" val="37573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London</a:t>
            </a:r>
          </a:p>
        </p:txBody>
      </p:sp>
      <p:sp>
        <p:nvSpPr>
          <p:cNvPr id="3" name="Content Placeholder 2"/>
          <p:cNvSpPr>
            <a:spLocks noGrp="1"/>
          </p:cNvSpPr>
          <p:nvPr>
            <p:ph idx="1"/>
          </p:nvPr>
        </p:nvSpPr>
        <p:spPr/>
        <p:txBody>
          <a:bodyPr>
            <a:normAutofit/>
          </a:bodyPr>
          <a:lstStyle/>
          <a:p>
            <a:pPr marL="45720" indent="0">
              <a:buNone/>
            </a:pPr>
            <a:r>
              <a:rPr lang="en-GB" sz="4000"/>
              <a:t>What is the capital of the United Kingdom?</a:t>
            </a:r>
          </a:p>
        </p:txBody>
      </p:sp>
    </p:spTree>
    <p:extLst>
      <p:ext uri="{BB962C8B-B14F-4D97-AF65-F5344CB8AC3E}">
        <p14:creationId xmlns:p14="http://schemas.microsoft.com/office/powerpoint/2010/main" val="2788759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I would give it all to charity</a:t>
            </a:r>
          </a:p>
        </p:txBody>
      </p:sp>
      <p:sp>
        <p:nvSpPr>
          <p:cNvPr id="3" name="Content Placeholder 2"/>
          <p:cNvSpPr>
            <a:spLocks noGrp="1"/>
          </p:cNvSpPr>
          <p:nvPr>
            <p:ph idx="1"/>
          </p:nvPr>
        </p:nvSpPr>
        <p:spPr/>
        <p:txBody>
          <a:bodyPr>
            <a:normAutofit/>
          </a:bodyPr>
          <a:lstStyle/>
          <a:p>
            <a:pPr marL="45720" indent="0">
              <a:buNone/>
            </a:pPr>
            <a:r>
              <a:rPr lang="en-GB" sz="4000"/>
              <a:t>What would you do if you won the lottery?</a:t>
            </a:r>
          </a:p>
        </p:txBody>
      </p:sp>
    </p:spTree>
    <p:extLst>
      <p:ext uri="{BB962C8B-B14F-4D97-AF65-F5344CB8AC3E}">
        <p14:creationId xmlns:p14="http://schemas.microsoft.com/office/powerpoint/2010/main" val="381734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sz="5400" b="1">
                <a:solidFill>
                  <a:schemeClr val="tx2">
                    <a:lumMod val="60000"/>
                    <a:lumOff val="40000"/>
                  </a:schemeClr>
                </a:solidFill>
              </a:rPr>
              <a:t>Because it takes 365 days for the planet to go round the sun</a:t>
            </a:r>
          </a:p>
        </p:txBody>
      </p:sp>
      <p:sp>
        <p:nvSpPr>
          <p:cNvPr id="3" name="Content Placeholder 2"/>
          <p:cNvSpPr>
            <a:spLocks noGrp="1"/>
          </p:cNvSpPr>
          <p:nvPr>
            <p:ph idx="1"/>
          </p:nvPr>
        </p:nvSpPr>
        <p:spPr/>
        <p:txBody>
          <a:bodyPr>
            <a:normAutofit/>
          </a:bodyPr>
          <a:lstStyle/>
          <a:p>
            <a:pPr marL="45720" indent="0">
              <a:buNone/>
            </a:pPr>
            <a:r>
              <a:rPr lang="en-GB" sz="4000"/>
              <a:t>Why is a year on Earth 365 days long?</a:t>
            </a:r>
          </a:p>
        </p:txBody>
      </p:sp>
    </p:spTree>
    <p:extLst>
      <p:ext uri="{BB962C8B-B14F-4D97-AF65-F5344CB8AC3E}">
        <p14:creationId xmlns:p14="http://schemas.microsoft.com/office/powerpoint/2010/main" val="418921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King Arthur</a:t>
            </a:r>
          </a:p>
        </p:txBody>
      </p:sp>
      <p:sp>
        <p:nvSpPr>
          <p:cNvPr id="3" name="Content Placeholder 2"/>
          <p:cNvSpPr>
            <a:spLocks noGrp="1"/>
          </p:cNvSpPr>
          <p:nvPr>
            <p:ph idx="1"/>
          </p:nvPr>
        </p:nvSpPr>
        <p:spPr/>
        <p:txBody>
          <a:bodyPr>
            <a:normAutofit/>
          </a:bodyPr>
          <a:lstStyle/>
          <a:p>
            <a:pPr marL="45720" indent="0">
              <a:buNone/>
            </a:pPr>
            <a:r>
              <a:rPr lang="en-GB" sz="4000"/>
              <a:t>Who is the legendary king who pulled a sword from the stone?</a:t>
            </a:r>
          </a:p>
        </p:txBody>
      </p:sp>
    </p:spTree>
    <p:extLst>
      <p:ext uri="{BB962C8B-B14F-4D97-AF65-F5344CB8AC3E}">
        <p14:creationId xmlns:p14="http://schemas.microsoft.com/office/powerpoint/2010/main" val="395295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3088640"/>
          </a:xfrm>
        </p:spPr>
        <p:txBody>
          <a:bodyPr>
            <a:normAutofit fontScale="90000"/>
          </a:bodyPr>
          <a:lstStyle/>
          <a:p>
            <a:pPr algn="ctr"/>
            <a:r>
              <a:rPr lang="en-GB" sz="5400" b="1">
                <a:solidFill>
                  <a:schemeClr val="tx2">
                    <a:lumMod val="60000"/>
                    <a:lumOff val="40000"/>
                  </a:schemeClr>
                </a:solidFill>
              </a:rPr>
              <a:t>By boiling the water, pouring a cup, placing a tea bag in the hot water for 4-5 minutes, and adding sugar and/or milk to taste.</a:t>
            </a:r>
          </a:p>
        </p:txBody>
      </p:sp>
      <p:sp>
        <p:nvSpPr>
          <p:cNvPr id="3" name="Content Placeholder 2"/>
          <p:cNvSpPr>
            <a:spLocks noGrp="1"/>
          </p:cNvSpPr>
          <p:nvPr>
            <p:ph idx="1"/>
          </p:nvPr>
        </p:nvSpPr>
        <p:spPr>
          <a:xfrm>
            <a:off x="1341120" y="4013200"/>
            <a:ext cx="9509760" cy="2016379"/>
          </a:xfrm>
        </p:spPr>
        <p:txBody>
          <a:bodyPr>
            <a:normAutofit/>
          </a:bodyPr>
          <a:lstStyle/>
          <a:p>
            <a:pPr marL="45720" indent="0">
              <a:buNone/>
            </a:pPr>
            <a:r>
              <a:rPr lang="en-GB" sz="4000"/>
              <a:t>How do you make a cup of tea?</a:t>
            </a:r>
          </a:p>
        </p:txBody>
      </p:sp>
    </p:spTree>
    <p:extLst>
      <p:ext uri="{BB962C8B-B14F-4D97-AF65-F5344CB8AC3E}">
        <p14:creationId xmlns:p14="http://schemas.microsoft.com/office/powerpoint/2010/main" val="120783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err="1">
                <a:solidFill>
                  <a:schemeClr val="tx2">
                    <a:lumMod val="60000"/>
                    <a:lumOff val="40000"/>
                  </a:schemeClr>
                </a:solidFill>
              </a:rPr>
              <a:t>Cymru</a:t>
            </a:r>
          </a:p>
        </p:txBody>
      </p:sp>
      <p:sp>
        <p:nvSpPr>
          <p:cNvPr id="3" name="Content Placeholder 2"/>
          <p:cNvSpPr>
            <a:spLocks noGrp="1"/>
          </p:cNvSpPr>
          <p:nvPr>
            <p:ph idx="1"/>
          </p:nvPr>
        </p:nvSpPr>
        <p:spPr/>
        <p:txBody>
          <a:bodyPr>
            <a:normAutofit/>
          </a:bodyPr>
          <a:lstStyle/>
          <a:p>
            <a:pPr marL="45720" indent="0">
              <a:buNone/>
            </a:pPr>
            <a:r>
              <a:rPr lang="en-GB" sz="4000"/>
              <a:t>What is the Welsh name for Wales?</a:t>
            </a:r>
          </a:p>
        </p:txBody>
      </p:sp>
    </p:spTree>
    <p:extLst>
      <p:ext uri="{BB962C8B-B14F-4D97-AF65-F5344CB8AC3E}">
        <p14:creationId xmlns:p14="http://schemas.microsoft.com/office/powerpoint/2010/main" val="97874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A millennium</a:t>
            </a:r>
          </a:p>
        </p:txBody>
      </p:sp>
      <p:sp>
        <p:nvSpPr>
          <p:cNvPr id="3" name="Content Placeholder 2"/>
          <p:cNvSpPr>
            <a:spLocks noGrp="1"/>
          </p:cNvSpPr>
          <p:nvPr>
            <p:ph idx="1"/>
          </p:nvPr>
        </p:nvSpPr>
        <p:spPr/>
        <p:txBody>
          <a:bodyPr>
            <a:normAutofit/>
          </a:bodyPr>
          <a:lstStyle/>
          <a:p>
            <a:pPr marL="45720" indent="0">
              <a:buNone/>
            </a:pPr>
            <a:r>
              <a:rPr lang="en-GB" sz="4000"/>
              <a:t>What do you call the time span of 1000 years?</a:t>
            </a:r>
          </a:p>
        </p:txBody>
      </p:sp>
    </p:spTree>
    <p:extLst>
      <p:ext uri="{BB962C8B-B14F-4D97-AF65-F5344CB8AC3E}">
        <p14:creationId xmlns:p14="http://schemas.microsoft.com/office/powerpoint/2010/main" val="86213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2364740"/>
          </a:xfrm>
        </p:spPr>
        <p:txBody>
          <a:bodyPr>
            <a:normAutofit fontScale="90000"/>
          </a:bodyPr>
          <a:lstStyle/>
          <a:p>
            <a:pPr algn="ctr"/>
            <a:r>
              <a:rPr lang="en-GB" sz="5400" b="1">
                <a:solidFill>
                  <a:schemeClr val="tx2">
                    <a:lumMod val="60000"/>
                    <a:lumOff val="40000"/>
                  </a:schemeClr>
                </a:solidFill>
              </a:rPr>
              <a:t>Because molecules in the air scatter blue light from the sun more than they scatter red light.</a:t>
            </a:r>
          </a:p>
        </p:txBody>
      </p:sp>
      <p:sp>
        <p:nvSpPr>
          <p:cNvPr id="3" name="Content Placeholder 2"/>
          <p:cNvSpPr>
            <a:spLocks noGrp="1"/>
          </p:cNvSpPr>
          <p:nvPr>
            <p:ph idx="1"/>
          </p:nvPr>
        </p:nvSpPr>
        <p:spPr>
          <a:xfrm>
            <a:off x="1341120" y="3759200"/>
            <a:ext cx="9509760" cy="1940179"/>
          </a:xfrm>
        </p:spPr>
        <p:txBody>
          <a:bodyPr>
            <a:normAutofit/>
          </a:bodyPr>
          <a:lstStyle/>
          <a:p>
            <a:pPr marL="45720" indent="0">
              <a:buNone/>
            </a:pPr>
            <a:r>
              <a:rPr lang="en-GB" sz="4000"/>
              <a:t>Why is the sky blue?</a:t>
            </a:r>
          </a:p>
        </p:txBody>
      </p:sp>
    </p:spTree>
    <p:extLst>
      <p:ext uri="{BB962C8B-B14F-4D97-AF65-F5344CB8AC3E}">
        <p14:creationId xmlns:p14="http://schemas.microsoft.com/office/powerpoint/2010/main" val="279366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7</a:t>
            </a:r>
          </a:p>
        </p:txBody>
      </p:sp>
      <p:sp>
        <p:nvSpPr>
          <p:cNvPr id="3" name="Content Placeholder 2"/>
          <p:cNvSpPr>
            <a:spLocks noGrp="1"/>
          </p:cNvSpPr>
          <p:nvPr>
            <p:ph idx="1"/>
          </p:nvPr>
        </p:nvSpPr>
        <p:spPr/>
        <p:txBody>
          <a:bodyPr>
            <a:normAutofit/>
          </a:bodyPr>
          <a:lstStyle/>
          <a:p>
            <a:pPr marL="45720" indent="0">
              <a:buNone/>
            </a:pPr>
            <a:r>
              <a:rPr lang="en-GB" sz="4000"/>
              <a:t>How many colours are there in a rainbow?</a:t>
            </a:r>
          </a:p>
        </p:txBody>
      </p:sp>
    </p:spTree>
    <p:extLst>
      <p:ext uri="{BB962C8B-B14F-4D97-AF65-F5344CB8AC3E}">
        <p14:creationId xmlns:p14="http://schemas.microsoft.com/office/powerpoint/2010/main" val="3410875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J.K. Rowling</a:t>
            </a:r>
          </a:p>
        </p:txBody>
      </p:sp>
      <p:sp>
        <p:nvSpPr>
          <p:cNvPr id="3" name="Content Placeholder 2"/>
          <p:cNvSpPr>
            <a:spLocks noGrp="1"/>
          </p:cNvSpPr>
          <p:nvPr>
            <p:ph idx="1"/>
          </p:nvPr>
        </p:nvSpPr>
        <p:spPr/>
        <p:txBody>
          <a:bodyPr>
            <a:normAutofit/>
          </a:bodyPr>
          <a:lstStyle/>
          <a:p>
            <a:pPr marL="45720" indent="0">
              <a:buNone/>
            </a:pPr>
            <a:r>
              <a:rPr lang="en-GB" sz="4000"/>
              <a:t>Who wrote </a:t>
            </a:r>
            <a:r>
              <a:rPr lang="en-GB" sz="4000" i="1"/>
              <a:t>Harry Potter</a:t>
            </a:r>
            <a:r>
              <a:rPr lang="en-GB" sz="4000"/>
              <a:t>?</a:t>
            </a:r>
          </a:p>
        </p:txBody>
      </p:sp>
    </p:spTree>
    <p:extLst>
      <p:ext uri="{BB962C8B-B14F-4D97-AF65-F5344CB8AC3E}">
        <p14:creationId xmlns:p14="http://schemas.microsoft.com/office/powerpoint/2010/main" val="4038450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5120640"/>
          </a:xfrm>
        </p:spPr>
        <p:txBody>
          <a:bodyPr>
            <a:noAutofit/>
          </a:bodyPr>
          <a:lstStyle/>
          <a:p>
            <a:pPr algn="ctr"/>
            <a:r>
              <a:rPr lang="en-GB" sz="4400" b="1">
                <a:solidFill>
                  <a:schemeClr val="tx2">
                    <a:lumMod val="60000"/>
                    <a:lumOff val="40000"/>
                  </a:schemeClr>
                </a:solidFill>
              </a:rPr>
              <a:t>It is considered that the Welsh kings of </a:t>
            </a:r>
            <a:r>
              <a:rPr lang="en-GB" sz="4400" b="1" err="1">
                <a:solidFill>
                  <a:schemeClr val="tx2">
                    <a:lumMod val="60000"/>
                    <a:lumOff val="40000"/>
                  </a:schemeClr>
                </a:solidFill>
              </a:rPr>
              <a:t>Aberffraw</a:t>
            </a:r>
            <a:r>
              <a:rPr lang="en-GB" sz="4400" b="1">
                <a:solidFill>
                  <a:schemeClr val="tx2">
                    <a:lumMod val="60000"/>
                    <a:lumOff val="40000"/>
                  </a:schemeClr>
                </a:solidFill>
              </a:rPr>
              <a:t> first adopted the dragon in the early fifth century in order to symbolise their power and authority after the Romans withdrew from Britain. Later, around the seventh century, it became known as the Red Dragon of </a:t>
            </a:r>
            <a:r>
              <a:rPr lang="en-GB" sz="4400" b="1" err="1">
                <a:solidFill>
                  <a:schemeClr val="tx2">
                    <a:lumMod val="60000"/>
                    <a:lumOff val="40000"/>
                  </a:schemeClr>
                </a:solidFill>
              </a:rPr>
              <a:t>Cadwaladr</a:t>
            </a:r>
            <a:r>
              <a:rPr lang="en-GB" sz="4400" b="1">
                <a:solidFill>
                  <a:schemeClr val="tx2">
                    <a:lumMod val="60000"/>
                    <a:lumOff val="40000"/>
                  </a:schemeClr>
                </a:solidFill>
              </a:rPr>
              <a:t>, king of Gwynedd from 655 to 682.</a:t>
            </a:r>
          </a:p>
        </p:txBody>
      </p:sp>
      <p:sp>
        <p:nvSpPr>
          <p:cNvPr id="3" name="Content Placeholder 2"/>
          <p:cNvSpPr>
            <a:spLocks noGrp="1"/>
          </p:cNvSpPr>
          <p:nvPr>
            <p:ph idx="1"/>
          </p:nvPr>
        </p:nvSpPr>
        <p:spPr>
          <a:xfrm>
            <a:off x="1041400" y="5715000"/>
            <a:ext cx="10464800" cy="619379"/>
          </a:xfrm>
        </p:spPr>
        <p:txBody>
          <a:bodyPr>
            <a:normAutofit fontScale="92500"/>
          </a:bodyPr>
          <a:lstStyle/>
          <a:p>
            <a:pPr marL="45720" indent="0">
              <a:buNone/>
            </a:pPr>
            <a:r>
              <a:rPr lang="en-GB" sz="4000"/>
              <a:t>How did the red dragon become a symbol for Wales?</a:t>
            </a:r>
          </a:p>
        </p:txBody>
      </p:sp>
    </p:spTree>
    <p:extLst>
      <p:ext uri="{BB962C8B-B14F-4D97-AF65-F5344CB8AC3E}">
        <p14:creationId xmlns:p14="http://schemas.microsoft.com/office/powerpoint/2010/main" val="2807427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anded Design Blue 16x9">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DA325F-9F1D-412E-9A28-FFDB9F4C922D}">
  <ds:schemaRefs>
    <ds:schemaRef ds:uri="http://schemas.microsoft.com/sharepoint/v3/contenttype/forms"/>
  </ds:schemaRefs>
</ds:datastoreItem>
</file>

<file path=customXml/itemProps2.xml><?xml version="1.0" encoding="utf-8"?>
<ds:datastoreItem xmlns:ds="http://schemas.openxmlformats.org/officeDocument/2006/customXml" ds:itemID="{DD459855-8EEF-4A1E-90B6-5BE97766FFC2}">
  <ds:schemaRefs>
    <ds:schemaRef ds:uri="http://schemas.microsoft.com/office/2006/metadata/properties"/>
    <ds:schemaRef ds:uri="1cf731c3-fdca-4a95-a92a-ea3b14523102"/>
    <ds:schemaRef ds:uri="http://purl.org/dc/terms/"/>
    <ds:schemaRef ds:uri="0b5197e8-b3d5-44fa-9c9e-08a78b475116"/>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E620BCDE-7E21-445A-AB11-C9E471420A53}"/>
</file>

<file path=docProps/app.xml><?xml version="1.0" encoding="utf-8"?>
<Properties xmlns="http://schemas.openxmlformats.org/officeDocument/2006/extended-properties" xmlns:vt="http://schemas.openxmlformats.org/officeDocument/2006/docPropsVTypes">
  <TotalTime>88</TotalTime>
  <Words>343</Words>
  <Application>Microsoft Office PowerPoint</Application>
  <PresentationFormat>Widescreen</PresentationFormat>
  <Paragraphs>33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Banded Design Blue 16x9</vt:lpstr>
      <vt:lpstr>If this is the answer, what is the question?</vt:lpstr>
      <vt:lpstr>Cardiff &amp; Vale College</vt:lpstr>
      <vt:lpstr>On Fridays</vt:lpstr>
      <vt:lpstr>Once a week</vt:lpstr>
      <vt:lpstr>Turn right onto Dumballs Road, when you get to the traffic lights cross the road. It's right in front of you on the left. </vt:lpstr>
      <vt:lpstr>Keir Starmer</vt:lpstr>
      <vt:lpstr>London</vt:lpstr>
      <vt:lpstr>I would give it all to charity</vt:lpstr>
      <vt:lpstr>Because it takes 365 days for the planet to go round the sun</vt:lpstr>
      <vt:lpstr>King Arthur</vt:lpstr>
      <vt:lpstr>By boiling the water, pouring a cup, placing a tea bag in the hot water for 4-5 minutes, and adding sugar and/or milk to taste.</vt:lpstr>
      <vt:lpstr>Cymru</vt:lpstr>
      <vt:lpstr>A millennium</vt:lpstr>
      <vt:lpstr>Because molecules in the air scatter blue light from the sun more than they scatter red light.</vt:lpstr>
      <vt:lpstr>7</vt:lpstr>
      <vt:lpstr>J.K. Rowling</vt:lpstr>
      <vt:lpstr>It is considered that the Welsh kings of Aberffraw first adopted the dragon in the early fifth century in order to symbolise their power and authority after the Romans withdrew from Britain. Later, around the seventh century, it became known as the Red Dragon of Cadwaladr, king of Gwynedd from 655 to 682.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 this is the answer, what is the question?</dc:title>
  <cp:lastModifiedBy>Rio Judson</cp:lastModifiedBy>
  <cp:revision>20</cp:revision>
  <dcterms:modified xsi:type="dcterms:W3CDTF">2025-07-04T11:19:00Z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TC028952539991</vt:lpwstr>
  </property>
  <property fmtid="{D5CDD505-2E9C-101B-9397-08002B2CF9AE}" pid="3" name="ContentTypeId">
    <vt:lpwstr>0x0101006794325352E032448D621CCF83E7CDF4</vt:lpwstr>
  </property>
  <property fmtid="{D5CDD505-2E9C-101B-9397-08002B2CF9AE}" pid="4" name="TaxKeyword">
    <vt:lpwstr/>
  </property>
  <property fmtid="{D5CDD505-2E9C-101B-9397-08002B2CF9AE}" pid="5" name="MediaServiceImageTags">
    <vt:lpwstr/>
  </property>
  <property fmtid="{D5CDD505-2E9C-101B-9397-08002B2CF9AE}" pid="6" name="Order">
    <vt:r8>17321000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