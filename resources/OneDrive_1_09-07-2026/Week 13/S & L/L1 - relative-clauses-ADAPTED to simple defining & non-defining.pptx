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61" r:id="rId10"/>
    <p:sldId id="262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03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7CF7A8-49AA-4F40-9125-16F387582C3B}" type="doc">
      <dgm:prSet loTypeId="urn:microsoft.com/office/officeart/2008/layout/BendingPictureCaption" loCatId="picture" qsTypeId="urn:microsoft.com/office/officeart/2005/8/quickstyle/simple1" qsCatId="simple" csTypeId="urn:microsoft.com/office/officeart/2005/8/colors/accent1_2" csCatId="accent1"/>
      <dgm:spPr/>
    </dgm:pt>
    <dgm:pt modelId="{E9A3C928-D1A9-42FE-B61C-C7F48D40D5D9}" type="pres">
      <dgm:prSet presAssocID="{587CF7A8-49AA-4F40-9125-16F387582C3B}" presName="diagram" presStyleCnt="0">
        <dgm:presLayoutVars>
          <dgm:dir/>
        </dgm:presLayoutVars>
      </dgm:prSet>
      <dgm:spPr/>
    </dgm:pt>
  </dgm:ptLst>
  <dgm:cxnLst>
    <dgm:cxn modelId="{77F97FF4-EDC3-4055-87F5-A4BD9A29BB39}" type="presOf" srcId="{587CF7A8-49AA-4F40-9125-16F387582C3B}" destId="{E9A3C928-D1A9-42FE-B61C-C7F48D40D5D9}" srcOrd="0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43FFE-FFC3-4E21-99E0-82F3E62AB9DF}" type="datetimeFigureOut">
              <a:rPr lang="tr-TR" smtClean="0"/>
              <a:t>1.03.2022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66746-268E-450F-BB9F-E6208F328E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3224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1061076" y="4350404"/>
            <a:ext cx="4741041" cy="276999"/>
          </a:xfrm>
        </p:spPr>
        <p:txBody>
          <a:bodyPr>
            <a:spAutoFit/>
          </a:bodyPr>
          <a:lstStyle/>
          <a:p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heel spokes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978385"/>
              </p:ext>
            </p:extLst>
          </p:nvPr>
        </p:nvGraphicFramePr>
        <p:xfrm>
          <a:off x="381000" y="304800"/>
          <a:ext cx="8610600" cy="6188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533400" y="838200"/>
            <a:ext cx="7772400" cy="5410200"/>
          </a:xfrm>
          <a:prstGeom prst="rect">
            <a:avLst/>
          </a:prstGeom>
          <a:ln w="762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prstTxWarp prst="textDeflat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tr-TR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RELATIVE CLAUSES</a:t>
            </a:r>
            <a:endParaRPr lang="en-US" sz="5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7641136"/>
      </p:ext>
    </p:extLst>
  </p:cSld>
  <p:clrMapOvr>
    <a:masterClrMapping/>
  </p:clrMapOvr>
  <p:transition spd="slow">
    <p:wheel spokes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3074" name="Picture 2" descr="C:\Users\ercanlı\Downloads\th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8640"/>
            <a:ext cx="7920880" cy="633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955172"/>
      </p:ext>
    </p:extLst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026" name="Picture 2" descr="C:\Users\ercanlı\Downloads\relative-claus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418"/>
            <a:ext cx="9145016" cy="661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271383"/>
      </p:ext>
    </p:extLst>
  </p:cSld>
  <p:clrMapOvr>
    <a:masterClrMapping/>
  </p:clrMapOvr>
  <p:transition spd="slow">
    <p:wheel spokes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72042" y="1906606"/>
            <a:ext cx="3810199" cy="2662267"/>
          </a:xfrm>
        </p:spPr>
        <p:txBody>
          <a:bodyPr>
            <a:spAutoFit/>
          </a:bodyPr>
          <a:lstStyle>
            <a:defPPr marL="432000" marR="0" lvl="0" indent="-324000" algn="l">
              <a:spcBef>
                <a:spcPts val="0"/>
              </a:spcBef>
              <a:spcAft>
                <a:spcPts val="1417"/>
              </a:spcAft>
              <a:buClr>
                <a:srgbClr val="0E594D"/>
              </a:buClr>
              <a:buSzPct val="45000"/>
              <a:buFont typeface="StarSymbol"/>
              <a:buNone/>
              <a:defRPr lang="es-ES" sz="32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defPPr>
            <a:lvl1pPr marL="432000" marR="0" lvl="0" indent="-324000" algn="l">
              <a:spcBef>
                <a:spcPts val="0"/>
              </a:spcBef>
              <a:spcAft>
                <a:spcPts val="1417"/>
              </a:spcAft>
              <a:buClr>
                <a:srgbClr val="0E594D"/>
              </a:buClr>
              <a:buSzPct val="45000"/>
              <a:buFont typeface="StarSymbol"/>
              <a:buChar char="●"/>
              <a:defRPr lang="es-ES" sz="32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1pPr>
            <a:lvl2pPr marL="864000" marR="0" lvl="1" indent="-288000" algn="l">
              <a:spcBef>
                <a:spcPts val="0"/>
              </a:spcBef>
              <a:spcAft>
                <a:spcPts val="1134"/>
              </a:spcAft>
              <a:buClr>
                <a:srgbClr val="000000"/>
              </a:buClr>
              <a:buSzPct val="75000"/>
              <a:buFont typeface="StarSymbol"/>
              <a:buChar char="–"/>
              <a:defRPr lang="es-ES" sz="28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2pPr>
            <a:lvl3pPr marL="1296000" marR="0" lvl="2" indent="-216000" algn="l">
              <a:spcBef>
                <a:spcPts val="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4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3pPr>
            <a:lvl4pPr marL="1728000" marR="0" lvl="3" indent="-216000" algn="l">
              <a:spcBef>
                <a:spcPts val="0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tarSymbol"/>
              <a:buChar char="–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4pPr>
            <a:lvl5pPr marL="2160000" marR="0" lvl="4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5pPr>
            <a:lvl6pPr marL="2592000" marR="0" lvl="5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6pPr>
            <a:lvl7pPr marL="3024000" marR="0" lvl="6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7pPr>
            <a:lvl8pPr marL="3456000" marR="0" lvl="7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8pPr>
            <a:lvl9pPr marL="3887999" marR="0" lvl="8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9pPr>
          </a:lstStyle>
          <a:p>
            <a:pPr lvl="0"/>
            <a:r>
              <a:rPr lang="es-ES" sz="2200" b="1" dirty="0" err="1">
                <a:solidFill>
                  <a:srgbClr val="198A8A"/>
                </a:solidFill>
              </a:rPr>
              <a:t>Essential</a:t>
            </a:r>
            <a:r>
              <a:rPr lang="es-ES" sz="2200" b="1" dirty="0">
                <a:solidFill>
                  <a:srgbClr val="198A8A"/>
                </a:solidFill>
              </a:rPr>
              <a:t> </a:t>
            </a:r>
            <a:r>
              <a:rPr lang="es-ES" sz="2200" b="1" dirty="0" err="1">
                <a:solidFill>
                  <a:srgbClr val="198A8A"/>
                </a:solidFill>
              </a:rPr>
              <a:t>information</a:t>
            </a:r>
            <a:endParaRPr lang="es-ES" sz="2200" b="1" dirty="0">
              <a:solidFill>
                <a:srgbClr val="198A8A"/>
              </a:solidFill>
            </a:endParaRPr>
          </a:p>
          <a:p>
            <a:pPr lvl="0"/>
            <a:r>
              <a:rPr lang="es-ES" sz="2200" b="1" dirty="0">
                <a:solidFill>
                  <a:srgbClr val="198A8A"/>
                </a:solidFill>
              </a:rPr>
              <a:t>No </a:t>
            </a:r>
            <a:r>
              <a:rPr lang="es-ES" sz="2200" b="1" dirty="0" err="1">
                <a:solidFill>
                  <a:srgbClr val="198A8A"/>
                </a:solidFill>
              </a:rPr>
              <a:t>commas</a:t>
            </a:r>
            <a:endParaRPr lang="es-ES" sz="2200" b="1" dirty="0">
              <a:solidFill>
                <a:srgbClr val="198A8A"/>
              </a:solidFill>
            </a:endParaRPr>
          </a:p>
          <a:p>
            <a:pPr lvl="0"/>
            <a:r>
              <a:rPr lang="es-ES" sz="2200" b="1" dirty="0">
                <a:solidFill>
                  <a:srgbClr val="198A8A"/>
                </a:solidFill>
              </a:rPr>
              <a:t>“</a:t>
            </a:r>
            <a:r>
              <a:rPr lang="es-ES" sz="2200" b="1" dirty="0" err="1">
                <a:solidFill>
                  <a:srgbClr val="198A8A"/>
                </a:solidFill>
              </a:rPr>
              <a:t>That</a:t>
            </a:r>
            <a:r>
              <a:rPr lang="es-ES" sz="2200" b="1" dirty="0">
                <a:solidFill>
                  <a:srgbClr val="198A8A"/>
                </a:solidFill>
              </a:rPr>
              <a:t>”</a:t>
            </a:r>
          </a:p>
          <a:p>
            <a:pPr lvl="0"/>
            <a:r>
              <a:rPr lang="es-ES" sz="2200" b="1" dirty="0" err="1">
                <a:solidFill>
                  <a:srgbClr val="198A8A"/>
                </a:solidFill>
              </a:rPr>
              <a:t>Omission</a:t>
            </a:r>
            <a:r>
              <a:rPr lang="es-ES" sz="2200" b="1" dirty="0">
                <a:solidFill>
                  <a:srgbClr val="198A8A"/>
                </a:solidFill>
              </a:rPr>
              <a:t> of </a:t>
            </a:r>
            <a:r>
              <a:rPr lang="es-ES" sz="2200" b="1" dirty="0" err="1">
                <a:solidFill>
                  <a:srgbClr val="198A8A"/>
                </a:solidFill>
              </a:rPr>
              <a:t>relative</a:t>
            </a:r>
            <a:r>
              <a:rPr lang="es-ES" sz="2200" b="1" dirty="0">
                <a:solidFill>
                  <a:srgbClr val="198A8A"/>
                </a:solidFill>
              </a:rPr>
              <a:t> (</a:t>
            </a:r>
            <a:r>
              <a:rPr lang="es-ES" sz="2200" b="1" dirty="0" err="1">
                <a:solidFill>
                  <a:srgbClr val="198A8A"/>
                </a:solidFill>
              </a:rPr>
              <a:t>when</a:t>
            </a:r>
            <a:r>
              <a:rPr lang="es-ES" sz="2200" b="1" dirty="0">
                <a:solidFill>
                  <a:srgbClr val="198A8A"/>
                </a:solidFill>
              </a:rPr>
              <a:t> </a:t>
            </a:r>
            <a:r>
              <a:rPr lang="es-ES" sz="2200" b="1" dirty="0" err="1">
                <a:solidFill>
                  <a:srgbClr val="198A8A"/>
                </a:solidFill>
              </a:rPr>
              <a:t>it's</a:t>
            </a:r>
            <a:r>
              <a:rPr lang="es-ES" sz="2200" b="1" dirty="0">
                <a:solidFill>
                  <a:srgbClr val="198A8A"/>
                </a:solidFill>
              </a:rPr>
              <a:t> NOT </a:t>
            </a:r>
            <a:r>
              <a:rPr lang="es-ES" sz="2200" b="1" dirty="0" err="1">
                <a:solidFill>
                  <a:srgbClr val="198A8A"/>
                </a:solidFill>
              </a:rPr>
              <a:t>the</a:t>
            </a:r>
            <a:r>
              <a:rPr lang="es-ES" sz="2200" b="1" dirty="0">
                <a:solidFill>
                  <a:srgbClr val="198A8A"/>
                </a:solidFill>
              </a:rPr>
              <a:t> </a:t>
            </a:r>
            <a:r>
              <a:rPr lang="es-ES" sz="2200" b="1" dirty="0" err="1">
                <a:solidFill>
                  <a:srgbClr val="198A8A"/>
                </a:solidFill>
              </a:rPr>
              <a:t>subject</a:t>
            </a:r>
            <a:r>
              <a:rPr lang="es-ES" sz="2200" b="1" dirty="0">
                <a:solidFill>
                  <a:srgbClr val="198A8A"/>
                </a:solidFill>
              </a:rPr>
              <a:t>)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4672947" y="1906606"/>
            <a:ext cx="3810199" cy="2323713"/>
          </a:xfrm>
        </p:spPr>
        <p:txBody>
          <a:bodyPr>
            <a:spAutoFit/>
          </a:bodyPr>
          <a:lstStyle>
            <a:defPPr marL="432000" marR="0" lvl="0" indent="-324000" algn="l">
              <a:spcBef>
                <a:spcPts val="0"/>
              </a:spcBef>
              <a:spcAft>
                <a:spcPts val="1417"/>
              </a:spcAft>
              <a:buClr>
                <a:srgbClr val="0E594D"/>
              </a:buClr>
              <a:buSzPct val="45000"/>
              <a:buFont typeface="StarSymbol"/>
              <a:buNone/>
              <a:defRPr lang="es-ES" sz="32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defPPr>
            <a:lvl1pPr marL="432000" marR="0" lvl="0" indent="-324000" algn="l">
              <a:spcBef>
                <a:spcPts val="0"/>
              </a:spcBef>
              <a:spcAft>
                <a:spcPts val="1417"/>
              </a:spcAft>
              <a:buClr>
                <a:srgbClr val="0E594D"/>
              </a:buClr>
              <a:buSzPct val="45000"/>
              <a:buFont typeface="StarSymbol"/>
              <a:buChar char="●"/>
              <a:defRPr lang="es-ES" sz="32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1pPr>
            <a:lvl2pPr marL="864000" marR="0" lvl="1" indent="-288000" algn="l">
              <a:spcBef>
                <a:spcPts val="0"/>
              </a:spcBef>
              <a:spcAft>
                <a:spcPts val="1134"/>
              </a:spcAft>
              <a:buClr>
                <a:srgbClr val="000000"/>
              </a:buClr>
              <a:buSzPct val="75000"/>
              <a:buFont typeface="StarSymbol"/>
              <a:buChar char="–"/>
              <a:defRPr lang="es-ES" sz="28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2pPr>
            <a:lvl3pPr marL="1296000" marR="0" lvl="2" indent="-216000" algn="l">
              <a:spcBef>
                <a:spcPts val="0"/>
              </a:spcBef>
              <a:spcAft>
                <a:spcPts val="850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4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3pPr>
            <a:lvl4pPr marL="1728000" marR="0" lvl="3" indent="-216000" algn="l">
              <a:spcBef>
                <a:spcPts val="0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tarSymbol"/>
              <a:buChar char="–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4pPr>
            <a:lvl5pPr marL="2160000" marR="0" lvl="4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5pPr>
            <a:lvl6pPr marL="2592000" marR="0" lvl="5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6pPr>
            <a:lvl7pPr marL="3024000" marR="0" lvl="6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7pPr>
            <a:lvl8pPr marL="3456000" marR="0" lvl="7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8pPr>
            <a:lvl9pPr marL="3887999" marR="0" lvl="8" indent="-216000" algn="l">
              <a:spcBef>
                <a:spcPts val="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StarSymbol"/>
              <a:buChar char="●"/>
              <a:defRPr lang="es-ES" sz="2000" b="0" i="0" u="none" strike="noStrike">
                <a:ln>
                  <a:noFill/>
                </a:ln>
                <a:solidFill>
                  <a:srgbClr val="000000"/>
                </a:solidFill>
                <a:latin typeface="Albany" pitchFamily="34"/>
                <a:ea typeface="HG Mincho Light J" pitchFamily="2"/>
                <a:cs typeface="Arial Unicode MS" pitchFamily="2"/>
              </a:defRPr>
            </a:lvl9pPr>
          </a:lstStyle>
          <a:p>
            <a:pPr lvl="0"/>
            <a:r>
              <a:rPr lang="es-ES" sz="2200" b="1" dirty="0">
                <a:solidFill>
                  <a:srgbClr val="198A8A"/>
                </a:solidFill>
              </a:rPr>
              <a:t>Extra </a:t>
            </a:r>
            <a:r>
              <a:rPr lang="es-ES" sz="2200" b="1" dirty="0" err="1">
                <a:solidFill>
                  <a:srgbClr val="198A8A"/>
                </a:solidFill>
              </a:rPr>
              <a:t>information</a:t>
            </a:r>
            <a:endParaRPr lang="es-ES" sz="2200" b="1" dirty="0">
              <a:solidFill>
                <a:srgbClr val="198A8A"/>
              </a:solidFill>
            </a:endParaRPr>
          </a:p>
          <a:p>
            <a:pPr lvl="0"/>
            <a:r>
              <a:rPr lang="es-ES" sz="2200" b="1" dirty="0" err="1">
                <a:solidFill>
                  <a:srgbClr val="198A8A"/>
                </a:solidFill>
              </a:rPr>
              <a:t>Commas</a:t>
            </a:r>
            <a:endParaRPr lang="es-ES" sz="2200" b="1" dirty="0">
              <a:solidFill>
                <a:srgbClr val="198A8A"/>
              </a:solidFill>
            </a:endParaRPr>
          </a:p>
          <a:p>
            <a:pPr lvl="0"/>
            <a:r>
              <a:rPr lang="es-ES" sz="2200" b="1" dirty="0">
                <a:solidFill>
                  <a:srgbClr val="198A8A"/>
                </a:solidFill>
              </a:rPr>
              <a:t>NO “</a:t>
            </a:r>
            <a:r>
              <a:rPr lang="es-ES" sz="2200" b="1" dirty="0" err="1">
                <a:solidFill>
                  <a:srgbClr val="198A8A"/>
                </a:solidFill>
              </a:rPr>
              <a:t>that</a:t>
            </a:r>
            <a:r>
              <a:rPr lang="es-ES" sz="2200" b="1" dirty="0">
                <a:solidFill>
                  <a:srgbClr val="198A8A"/>
                </a:solidFill>
              </a:rPr>
              <a:t>”</a:t>
            </a:r>
          </a:p>
          <a:p>
            <a:pPr lvl="0"/>
            <a:r>
              <a:rPr lang="es-ES" sz="2200" b="1" dirty="0">
                <a:solidFill>
                  <a:srgbClr val="198A8A"/>
                </a:solidFill>
              </a:rPr>
              <a:t>NO </a:t>
            </a:r>
            <a:r>
              <a:rPr lang="es-ES" sz="2200" b="1" dirty="0" err="1">
                <a:solidFill>
                  <a:srgbClr val="198A8A"/>
                </a:solidFill>
              </a:rPr>
              <a:t>omission</a:t>
            </a:r>
            <a:r>
              <a:rPr lang="es-ES" sz="2200" b="1" dirty="0">
                <a:solidFill>
                  <a:srgbClr val="198A8A"/>
                </a:solidFill>
              </a:rPr>
              <a:t> </a:t>
            </a:r>
            <a:r>
              <a:rPr lang="es-ES" sz="2200" b="1" dirty="0" err="1">
                <a:solidFill>
                  <a:srgbClr val="198A8A"/>
                </a:solidFill>
              </a:rPr>
              <a:t>of</a:t>
            </a:r>
            <a:r>
              <a:rPr lang="es-ES" sz="2200" b="1" dirty="0">
                <a:solidFill>
                  <a:srgbClr val="198A8A"/>
                </a:solidFill>
              </a:rPr>
              <a:t> </a:t>
            </a:r>
            <a:r>
              <a:rPr lang="es-ES" sz="2200" b="1" dirty="0" err="1">
                <a:solidFill>
                  <a:srgbClr val="198A8A"/>
                </a:solidFill>
              </a:rPr>
              <a:t>relative</a:t>
            </a:r>
            <a:r>
              <a:rPr lang="es-ES" sz="2200" b="1" dirty="0">
                <a:solidFill>
                  <a:srgbClr val="198A8A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592" y="908720"/>
            <a:ext cx="8244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rgbClr val="FF0000"/>
                </a:solidFill>
              </a:rPr>
              <a:t>DEFINING </a:t>
            </a:r>
            <a:r>
              <a:rPr lang="tr-TR" sz="4000" dirty="0"/>
              <a:t>                 </a:t>
            </a:r>
            <a:r>
              <a:rPr lang="tr-TR" sz="4000" dirty="0">
                <a:solidFill>
                  <a:srgbClr val="FF0000"/>
                </a:solidFill>
              </a:rPr>
              <a:t>NON-DEFINING</a:t>
            </a:r>
          </a:p>
        </p:txBody>
      </p:sp>
    </p:spTree>
    <p:extLst>
      <p:ext uri="{BB962C8B-B14F-4D97-AF65-F5344CB8AC3E}">
        <p14:creationId xmlns:p14="http://schemas.microsoft.com/office/powerpoint/2010/main" val="28972433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>
                <a:solidFill>
                  <a:srgbClr val="FFFFFF"/>
                </a:solidFill>
              </a:rPr>
              <a:t>No</a:t>
            </a:r>
            <a:r>
              <a:rPr lang="tr-TR" dirty="0">
                <a:solidFill>
                  <a:srgbClr val="FFFFFF"/>
                </a:solidFill>
              </a:rPr>
              <a:t>DEFI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 fontScale="92500" lnSpcReduction="20000"/>
          </a:bodyPr>
          <a:lstStyle/>
          <a:p>
            <a:pPr marL="216000" lvl="0" indent="-216000">
              <a:buNone/>
            </a:pPr>
            <a:endParaRPr lang="tr-TR" b="1" dirty="0">
              <a:solidFill>
                <a:srgbClr val="94006B"/>
              </a:solidFill>
              <a:latin typeface="Comic Sans MS" pitchFamily="66"/>
            </a:endParaRPr>
          </a:p>
          <a:p>
            <a:pPr marL="216000" lvl="0" indent="-216000">
              <a:buNone/>
            </a:pPr>
            <a:r>
              <a:rPr lang="es-ES" b="1" dirty="0" err="1">
                <a:solidFill>
                  <a:srgbClr val="94006B"/>
                </a:solidFill>
                <a:latin typeface="Comic Sans MS" pitchFamily="66"/>
              </a:rPr>
              <a:t>The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94006B"/>
                </a:solidFill>
                <a:latin typeface="Comic Sans MS" pitchFamily="66"/>
              </a:rPr>
              <a:t>woman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 </a:t>
            </a:r>
            <a:r>
              <a:rPr lang="es-ES" b="1" dirty="0" err="1">
                <a:solidFill>
                  <a:srgbClr val="2300DC"/>
                </a:solidFill>
                <a:latin typeface="Comic Sans MS" pitchFamily="66"/>
              </a:rPr>
              <a:t>who</a:t>
            </a:r>
            <a:r>
              <a:rPr lang="es-ES" b="1" dirty="0">
                <a:solidFill>
                  <a:srgbClr val="2300DC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2300DC"/>
                </a:solidFill>
                <a:latin typeface="Comic Sans MS" pitchFamily="66"/>
              </a:rPr>
              <a:t>lives</a:t>
            </a:r>
            <a:r>
              <a:rPr lang="es-ES" b="1" dirty="0">
                <a:solidFill>
                  <a:srgbClr val="2300DC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2300DC"/>
                </a:solidFill>
                <a:latin typeface="Comic Sans MS" pitchFamily="66"/>
              </a:rPr>
              <a:t>next</a:t>
            </a:r>
            <a:r>
              <a:rPr lang="es-ES" b="1" dirty="0">
                <a:solidFill>
                  <a:srgbClr val="2300DC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2300DC"/>
                </a:solidFill>
                <a:latin typeface="Comic Sans MS" pitchFamily="66"/>
              </a:rPr>
              <a:t>door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94006B"/>
                </a:solidFill>
                <a:latin typeface="Comic Sans MS" pitchFamily="66"/>
              </a:rPr>
              <a:t>is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a doctor.</a:t>
            </a:r>
          </a:p>
          <a:p>
            <a:pPr marL="216000" lvl="0" indent="-216000">
              <a:buNone/>
            </a:pP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            </a:t>
            </a:r>
            <a:r>
              <a:rPr lang="es-ES" b="1" dirty="0">
                <a:solidFill>
                  <a:srgbClr val="2323DC"/>
                </a:solidFill>
                <a:latin typeface="Comic Sans MS" pitchFamily="66"/>
              </a:rPr>
              <a:t>(</a:t>
            </a:r>
            <a:r>
              <a:rPr lang="es-ES" b="1" dirty="0" err="1">
                <a:solidFill>
                  <a:srgbClr val="2323DC"/>
                </a:solidFill>
                <a:latin typeface="Comic Sans MS" pitchFamily="66"/>
              </a:rPr>
              <a:t>that</a:t>
            </a:r>
            <a:r>
              <a:rPr lang="es-ES" b="1" dirty="0">
                <a:solidFill>
                  <a:srgbClr val="2323DC"/>
                </a:solidFill>
                <a:latin typeface="Comic Sans MS" pitchFamily="66"/>
              </a:rPr>
              <a:t>)</a:t>
            </a:r>
          </a:p>
          <a:p>
            <a:pPr marL="216000" lvl="0" indent="-216000">
              <a:buNone/>
            </a:pPr>
            <a:endParaRPr lang="es-ES" b="1" dirty="0">
              <a:solidFill>
                <a:srgbClr val="94006B"/>
              </a:solidFill>
              <a:latin typeface="Comic Sans MS" pitchFamily="66"/>
            </a:endParaRPr>
          </a:p>
          <a:p>
            <a:pPr marL="216000" lvl="0" indent="-216000">
              <a:buNone/>
            </a:pPr>
            <a:endParaRPr lang="es-ES" b="1" dirty="0">
              <a:solidFill>
                <a:srgbClr val="94006B"/>
              </a:solidFill>
              <a:latin typeface="Comic Sans MS" pitchFamily="66"/>
            </a:endParaRPr>
          </a:p>
          <a:p>
            <a:pPr marL="216000" lvl="0" indent="-216000">
              <a:buNone/>
            </a:pPr>
            <a:r>
              <a:rPr lang="es-ES" b="1" dirty="0" err="1">
                <a:solidFill>
                  <a:srgbClr val="94006B"/>
                </a:solidFill>
                <a:latin typeface="Comic Sans MS" pitchFamily="66"/>
              </a:rPr>
              <a:t>The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94006B"/>
                </a:solidFill>
                <a:latin typeface="Comic Sans MS" pitchFamily="66"/>
              </a:rPr>
              <a:t>woman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 </a:t>
            </a:r>
            <a:r>
              <a:rPr lang="es-ES" b="1" dirty="0" err="1">
                <a:solidFill>
                  <a:srgbClr val="2323DC"/>
                </a:solidFill>
                <a:latin typeface="Comic Sans MS" pitchFamily="66"/>
              </a:rPr>
              <a:t>who</a:t>
            </a:r>
            <a:r>
              <a:rPr lang="es-ES" b="1" dirty="0">
                <a:solidFill>
                  <a:srgbClr val="2323DC"/>
                </a:solidFill>
                <a:latin typeface="Comic Sans MS" pitchFamily="66"/>
              </a:rPr>
              <a:t>  I </a:t>
            </a:r>
            <a:r>
              <a:rPr lang="es-ES" b="1" dirty="0" err="1">
                <a:solidFill>
                  <a:srgbClr val="2323DC"/>
                </a:solidFill>
                <a:latin typeface="Comic Sans MS" pitchFamily="66"/>
              </a:rPr>
              <a:t>wanted</a:t>
            </a:r>
            <a:r>
              <a:rPr lang="es-ES" b="1" dirty="0">
                <a:solidFill>
                  <a:srgbClr val="2323DC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2323DC"/>
                </a:solidFill>
                <a:latin typeface="Comic Sans MS" pitchFamily="66"/>
              </a:rPr>
              <a:t>to</a:t>
            </a:r>
            <a:r>
              <a:rPr lang="es-ES" b="1" dirty="0">
                <a:solidFill>
                  <a:srgbClr val="2323DC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2323DC"/>
                </a:solidFill>
                <a:latin typeface="Comic Sans MS" pitchFamily="66"/>
              </a:rPr>
              <a:t>see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94006B"/>
                </a:solidFill>
                <a:latin typeface="Comic Sans MS" pitchFamily="66"/>
              </a:rPr>
              <a:t>is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</a:t>
            </a:r>
            <a:r>
              <a:rPr lang="es-ES" b="1" dirty="0" err="1">
                <a:solidFill>
                  <a:srgbClr val="94006B"/>
                </a:solidFill>
                <a:latin typeface="Comic Sans MS" pitchFamily="66"/>
              </a:rPr>
              <a:t>away</a:t>
            </a: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.</a:t>
            </a:r>
          </a:p>
          <a:p>
            <a:pPr marL="216000" lvl="0" indent="-216000">
              <a:buNone/>
            </a:pPr>
            <a:r>
              <a:rPr lang="es-ES" b="1" dirty="0">
                <a:solidFill>
                  <a:srgbClr val="94006B"/>
                </a:solidFill>
                <a:latin typeface="Comic Sans MS" pitchFamily="66"/>
              </a:rPr>
              <a:t>             </a:t>
            </a:r>
            <a:r>
              <a:rPr lang="es-ES" b="1" dirty="0">
                <a:solidFill>
                  <a:srgbClr val="2300DC"/>
                </a:solidFill>
                <a:latin typeface="Comic Sans MS" pitchFamily="66"/>
              </a:rPr>
              <a:t>(</a:t>
            </a:r>
            <a:r>
              <a:rPr lang="es-ES" b="1" dirty="0" err="1">
                <a:solidFill>
                  <a:srgbClr val="2300DC"/>
                </a:solidFill>
                <a:latin typeface="Comic Sans MS" pitchFamily="66"/>
              </a:rPr>
              <a:t>that</a:t>
            </a:r>
            <a:r>
              <a:rPr lang="es-ES" b="1" dirty="0">
                <a:solidFill>
                  <a:srgbClr val="2300DC"/>
                </a:solidFill>
                <a:latin typeface="Comic Sans MS" pitchFamily="66"/>
              </a:rPr>
              <a:t>)</a:t>
            </a:r>
          </a:p>
          <a:p>
            <a:pPr marL="216000" lvl="0" indent="-216000">
              <a:buNone/>
            </a:pPr>
            <a:r>
              <a:rPr lang="es-ES" b="1" dirty="0">
                <a:solidFill>
                  <a:srgbClr val="2300DC"/>
                </a:solidFill>
                <a:latin typeface="Comic Sans MS" pitchFamily="66"/>
              </a:rPr>
              <a:t>               (Ø)</a:t>
            </a:r>
          </a:p>
          <a:p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435368" y="533400"/>
            <a:ext cx="8314841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tr-TR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DEFINING RELATIVE CLAUSE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20018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D9C9-45B9-4FE7-B8B6-F68FBD0F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sz="4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tr-TR" sz="4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DEFINING RELATIVE CLAUSE</a:t>
            </a:r>
            <a:br>
              <a:rPr lang="en-US" sz="4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2F62-FDC6-4DD9-B9CD-3006C0D80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u="sng" dirty="0"/>
              <a:t>Passives</a:t>
            </a:r>
          </a:p>
          <a:p>
            <a:pPr marL="0" indent="0">
              <a:buNone/>
            </a:pPr>
            <a:r>
              <a:rPr lang="en-GB" dirty="0"/>
              <a:t>With the passive, we can sometimes miss out the </a:t>
            </a:r>
            <a:r>
              <a:rPr lang="en-GB" b="1" u="sng" dirty="0">
                <a:solidFill>
                  <a:srgbClr val="0070C0"/>
                </a:solidFill>
              </a:rPr>
              <a:t>relative clause</a:t>
            </a:r>
            <a:r>
              <a:rPr lang="en-GB" b="1" dirty="0"/>
              <a:t> </a:t>
            </a:r>
            <a:r>
              <a:rPr lang="en-GB" dirty="0"/>
              <a:t>and the </a:t>
            </a:r>
            <a:r>
              <a:rPr lang="en-GB" b="1" u="sng" dirty="0">
                <a:solidFill>
                  <a:srgbClr val="00B050"/>
                </a:solidFill>
              </a:rPr>
              <a:t>be</a:t>
            </a:r>
            <a:r>
              <a:rPr lang="en-GB" dirty="0"/>
              <a:t> verb. The </a:t>
            </a:r>
            <a:r>
              <a:rPr lang="en-GB" b="1" u="sng" dirty="0">
                <a:solidFill>
                  <a:srgbClr val="FF0000"/>
                </a:solidFill>
              </a:rPr>
              <a:t>past participle</a:t>
            </a:r>
            <a:r>
              <a:rPr lang="en-GB" dirty="0"/>
              <a:t> remains.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e.g.</a:t>
            </a:r>
          </a:p>
          <a:p>
            <a:pPr marL="0" indent="0">
              <a:buNone/>
            </a:pPr>
            <a:r>
              <a:rPr lang="en-GB" sz="2800" dirty="0"/>
              <a:t>A latte is a hot drink </a:t>
            </a:r>
            <a:r>
              <a:rPr lang="en-GB" sz="2800" b="1" u="sng" dirty="0">
                <a:solidFill>
                  <a:srgbClr val="0070C0"/>
                </a:solidFill>
              </a:rPr>
              <a:t>which</a:t>
            </a:r>
            <a:r>
              <a:rPr lang="en-GB" sz="2800" b="1" u="sng" dirty="0"/>
              <a:t> </a:t>
            </a:r>
            <a:r>
              <a:rPr lang="en-GB" sz="2800" b="1" u="sng" dirty="0">
                <a:solidFill>
                  <a:srgbClr val="00B050"/>
                </a:solidFill>
              </a:rPr>
              <a:t>is</a:t>
            </a:r>
            <a:r>
              <a:rPr lang="en-GB" sz="2800" b="1" u="sng" dirty="0">
                <a:solidFill>
                  <a:srgbClr val="FF0000"/>
                </a:solidFill>
              </a:rPr>
              <a:t> made </a:t>
            </a:r>
            <a:r>
              <a:rPr lang="en-GB" sz="2800" dirty="0"/>
              <a:t>of coffee and milk.</a:t>
            </a:r>
          </a:p>
          <a:p>
            <a:pPr marL="0" indent="0">
              <a:buNone/>
            </a:pPr>
            <a:r>
              <a:rPr lang="en-GB" sz="2800" dirty="0"/>
              <a:t>A latte is a hot drink </a:t>
            </a:r>
            <a:r>
              <a:rPr lang="en-GB" sz="2000" b="1" u="sng" strike="sngStrike" dirty="0">
                <a:solidFill>
                  <a:srgbClr val="0070C0"/>
                </a:solidFill>
              </a:rPr>
              <a:t>which</a:t>
            </a:r>
            <a:r>
              <a:rPr lang="en-GB" sz="2000" b="1" u="sng" strike="sngStrike" dirty="0">
                <a:solidFill>
                  <a:srgbClr val="00B050"/>
                </a:solidFill>
              </a:rPr>
              <a:t> is </a:t>
            </a:r>
            <a:r>
              <a:rPr lang="en-GB" sz="2800" b="1" u="sng" dirty="0">
                <a:solidFill>
                  <a:srgbClr val="FF0000"/>
                </a:solidFill>
              </a:rPr>
              <a:t>made </a:t>
            </a:r>
            <a:r>
              <a:rPr lang="en-GB" sz="2800" dirty="0"/>
              <a:t>of coffee and milk.</a:t>
            </a:r>
          </a:p>
          <a:p>
            <a:pPr marL="0" indent="0">
              <a:buNone/>
            </a:pPr>
            <a:r>
              <a:rPr lang="en-GB" sz="2800" dirty="0"/>
              <a:t>A latte is a hot drink </a:t>
            </a:r>
            <a:r>
              <a:rPr lang="en-GB" sz="2800" b="1" u="sng" dirty="0">
                <a:solidFill>
                  <a:srgbClr val="FF0000"/>
                </a:solidFill>
              </a:rPr>
              <a:t>made </a:t>
            </a:r>
            <a:r>
              <a:rPr lang="en-GB" sz="2800" dirty="0"/>
              <a:t>of coffee and milk.</a:t>
            </a:r>
          </a:p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162725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D9C9-45B9-4FE7-B8B6-F68FBD0F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GB" sz="4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tr-TR" sz="4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DEFINING RELATIVE CLAUSE</a:t>
            </a:r>
            <a:br>
              <a:rPr lang="en-US" sz="4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endParaRPr lang="en-GB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2F62-FDC6-4DD9-B9CD-3006C0D80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u="sng" dirty="0"/>
              <a:t>Passives</a:t>
            </a:r>
          </a:p>
          <a:p>
            <a:pPr marL="0" indent="0">
              <a:buNone/>
            </a:pPr>
            <a:r>
              <a:rPr lang="en-GB" dirty="0"/>
              <a:t>With the passive, we can sometimes miss out the </a:t>
            </a:r>
            <a:r>
              <a:rPr lang="en-GB" b="1" u="sng" dirty="0">
                <a:solidFill>
                  <a:srgbClr val="0070C0"/>
                </a:solidFill>
              </a:rPr>
              <a:t>relative clause</a:t>
            </a:r>
            <a:r>
              <a:rPr lang="en-GB" b="1" dirty="0"/>
              <a:t> </a:t>
            </a:r>
            <a:r>
              <a:rPr lang="en-GB" dirty="0"/>
              <a:t>and the </a:t>
            </a:r>
            <a:r>
              <a:rPr lang="en-GB" b="1" u="sng" dirty="0">
                <a:solidFill>
                  <a:srgbClr val="00B050"/>
                </a:solidFill>
              </a:rPr>
              <a:t>be</a:t>
            </a:r>
            <a:r>
              <a:rPr lang="en-GB" dirty="0"/>
              <a:t> verb. The </a:t>
            </a:r>
            <a:r>
              <a:rPr lang="en-GB" b="1" u="sng" dirty="0">
                <a:solidFill>
                  <a:srgbClr val="FF0000"/>
                </a:solidFill>
              </a:rPr>
              <a:t>past participle</a:t>
            </a:r>
            <a:r>
              <a:rPr lang="en-GB" dirty="0"/>
              <a:t> remains.</a:t>
            </a:r>
          </a:p>
          <a:p>
            <a:pPr marL="0" indent="0">
              <a:buNone/>
            </a:pPr>
            <a:r>
              <a:rPr lang="en-GB" b="1" dirty="0"/>
              <a:t>You try:</a:t>
            </a:r>
          </a:p>
          <a:p>
            <a:pPr marL="0" indent="0">
              <a:buNone/>
            </a:pPr>
            <a:r>
              <a:rPr lang="en-GB" sz="2800" dirty="0"/>
              <a:t>This is the homework which was corrected by the teacher.</a:t>
            </a:r>
          </a:p>
          <a:p>
            <a:pPr marL="0" indent="0">
              <a:buNone/>
            </a:pPr>
            <a:r>
              <a:rPr lang="en-GB" sz="2800" b="1" dirty="0"/>
              <a:t>Answer:</a:t>
            </a:r>
          </a:p>
          <a:p>
            <a:pPr marL="0" indent="0">
              <a:buNone/>
            </a:pPr>
            <a:r>
              <a:rPr lang="en-GB" sz="2800" dirty="0"/>
              <a:t>This is the homework corrected by the teacher. </a:t>
            </a:r>
          </a:p>
        </p:txBody>
      </p:sp>
    </p:spTree>
    <p:extLst>
      <p:ext uri="{BB962C8B-B14F-4D97-AF65-F5344CB8AC3E}">
        <p14:creationId xmlns:p14="http://schemas.microsoft.com/office/powerpoint/2010/main" val="2607638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1D6E-AB32-4A9E-91C5-A2DC7E3F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 TIP!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190B5-83DC-4609-B34B-FBF758355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It’s probably a good idea NOT to remove the relative clause (who, that, which etc…) in your exam writing.</a:t>
            </a:r>
          </a:p>
          <a:p>
            <a:r>
              <a:rPr lang="en-GB" dirty="0"/>
              <a:t>It can be harder for the examiner to spot your complex sentences if the relative clauses have been removed. It might take you from a pass to a borderline, or from a borderline to a fail.</a:t>
            </a:r>
          </a:p>
          <a:p>
            <a:r>
              <a:rPr lang="en-GB" dirty="0"/>
              <a:t>The same applies for the speaking exam.</a:t>
            </a:r>
          </a:p>
          <a:p>
            <a:r>
              <a:rPr lang="en-GB" dirty="0"/>
              <a:t>In general conversation / writing it’s important that you know that we can drop the relative clauses, but in the exam it might be risky!</a:t>
            </a:r>
          </a:p>
        </p:txBody>
      </p:sp>
    </p:spTree>
    <p:extLst>
      <p:ext uri="{BB962C8B-B14F-4D97-AF65-F5344CB8AC3E}">
        <p14:creationId xmlns:p14="http://schemas.microsoft.com/office/powerpoint/2010/main" val="116328715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143000"/>
            <a:ext cx="8229600" cy="1442864"/>
          </a:xfrm>
        </p:spPr>
        <p:txBody>
          <a:bodyPr>
            <a:normAutofit fontScale="90000"/>
          </a:bodyPr>
          <a:lstStyle/>
          <a:p>
            <a:br>
              <a:rPr lang="tr-TR" dirty="0"/>
            </a:br>
            <a:br>
              <a:rPr lang="tr-TR" dirty="0"/>
            </a:br>
            <a:br>
              <a:rPr lang="tr-TR" dirty="0"/>
            </a:br>
            <a:r>
              <a:rPr lang="tr-TR" dirty="0"/>
              <a:t>Susan, </a:t>
            </a:r>
            <a:r>
              <a:rPr lang="tr-TR" u="sng" dirty="0"/>
              <a:t>who works in that company</a:t>
            </a:r>
            <a:r>
              <a:rPr lang="tr-TR" dirty="0"/>
              <a:t>, is such a well-qualified person.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783" y="2057400"/>
            <a:ext cx="8229600" cy="43752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sz="3100" dirty="0"/>
          </a:p>
          <a:p>
            <a:pPr marL="0" indent="0">
              <a:buNone/>
            </a:pPr>
            <a:endParaRPr lang="en-GB" sz="31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tr-TR" sz="31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r-TR" sz="3600" dirty="0">
                <a:solidFill>
                  <a:srgbClr val="FF0000"/>
                </a:solidFill>
              </a:rPr>
              <a:t>Our college, </a:t>
            </a:r>
            <a:r>
              <a:rPr lang="tr-TR" sz="3600" u="sng" dirty="0">
                <a:solidFill>
                  <a:srgbClr val="FF0000"/>
                </a:solidFill>
              </a:rPr>
              <a:t>which gives education in English</a:t>
            </a:r>
            <a:r>
              <a:rPr lang="tr-TR" sz="3600" dirty="0">
                <a:solidFill>
                  <a:srgbClr val="FF0000"/>
                </a:solidFill>
              </a:rPr>
              <a:t>, accepts students with scholarship.</a:t>
            </a:r>
            <a:endParaRPr lang="en-GB" sz="36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en-GB" sz="3600" dirty="0">
                <a:solidFill>
                  <a:schemeClr val="accent4">
                    <a:lumMod val="75000"/>
                  </a:schemeClr>
                </a:solidFill>
              </a:rPr>
              <a:t>Rules: </a:t>
            </a:r>
          </a:p>
          <a:p>
            <a:r>
              <a:rPr lang="es-ES" sz="3600" b="1" dirty="0">
                <a:solidFill>
                  <a:srgbClr val="198A8A"/>
                </a:solidFill>
              </a:rPr>
              <a:t>Extra </a:t>
            </a:r>
            <a:r>
              <a:rPr lang="es-ES" sz="3600" b="1" dirty="0" err="1">
                <a:solidFill>
                  <a:srgbClr val="198A8A"/>
                </a:solidFill>
              </a:rPr>
              <a:t>information</a:t>
            </a:r>
            <a:r>
              <a:rPr lang="es-ES" sz="3600" b="1" dirty="0">
                <a:solidFill>
                  <a:srgbClr val="198A8A"/>
                </a:solidFill>
              </a:rPr>
              <a:t> (</a:t>
            </a:r>
            <a:r>
              <a:rPr lang="es-ES" sz="3600" b="1" dirty="0" err="1">
                <a:solidFill>
                  <a:srgbClr val="198A8A"/>
                </a:solidFill>
              </a:rPr>
              <a:t>not</a:t>
            </a:r>
            <a:r>
              <a:rPr lang="es-ES" sz="3600" b="1" dirty="0">
                <a:solidFill>
                  <a:srgbClr val="198A8A"/>
                </a:solidFill>
              </a:rPr>
              <a:t> </a:t>
            </a:r>
            <a:r>
              <a:rPr lang="es-ES" sz="3600" b="1" dirty="0" err="1">
                <a:solidFill>
                  <a:srgbClr val="198A8A"/>
                </a:solidFill>
              </a:rPr>
              <a:t>essential</a:t>
            </a:r>
            <a:r>
              <a:rPr lang="es-ES" sz="3600" b="1" dirty="0">
                <a:solidFill>
                  <a:srgbClr val="198A8A"/>
                </a:solidFill>
              </a:rPr>
              <a:t>)</a:t>
            </a:r>
          </a:p>
          <a:p>
            <a:pPr lvl="0"/>
            <a:r>
              <a:rPr lang="es-ES" sz="3600" b="1" dirty="0" err="1">
                <a:solidFill>
                  <a:srgbClr val="198A8A"/>
                </a:solidFill>
              </a:rPr>
              <a:t>Commas</a:t>
            </a:r>
            <a:endParaRPr lang="es-ES" sz="3600" b="1" dirty="0">
              <a:solidFill>
                <a:srgbClr val="198A8A"/>
              </a:solidFill>
            </a:endParaRPr>
          </a:p>
          <a:p>
            <a:pPr lvl="0"/>
            <a:r>
              <a:rPr lang="es-ES" sz="3600" b="1" dirty="0">
                <a:solidFill>
                  <a:srgbClr val="198A8A"/>
                </a:solidFill>
              </a:rPr>
              <a:t>NO “</a:t>
            </a:r>
            <a:r>
              <a:rPr lang="es-ES" sz="3600" b="1" dirty="0" err="1">
                <a:solidFill>
                  <a:srgbClr val="198A8A"/>
                </a:solidFill>
              </a:rPr>
              <a:t>that</a:t>
            </a:r>
            <a:r>
              <a:rPr lang="es-ES" sz="3600" b="1" dirty="0">
                <a:solidFill>
                  <a:srgbClr val="198A8A"/>
                </a:solidFill>
              </a:rPr>
              <a:t>”</a:t>
            </a:r>
          </a:p>
          <a:p>
            <a:pPr lvl="0"/>
            <a:r>
              <a:rPr lang="es-ES" sz="3600" b="1" dirty="0">
                <a:solidFill>
                  <a:srgbClr val="198A8A"/>
                </a:solidFill>
              </a:rPr>
              <a:t>NO </a:t>
            </a:r>
            <a:r>
              <a:rPr lang="es-ES" sz="3600" b="1" dirty="0" err="1">
                <a:solidFill>
                  <a:srgbClr val="198A8A"/>
                </a:solidFill>
              </a:rPr>
              <a:t>omission</a:t>
            </a:r>
            <a:r>
              <a:rPr lang="es-ES" sz="3600" b="1" dirty="0">
                <a:solidFill>
                  <a:srgbClr val="198A8A"/>
                </a:solidFill>
              </a:rPr>
              <a:t> </a:t>
            </a:r>
            <a:r>
              <a:rPr lang="es-ES" sz="3600" b="1" dirty="0" err="1">
                <a:solidFill>
                  <a:srgbClr val="198A8A"/>
                </a:solidFill>
              </a:rPr>
              <a:t>of</a:t>
            </a:r>
            <a:r>
              <a:rPr lang="es-ES" sz="3600" b="1" dirty="0">
                <a:solidFill>
                  <a:srgbClr val="198A8A"/>
                </a:solidFill>
              </a:rPr>
              <a:t> </a:t>
            </a:r>
            <a:r>
              <a:rPr lang="es-ES" sz="3600" b="1" dirty="0" err="1">
                <a:solidFill>
                  <a:srgbClr val="198A8A"/>
                </a:solidFill>
              </a:rPr>
              <a:t>relative</a:t>
            </a:r>
            <a:r>
              <a:rPr lang="es-ES" sz="3600" b="1" dirty="0">
                <a:solidFill>
                  <a:srgbClr val="198A8A"/>
                </a:solidFill>
              </a:rPr>
              <a:t>.</a:t>
            </a:r>
          </a:p>
          <a:p>
            <a:pPr marL="0" indent="0">
              <a:buNone/>
            </a:pPr>
            <a:endParaRPr lang="tr-TR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782" y="152400"/>
            <a:ext cx="8610601" cy="1754326"/>
          </a:xfrm>
          <a:prstGeom prst="rect">
            <a:avLst/>
          </a:prstGeom>
          <a:ln w="76200">
            <a:solidFill>
              <a:srgbClr val="CD03A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tr-TR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NON-DEFINING RELATIVE CLAUSES</a:t>
            </a:r>
            <a:endParaRPr lang="en-US" sz="54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66268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098" name="Picture 2" descr="C:\Users\ercanlı\Desktop\prescri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2696"/>
            <a:ext cx="6984776" cy="597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6508648"/>
      </p:ext>
    </p:extLst>
  </p:cSld>
  <p:clrMapOvr>
    <a:masterClrMapping/>
  </p:clrMapOvr>
  <p:transition spd="slow">
    <p:wheel spokes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Join the sentences on the left with those on the right using who or which</a:t>
            </a:r>
            <a:endParaRPr lang="tr-TR" b="1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62872" cy="45259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tr-TR" dirty="0">
                <a:latin typeface="Arial Narrow" pitchFamily="34" charset="0"/>
              </a:rPr>
              <a:t>1.</a:t>
            </a:r>
            <a:r>
              <a:rPr lang="en-US" dirty="0">
                <a:latin typeface="Arial Narrow" pitchFamily="34" charset="0"/>
              </a:rPr>
              <a:t> Do you know a shop?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2. I know somebody.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3. I want some plates.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4. I was at school with the man.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5. I’d like to speak to the person.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6. She’s </a:t>
            </a:r>
            <a:r>
              <a:rPr lang="tr-TR" dirty="0">
                <a:latin typeface="Arial Narrow" pitchFamily="34" charset="0"/>
              </a:rPr>
              <a:t>won the competition</a:t>
            </a:r>
            <a:endParaRPr lang="en-US" dirty="0">
              <a:latin typeface="Arial Narrow" pitchFamily="34" charset="0"/>
            </a:endParaRP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7. The police haven’t found the man.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8. There’s some cheese in the fridge.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9. We’ve got some light bulbs.</a:t>
            </a:r>
          </a:p>
          <a:p>
            <a:pPr>
              <a:spcBef>
                <a:spcPct val="0"/>
              </a:spcBef>
              <a:spcAft>
                <a:spcPct val="20000"/>
              </a:spcAft>
              <a:buFontTx/>
              <a:buNone/>
            </a:pPr>
            <a:r>
              <a:rPr lang="en-US" dirty="0">
                <a:latin typeface="Arial Narrow" pitchFamily="34" charset="0"/>
              </a:rPr>
              <a:t>10. This is the switch. </a:t>
            </a:r>
          </a:p>
          <a:p>
            <a:endParaRPr lang="tr-TR" dirty="0"/>
          </a:p>
        </p:txBody>
      </p:sp>
      <p:sp>
        <p:nvSpPr>
          <p:cNvPr id="4" name="Rectangle 3"/>
          <p:cNvSpPr/>
          <p:nvPr/>
        </p:nvSpPr>
        <p:spPr>
          <a:xfrm>
            <a:off x="4918005" y="1379031"/>
            <a:ext cx="3888433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He </a:t>
            </a:r>
            <a:r>
              <a:rPr lang="tr-TR" sz="2400" dirty="0">
                <a:latin typeface="Arial Narrow" pitchFamily="34" charset="0"/>
              </a:rPr>
              <a:t>has broken into my house</a:t>
            </a:r>
            <a:endParaRPr lang="en-US" sz="2400" dirty="0">
              <a:latin typeface="Arial Narrow" pitchFamily="34" charset="0"/>
            </a:endParaRP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tr-TR" sz="2400" dirty="0">
                <a:latin typeface="Arial Narrow" pitchFamily="34" charset="0"/>
              </a:rPr>
              <a:t>That surprised everyone.</a:t>
            </a:r>
            <a:endParaRPr lang="en-US" sz="2400" dirty="0">
              <a:latin typeface="Arial Narrow" pitchFamily="34" charset="0"/>
            </a:endParaRP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He</a:t>
            </a:r>
            <a:r>
              <a:rPr lang="tr-TR" sz="2400" dirty="0">
                <a:latin typeface="Arial Narrow" pitchFamily="34" charset="0"/>
              </a:rPr>
              <a:t> </a:t>
            </a:r>
            <a:r>
              <a:rPr lang="en-US" sz="2400" dirty="0">
                <a:latin typeface="Arial Narrow" pitchFamily="34" charset="0"/>
              </a:rPr>
              <a:t>/She deals with exports.</a:t>
            </a: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It isn’t working.</a:t>
            </a: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It needs to be eaten.</a:t>
            </a: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It sells good coffee.</a:t>
            </a: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They last for years.</a:t>
            </a: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She could mend that chair.</a:t>
            </a: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They can go in the microwave.</a:t>
            </a:r>
          </a:p>
          <a:p>
            <a:pPr marL="381000" indent="-381000">
              <a:spcBef>
                <a:spcPct val="0"/>
              </a:spcBef>
              <a:spcAft>
                <a:spcPct val="20000"/>
              </a:spcAft>
              <a:buClr>
                <a:schemeClr val="tx1"/>
              </a:buClr>
              <a:buFontTx/>
              <a:buAutoNum type="alphaLcPeriod"/>
            </a:pPr>
            <a:r>
              <a:rPr lang="en-US" sz="2400" dirty="0">
                <a:latin typeface="Arial Narrow" pitchFamily="34" charset="0"/>
              </a:rPr>
              <a:t>He is driving that taxi. </a:t>
            </a:r>
          </a:p>
        </p:txBody>
      </p:sp>
      <p:pic>
        <p:nvPicPr>
          <p:cNvPr id="5" name="Picture 4" descr="C:\Users\ercanlı\Desktop\Yeni klasör\benim hazırladıklarım\smiles\bravo[1]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410200"/>
            <a:ext cx="2148134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6955668"/>
      </p:ext>
    </p:extLst>
  </p:cSld>
  <p:clrMapOvr>
    <a:masterClrMapping/>
  </p:clrMapOvr>
  <p:transition spd="slow">
    <p:wheel spokes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2993505"/>
          </a:xfrm>
        </p:spPr>
        <p:txBody>
          <a:bodyPr/>
          <a:lstStyle/>
          <a:p>
            <a:pPr marL="216000" lvl="0" indent="-216000" algn="ctr">
              <a:buNone/>
            </a:pPr>
            <a:r>
              <a:rPr lang="es-ES" sz="7200" b="1" dirty="0">
                <a:solidFill>
                  <a:srgbClr val="2300DC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34"/>
              </a:rPr>
              <a:t>And... </a:t>
            </a:r>
            <a:r>
              <a:rPr lang="es-ES" sz="7200" b="1" dirty="0" err="1">
                <a:solidFill>
                  <a:srgbClr val="2300DC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34"/>
              </a:rPr>
              <a:t>that's</a:t>
            </a:r>
            <a:r>
              <a:rPr lang="es-ES" sz="7200" b="1" dirty="0">
                <a:solidFill>
                  <a:srgbClr val="2300DC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34"/>
              </a:rPr>
              <a:t> </a:t>
            </a:r>
            <a:r>
              <a:rPr lang="es-ES" sz="7200" b="1" dirty="0" err="1">
                <a:solidFill>
                  <a:srgbClr val="2300DC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34"/>
              </a:rPr>
              <a:t>all</a:t>
            </a:r>
            <a:r>
              <a:rPr lang="es-ES" sz="7200" b="1" dirty="0">
                <a:solidFill>
                  <a:srgbClr val="2300DC"/>
                </a:solidFill>
                <a:effectLst>
                  <a:outerShdw dist="17961" dir="2700000">
                    <a:scrgbClr r="0" g="0" b="0"/>
                  </a:outerShdw>
                </a:effectLst>
                <a:latin typeface="Arial" pitchFamily="34"/>
              </a:rPr>
              <a:t>!</a:t>
            </a:r>
          </a:p>
          <a:p>
            <a:pPr marL="216000" lvl="0" indent="-216000" algn="ctr">
              <a:buNone/>
            </a:pPr>
            <a:endParaRPr lang="es-ES" b="1" dirty="0">
              <a:solidFill>
                <a:srgbClr val="2300DC"/>
              </a:solidFill>
              <a:effectLst>
                <a:outerShdw dist="17961" dir="2700000">
                  <a:scrgbClr r="0" g="0" b="0"/>
                </a:outerShdw>
              </a:effectLst>
              <a:latin typeface="Arial" pitchFamily="34"/>
            </a:endParaRPr>
          </a:p>
          <a:p>
            <a:pPr marL="216000" lvl="0" indent="-216000" algn="ctr">
              <a:buNone/>
            </a:pPr>
            <a:endParaRPr lang="es-ES" b="1" dirty="0">
              <a:solidFill>
                <a:srgbClr val="2300DC"/>
              </a:solidFill>
              <a:effectLst>
                <a:outerShdw dist="17961" dir="2700000">
                  <a:scrgbClr r="0" g="0" b="0"/>
                </a:outerShdw>
              </a:effectLst>
              <a:latin typeface="Arial" pitchFamily="34"/>
            </a:endParaRPr>
          </a:p>
          <a:p>
            <a:endParaRPr lang="tr-TR" dirty="0"/>
          </a:p>
        </p:txBody>
      </p:sp>
      <p:pic>
        <p:nvPicPr>
          <p:cNvPr id="6" name="Picture 5" descr="C:\Users\ercanlı\Desktop\Yeni klasör\benim hazırladıklarım\smiles\smiley_with_thumbs_up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429000"/>
            <a:ext cx="4032448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515735"/>
      </p:ext>
    </p:extLst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7A0CF06-ED58-4FDD-AB2B-7FF10F125F5C}"/>
</file>

<file path=customXml/itemProps2.xml><?xml version="1.0" encoding="utf-8"?>
<ds:datastoreItem xmlns:ds="http://schemas.openxmlformats.org/officeDocument/2006/customXml" ds:itemID="{A21A9AEC-8FEA-4AD8-91CA-E893AE311550}"/>
</file>

<file path=customXml/itemProps3.xml><?xml version="1.0" encoding="utf-8"?>
<ds:datastoreItem xmlns:ds="http://schemas.openxmlformats.org/officeDocument/2006/customXml" ds:itemID="{08853DEE-B51F-4D5E-9E9B-6D99B4EEAC9E}"/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504</Words>
  <Application>Microsoft Office PowerPoint</Application>
  <PresentationFormat>On-screen Show (4:3)</PresentationFormat>
  <Paragraphs>75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Albany</vt:lpstr>
      <vt:lpstr>Arial</vt:lpstr>
      <vt:lpstr>Arial Narrow</vt:lpstr>
      <vt:lpstr>Arial Unicode MS</vt:lpstr>
      <vt:lpstr>Calibri</vt:lpstr>
      <vt:lpstr>Comic Sans MS</vt:lpstr>
      <vt:lpstr>HG Mincho Light J</vt:lpstr>
      <vt:lpstr>StarSymbol</vt:lpstr>
      <vt:lpstr>Office Theme</vt:lpstr>
      <vt:lpstr>PowerPoint Presentation</vt:lpstr>
      <vt:lpstr>PowerPoint Presentation</vt:lpstr>
      <vt:lpstr>PowerPoint Presentation</vt:lpstr>
      <vt:lpstr>PowerPoint Presentation</vt:lpstr>
      <vt:lpstr>NoDEFI</vt:lpstr>
      <vt:lpstr> DEFINING RELATIVE CLAUSE </vt:lpstr>
      <vt:lpstr> DEFINING RELATIVE CLAUSE </vt:lpstr>
      <vt:lpstr>EXAM TIP!</vt:lpstr>
      <vt:lpstr>   Susan, who works in that company, is such a well-qualified person.</vt:lpstr>
      <vt:lpstr>PowerPoint Presentation</vt:lpstr>
      <vt:lpstr>Join the sentences on the left with those on the right using who or which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sukranercanli</dc:creator>
  <cp:lastModifiedBy>Robin Ritter-Jones</cp:lastModifiedBy>
  <cp:revision>22</cp:revision>
  <dcterms:created xsi:type="dcterms:W3CDTF">2006-08-16T00:00:00Z</dcterms:created>
  <dcterms:modified xsi:type="dcterms:W3CDTF">2022-03-01T17:47:21Z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20225900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