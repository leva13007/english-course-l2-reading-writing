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7" r:id="rId8"/>
    <p:sldId id="266" r:id="rId9"/>
    <p:sldId id="268" r:id="rId10"/>
    <p:sldId id="261" r:id="rId11"/>
    <p:sldId id="262" r:id="rId12"/>
    <p:sldId id="269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53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B2BF-9D33-4831-85FE-BBB96A041FED}" type="datetimeFigureOut">
              <a:rPr lang="en-GB" smtClean="0"/>
              <a:t>24/01/2017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635B8-6637-4B64-973F-8BD00C0EF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606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B2BF-9D33-4831-85FE-BBB96A041FED}" type="datetimeFigureOut">
              <a:rPr lang="en-GB" smtClean="0"/>
              <a:t>24/01/2017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635B8-6637-4B64-973F-8BD00C0EF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674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B2BF-9D33-4831-85FE-BBB96A041FED}" type="datetimeFigureOut">
              <a:rPr lang="en-GB" smtClean="0"/>
              <a:t>24/01/2017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635B8-6637-4B64-973F-8BD00C0EF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305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B2BF-9D33-4831-85FE-BBB96A041FED}" type="datetimeFigureOut">
              <a:rPr lang="en-GB" smtClean="0"/>
              <a:t>24/01/2017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635B8-6637-4B64-973F-8BD00C0EF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046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B2BF-9D33-4831-85FE-BBB96A041FED}" type="datetimeFigureOut">
              <a:rPr lang="en-GB" smtClean="0"/>
              <a:t>24/01/2017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635B8-6637-4B64-973F-8BD00C0EF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4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B2BF-9D33-4831-85FE-BBB96A041FED}" type="datetimeFigureOut">
              <a:rPr lang="en-GB" smtClean="0"/>
              <a:t>24/01/2017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635B8-6637-4B64-973F-8BD00C0EF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91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B2BF-9D33-4831-85FE-BBB96A041FED}" type="datetimeFigureOut">
              <a:rPr lang="en-GB" smtClean="0"/>
              <a:t>24/01/2017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635B8-6637-4B64-973F-8BD00C0EF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941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B2BF-9D33-4831-85FE-BBB96A041FED}" type="datetimeFigureOut">
              <a:rPr lang="en-GB" smtClean="0"/>
              <a:t>24/01/2017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635B8-6637-4B64-973F-8BD00C0EF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172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B2BF-9D33-4831-85FE-BBB96A041FED}" type="datetimeFigureOut">
              <a:rPr lang="en-GB" smtClean="0"/>
              <a:t>24/01/2017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635B8-6637-4B64-973F-8BD00C0EF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821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B2BF-9D33-4831-85FE-BBB96A041FED}" type="datetimeFigureOut">
              <a:rPr lang="en-GB" smtClean="0"/>
              <a:t>24/01/2017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635B8-6637-4B64-973F-8BD00C0EF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826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B2BF-9D33-4831-85FE-BBB96A041FED}" type="datetimeFigureOut">
              <a:rPr lang="en-GB" smtClean="0"/>
              <a:t>24/01/2017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635B8-6637-4B64-973F-8BD00C0EF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61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1B2BF-9D33-4831-85FE-BBB96A041FED}" type="datetimeFigureOut">
              <a:rPr lang="en-GB" smtClean="0"/>
              <a:t>24/01/2017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635B8-6637-4B64-973F-8BD00C0EF8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954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bbc.co.uk/learningenglish/english/course/intermediate/unit-18/tab/grammar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erfect-english-grammar.com/relative-clauses-exercise-1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erfect-english-grammar.com/relative-clauses-exercise-4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bbc.co.uk/learningenglish/english/course/intermediate/unit-18/session-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chemeClr val="accent1">
                    <a:lumMod val="75000"/>
                  </a:schemeClr>
                </a:solidFill>
              </a:rPr>
              <a:t>Relative clauses</a:t>
            </a:r>
            <a:endParaRPr lang="en-GB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38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4000" dirty="0" smtClean="0"/>
              <a:t>Meaning and use</a:t>
            </a:r>
          </a:p>
          <a:p>
            <a:endParaRPr lang="en-GB" sz="4000" dirty="0" smtClean="0"/>
          </a:p>
          <a:p>
            <a:pPr marL="0" indent="0">
              <a:buNone/>
            </a:pPr>
            <a:r>
              <a:rPr lang="en-GB" sz="3200" dirty="0" smtClean="0"/>
              <a:t>Relative clauses are used to give additional information about a noun, such as a person, place or thing. Relative pronouns introduce a relative clause. They include who for people, that and which for things, when for time, and whose to show possession.</a:t>
            </a:r>
          </a:p>
          <a:p>
            <a:pPr marL="0" indent="0">
              <a:buNone/>
            </a:pPr>
            <a:endParaRPr lang="en-GB" sz="1200" dirty="0"/>
          </a:p>
          <a:p>
            <a:pPr marL="0" indent="0" algn="ctr">
              <a:buNone/>
            </a:pPr>
            <a:r>
              <a:rPr lang="en-GB" sz="1200" dirty="0" smtClean="0">
                <a:hlinkClick r:id="rId2"/>
              </a:rPr>
              <a:t>http://www.bbc.co.uk/learningenglish/english/course/intermediate/unit-18/tab/grammar</a:t>
            </a:r>
            <a:endParaRPr lang="en-GB" sz="1200" dirty="0" smtClean="0"/>
          </a:p>
          <a:p>
            <a:pPr marL="0" indent="0">
              <a:buNone/>
            </a:pPr>
            <a:endParaRPr lang="en-GB" sz="4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897" y="196683"/>
            <a:ext cx="47625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4073"/>
            <a:ext cx="10515600" cy="61098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Relative clauses belong to one of two categories: </a:t>
            </a:r>
            <a:r>
              <a:rPr lang="en-GB" b="1" dirty="0"/>
              <a:t>defining </a:t>
            </a:r>
            <a:r>
              <a:rPr lang="en-GB" dirty="0"/>
              <a:t>relative clauses and </a:t>
            </a:r>
            <a:r>
              <a:rPr lang="en-GB" b="1" dirty="0"/>
              <a:t>non-defining</a:t>
            </a:r>
            <a:r>
              <a:rPr lang="en-GB" dirty="0"/>
              <a:t> relative clauses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1. </a:t>
            </a:r>
            <a:r>
              <a:rPr lang="en-GB" b="1" dirty="0"/>
              <a:t>Defining </a:t>
            </a:r>
            <a:r>
              <a:rPr lang="en-GB" dirty="0"/>
              <a:t>relative clauses add </a:t>
            </a:r>
            <a:r>
              <a:rPr lang="en-GB" b="1" dirty="0"/>
              <a:t>essential </a:t>
            </a:r>
            <a:r>
              <a:rPr lang="en-GB" dirty="0"/>
              <a:t>information to a sentence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i="1" dirty="0"/>
              <a:t>The woman </a:t>
            </a:r>
            <a:r>
              <a:rPr lang="en-GB" b="1" i="1" dirty="0"/>
              <a:t>who found my wallet</a:t>
            </a:r>
            <a:r>
              <a:rPr lang="en-GB" i="1" dirty="0"/>
              <a:t> handed it in to reception.</a:t>
            </a:r>
            <a:endParaRPr lang="en-GB" dirty="0"/>
          </a:p>
          <a:p>
            <a:r>
              <a:rPr lang="en-GB" i="1" dirty="0"/>
              <a:t>The student </a:t>
            </a:r>
            <a:r>
              <a:rPr lang="en-GB" b="1" i="1" dirty="0"/>
              <a:t>whose dog has run away,</a:t>
            </a:r>
            <a:r>
              <a:rPr lang="en-GB" i="1" dirty="0"/>
              <a:t> has gone to look for it.</a:t>
            </a:r>
            <a:endParaRPr lang="en-GB" dirty="0"/>
          </a:p>
          <a:p>
            <a:r>
              <a:rPr lang="en-GB" i="1" dirty="0"/>
              <a:t>I remember the day </a:t>
            </a:r>
            <a:r>
              <a:rPr lang="en-GB" b="1" i="1" dirty="0"/>
              <a:t>when we first met</a:t>
            </a:r>
            <a:r>
              <a:rPr lang="en-GB" i="1" dirty="0"/>
              <a:t>.</a:t>
            </a:r>
            <a:endParaRPr lang="en-GB" dirty="0"/>
          </a:p>
          <a:p>
            <a:r>
              <a:rPr lang="en-GB" i="1" dirty="0"/>
              <a:t>These are the earrings </a:t>
            </a:r>
            <a:r>
              <a:rPr lang="en-GB" b="1" i="1" dirty="0"/>
              <a:t>that my mother gave me</a:t>
            </a:r>
            <a:r>
              <a:rPr lang="en-GB" i="1" dirty="0"/>
              <a:t>.</a:t>
            </a: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These </a:t>
            </a:r>
            <a:r>
              <a:rPr lang="en-GB" dirty="0"/>
              <a:t>clauses give </a:t>
            </a:r>
            <a:r>
              <a:rPr lang="en-GB" b="1" dirty="0"/>
              <a:t>essential</a:t>
            </a:r>
            <a:r>
              <a:rPr lang="en-GB" dirty="0"/>
              <a:t> information about the subject of the sentence. They define the</a:t>
            </a:r>
            <a:r>
              <a:rPr lang="en-GB" b="1" dirty="0"/>
              <a:t> person</a:t>
            </a:r>
            <a:r>
              <a:rPr lang="en-GB" dirty="0"/>
              <a:t>, </a:t>
            </a:r>
            <a:r>
              <a:rPr lang="en-GB" b="1" dirty="0"/>
              <a:t>time </a:t>
            </a:r>
            <a:r>
              <a:rPr lang="en-GB" dirty="0"/>
              <a:t>or </a:t>
            </a:r>
            <a:r>
              <a:rPr lang="en-GB" b="1" dirty="0"/>
              <a:t>thing </a:t>
            </a:r>
            <a:r>
              <a:rPr lang="en-GB" dirty="0"/>
              <a:t>that we are talking about. If we remove the clause, the sentence does not make sense.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74" y="211063"/>
            <a:ext cx="11602452" cy="643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7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48145"/>
            <a:ext cx="10515600" cy="542881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2. </a:t>
            </a:r>
            <a:r>
              <a:rPr lang="en-GB" b="1" dirty="0"/>
              <a:t>Non-defining</a:t>
            </a:r>
            <a:r>
              <a:rPr lang="en-GB" dirty="0"/>
              <a:t> relative clauses add </a:t>
            </a:r>
            <a:r>
              <a:rPr lang="en-GB" b="1" dirty="0"/>
              <a:t>extra </a:t>
            </a:r>
            <a:r>
              <a:rPr lang="en-GB" dirty="0"/>
              <a:t>information to a noun or noun phrase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i="1" dirty="0"/>
              <a:t>My friend’s birthday, </a:t>
            </a:r>
            <a:r>
              <a:rPr lang="en-GB" b="1" i="1" dirty="0"/>
              <a:t>which was last weekend</a:t>
            </a:r>
            <a:r>
              <a:rPr lang="en-GB" i="1" dirty="0"/>
              <a:t>, was great fun.</a:t>
            </a:r>
            <a:endParaRPr lang="en-GB" dirty="0"/>
          </a:p>
          <a:p>
            <a:r>
              <a:rPr lang="en-GB" i="1" dirty="0"/>
              <a:t>My current girlfriend, </a:t>
            </a:r>
            <a:r>
              <a:rPr lang="en-GB" b="1" i="1" dirty="0"/>
              <a:t>who I love very much</a:t>
            </a:r>
            <a:r>
              <a:rPr lang="en-GB" i="1" dirty="0"/>
              <a:t>, calls me every night</a:t>
            </a:r>
            <a:r>
              <a:rPr lang="en-GB" i="1" dirty="0" smtClean="0"/>
              <a:t>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This extra information is </a:t>
            </a:r>
            <a:r>
              <a:rPr lang="en-GB" b="1" dirty="0"/>
              <a:t>not essential</a:t>
            </a:r>
            <a:r>
              <a:rPr lang="en-GB" dirty="0"/>
              <a:t>. If </a:t>
            </a:r>
            <a:r>
              <a:rPr lang="en-GB" dirty="0" smtClean="0"/>
              <a:t>we remove </a:t>
            </a:r>
            <a:r>
              <a:rPr lang="en-GB" dirty="0"/>
              <a:t>the clause, the sentence still makes sense.. This type of clause is more common in written English.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56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6418"/>
            <a:ext cx="10515600" cy="5902037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Form</a:t>
            </a:r>
          </a:p>
          <a:p>
            <a:pPr marL="0" indent="0">
              <a:buNone/>
            </a:pPr>
            <a:r>
              <a:rPr lang="en-GB" b="1" dirty="0"/>
              <a:t>Defining relative clauses</a:t>
            </a:r>
            <a:r>
              <a:rPr lang="en-GB" dirty="0"/>
              <a:t> are made with </a:t>
            </a:r>
            <a:r>
              <a:rPr lang="en-GB" b="1" dirty="0"/>
              <a:t>noun + relative pronoun + rest of clause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i="1" dirty="0"/>
              <a:t>A kangaroo is </a:t>
            </a:r>
            <a:r>
              <a:rPr lang="en-GB" b="1" i="1" dirty="0"/>
              <a:t>an animal which lives in Australia</a:t>
            </a:r>
            <a:r>
              <a:rPr lang="en-GB" i="1" dirty="0"/>
              <a:t>.</a:t>
            </a:r>
            <a:endParaRPr lang="en-GB" dirty="0"/>
          </a:p>
          <a:p>
            <a:r>
              <a:rPr lang="en-GB" b="1" i="1" dirty="0"/>
              <a:t>The man who came for lunch</a:t>
            </a:r>
            <a:r>
              <a:rPr lang="en-GB" i="1" dirty="0"/>
              <a:t> was my uncle.</a:t>
            </a:r>
            <a:endParaRPr lang="en-GB" dirty="0"/>
          </a:p>
          <a:p>
            <a:r>
              <a:rPr lang="en-GB" i="1" dirty="0"/>
              <a:t>Winter is </a:t>
            </a:r>
            <a:r>
              <a:rPr lang="en-GB" b="1" i="1" dirty="0"/>
              <a:t>a time when it sometimes snows.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380" y="3753852"/>
            <a:ext cx="4491289" cy="299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352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5018"/>
            <a:ext cx="10515600" cy="551194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Non-defining relative clauses</a:t>
            </a:r>
            <a:r>
              <a:rPr lang="en-GB" dirty="0"/>
              <a:t> are made in the same way. An important difference, however, between both types of clause is the use of </a:t>
            </a:r>
            <a:r>
              <a:rPr lang="en-GB" b="1" dirty="0"/>
              <a:t>punctuation</a:t>
            </a:r>
            <a:r>
              <a:rPr lang="en-GB" dirty="0"/>
              <a:t>. With </a:t>
            </a:r>
            <a:r>
              <a:rPr lang="en-GB" b="1" dirty="0"/>
              <a:t>non-defining</a:t>
            </a:r>
            <a:r>
              <a:rPr lang="en-GB" dirty="0"/>
              <a:t> relative clauses, we separate the clause with </a:t>
            </a:r>
            <a:r>
              <a:rPr lang="en-GB" b="1" dirty="0"/>
              <a:t>commas</a:t>
            </a:r>
            <a:r>
              <a:rPr lang="en-GB" dirty="0"/>
              <a:t>. We cannot use </a:t>
            </a:r>
            <a:r>
              <a:rPr lang="en-GB" b="1" dirty="0"/>
              <a:t>that </a:t>
            </a:r>
            <a:r>
              <a:rPr lang="en-GB" dirty="0"/>
              <a:t>in this type of clause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i="1" dirty="0"/>
              <a:t>My favourite food,</a:t>
            </a:r>
            <a:r>
              <a:rPr lang="en-GB" b="1" i="1" dirty="0"/>
              <a:t> which used to be Italian,</a:t>
            </a:r>
            <a:r>
              <a:rPr lang="en-GB" i="1" dirty="0"/>
              <a:t> is now Japanese.</a:t>
            </a:r>
            <a:endParaRPr lang="en-GB" dirty="0"/>
          </a:p>
          <a:p>
            <a:r>
              <a:rPr lang="en-GB" i="1" dirty="0"/>
              <a:t>Rachel, </a:t>
            </a:r>
            <a:r>
              <a:rPr lang="en-GB" b="1" i="1" dirty="0"/>
              <a:t>who we met yesterday,</a:t>
            </a:r>
            <a:r>
              <a:rPr lang="en-GB" i="1" dirty="0"/>
              <a:t> lives in this neighbourhood.</a:t>
            </a:r>
            <a:endParaRPr lang="en-GB" dirty="0"/>
          </a:p>
          <a:p>
            <a:r>
              <a:rPr lang="en-GB" i="1" dirty="0"/>
              <a:t>My car,</a:t>
            </a:r>
            <a:r>
              <a:rPr lang="en-GB" b="1" i="1" dirty="0"/>
              <a:t> which I bought seven years ago,</a:t>
            </a:r>
            <a:r>
              <a:rPr lang="en-GB" i="1" dirty="0"/>
              <a:t> needs replacing.</a:t>
            </a:r>
            <a:endParaRPr lang="en-GB" dirty="0"/>
          </a:p>
          <a:p>
            <a:r>
              <a:rPr lang="en-GB" i="1" dirty="0"/>
              <a:t>This shirt, </a:t>
            </a:r>
            <a:r>
              <a:rPr lang="en-GB" b="1" i="1" dirty="0"/>
              <a:t>which I bought last weekend,</a:t>
            </a:r>
            <a:r>
              <a:rPr lang="en-GB" i="1" dirty="0"/>
              <a:t> cost £50.</a:t>
            </a:r>
            <a:endParaRPr lang="en-GB" dirty="0"/>
          </a:p>
          <a:p>
            <a:r>
              <a:rPr lang="en-GB" i="1" dirty="0"/>
              <a:t>My best friend,</a:t>
            </a:r>
            <a:r>
              <a:rPr lang="en-GB" b="1" i="1" dirty="0"/>
              <a:t> who I met at university,</a:t>
            </a:r>
            <a:r>
              <a:rPr lang="en-GB" i="1" dirty="0"/>
              <a:t> is coming for dinner.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788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8758"/>
            <a:ext cx="10515600" cy="5888205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Add the phrase in brackets to the sentence using 'that' or 'who' and a relative clause</a:t>
            </a:r>
            <a:r>
              <a:rPr lang="en-GB" dirty="0" smtClean="0"/>
              <a:t>:</a:t>
            </a:r>
          </a:p>
          <a:p>
            <a:pPr marL="0" indent="0">
              <a:buNone/>
            </a:pPr>
            <a:endParaRPr lang="en-GB" dirty="0"/>
          </a:p>
          <a:p>
            <a:pPr marL="514350" indent="-514350">
              <a:buAutoNum type="arabicParenR"/>
            </a:pPr>
            <a:r>
              <a:rPr lang="en-GB" dirty="0" smtClean="0"/>
              <a:t>She worked for a man (the man used to be an athlete) </a:t>
            </a:r>
          </a:p>
          <a:p>
            <a:pPr marL="514350" indent="-514350">
              <a:buAutoNum type="arabicParenR"/>
            </a:pPr>
            <a:r>
              <a:rPr lang="en-GB" dirty="0" smtClean="0"/>
              <a:t>They called a lawyer (the lawyer lived nearby)</a:t>
            </a:r>
          </a:p>
          <a:p>
            <a:pPr marL="514350" indent="-514350">
              <a:buAutoNum type="arabicParenR"/>
            </a:pPr>
            <a:r>
              <a:rPr lang="en-GB" dirty="0" smtClean="0"/>
              <a:t>I sent an email to my brother (my brother lives in Australia)</a:t>
            </a:r>
          </a:p>
          <a:p>
            <a:pPr marL="514350" indent="-514350">
              <a:buAutoNum type="arabicParenR"/>
            </a:pPr>
            <a:r>
              <a:rPr lang="en-GB" dirty="0" smtClean="0"/>
              <a:t>The customer liked the waitress (the waitress was very friendly)</a:t>
            </a:r>
          </a:p>
          <a:p>
            <a:pPr marL="514350" indent="-514350">
              <a:buAutoNum type="arabicParenR"/>
            </a:pPr>
            <a:r>
              <a:rPr lang="en-GB" dirty="0" smtClean="0"/>
              <a:t>We broke the computer (the computer belonged to my father)</a:t>
            </a:r>
          </a:p>
          <a:p>
            <a:pPr marL="514350" indent="-514350">
              <a:buAutoNum type="arabicParenR"/>
            </a:pPr>
            <a:r>
              <a:rPr lang="en-GB" dirty="0" smtClean="0"/>
              <a:t>I dropped a glass (the glass was new) </a:t>
            </a:r>
          </a:p>
          <a:p>
            <a:pPr marL="514350" indent="-514350">
              <a:buAutoNum type="arabicParenR"/>
            </a:pPr>
            <a:r>
              <a:rPr lang="en-GB" dirty="0" smtClean="0"/>
              <a:t>She loves books (the books have happy endings) </a:t>
            </a:r>
          </a:p>
          <a:p>
            <a:pPr marL="514350" indent="-514350">
              <a:buAutoNum type="arabicParenR"/>
            </a:pPr>
            <a:r>
              <a:rPr lang="en-GB" dirty="0" smtClean="0"/>
              <a:t>They live in a city (the city is in the north of England) 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0" indent="0" algn="ctr">
              <a:buNone/>
            </a:pPr>
            <a:r>
              <a:rPr lang="en-GB" sz="1300" dirty="0" smtClean="0">
                <a:hlinkClick r:id="rId2"/>
              </a:rPr>
              <a:t>http://www.perfect-english-grammar.com/relative-clauses-exercise-1.html</a:t>
            </a:r>
            <a:endParaRPr lang="en-GB" sz="1300" dirty="0" smtClean="0"/>
          </a:p>
          <a:p>
            <a:pPr marL="0" indent="0" algn="ctr">
              <a:buNone/>
            </a:pPr>
            <a:endParaRPr lang="en-GB" sz="1300" dirty="0" smtClean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442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8758"/>
            <a:ext cx="10515600" cy="5888205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Add the phrase in brackets to the sentence using 'that' or 'who' and a relative clause</a:t>
            </a:r>
            <a:r>
              <a:rPr lang="en-GB" dirty="0" smtClean="0"/>
              <a:t>:</a:t>
            </a:r>
          </a:p>
          <a:p>
            <a:pPr marL="0" indent="0">
              <a:buNone/>
            </a:pPr>
            <a:endParaRPr lang="en-GB" dirty="0"/>
          </a:p>
          <a:p>
            <a:pPr marL="514350" indent="-514350">
              <a:buAutoNum type="arabicParenR"/>
            </a:pPr>
            <a:r>
              <a:rPr lang="en-GB" dirty="0" smtClean="0"/>
              <a:t>She worked for a man who used to be an athlete.</a:t>
            </a:r>
          </a:p>
          <a:p>
            <a:pPr marL="514350" indent="-514350">
              <a:buAutoNum type="arabicParenR"/>
            </a:pPr>
            <a:r>
              <a:rPr lang="en-GB" dirty="0" smtClean="0"/>
              <a:t>They called a lawyer who lived nearby.</a:t>
            </a:r>
          </a:p>
          <a:p>
            <a:pPr marL="514350" indent="-514350">
              <a:buAutoNum type="arabicParenR"/>
            </a:pPr>
            <a:r>
              <a:rPr lang="en-GB" dirty="0" smtClean="0"/>
              <a:t>I sent an email to my brother who lives in Australia.</a:t>
            </a:r>
          </a:p>
          <a:p>
            <a:pPr marL="514350" indent="-514350">
              <a:buAutoNum type="arabicParenR"/>
            </a:pPr>
            <a:r>
              <a:rPr lang="en-GB" dirty="0" smtClean="0"/>
              <a:t>The customer liked the waitress who was very friendly.</a:t>
            </a:r>
          </a:p>
          <a:p>
            <a:pPr marL="514350" indent="-514350">
              <a:buAutoNum type="arabicParenR"/>
            </a:pPr>
            <a:r>
              <a:rPr lang="en-GB" dirty="0" smtClean="0"/>
              <a:t>We broke the computer that belonged to my father.</a:t>
            </a:r>
          </a:p>
          <a:p>
            <a:pPr marL="514350" indent="-514350">
              <a:buAutoNum type="arabicParenR"/>
            </a:pPr>
            <a:r>
              <a:rPr lang="en-GB" dirty="0" smtClean="0"/>
              <a:t>I dropped a glass that was new.</a:t>
            </a:r>
          </a:p>
          <a:p>
            <a:pPr marL="514350" indent="-514350">
              <a:buAutoNum type="arabicParenR"/>
            </a:pPr>
            <a:r>
              <a:rPr lang="en-GB" dirty="0" smtClean="0"/>
              <a:t>She loves books that have happy endings.</a:t>
            </a:r>
          </a:p>
          <a:p>
            <a:pPr marL="514350" indent="-514350">
              <a:buAutoNum type="arabicParenR"/>
            </a:pPr>
            <a:r>
              <a:rPr lang="en-GB" dirty="0" smtClean="0"/>
              <a:t>They live in a city that is in the north of England. 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0" indent="0" algn="ctr">
              <a:buNone/>
            </a:pPr>
            <a:endParaRPr lang="en-GB" sz="1300" dirty="0" smtClean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860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8758"/>
            <a:ext cx="10515600" cy="5888205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Add the phrase in brackets to the sentence using a relative </a:t>
            </a:r>
            <a:r>
              <a:rPr lang="en-GB" dirty="0" smtClean="0"/>
              <a:t>clause:</a:t>
            </a:r>
          </a:p>
          <a:p>
            <a:pPr marL="0" indent="0">
              <a:buNone/>
            </a:pPr>
            <a:r>
              <a:rPr lang="en-GB" dirty="0"/>
              <a:t> </a:t>
            </a:r>
          </a:p>
          <a:p>
            <a:pPr marL="514350" indent="-514350">
              <a:buAutoNum type="arabicParenR"/>
            </a:pPr>
            <a:r>
              <a:rPr lang="en-GB" dirty="0" smtClean="0"/>
              <a:t>The man was late (Julie invited the man)</a:t>
            </a:r>
          </a:p>
          <a:p>
            <a:pPr marL="514350" indent="-514350">
              <a:buAutoNum type="arabicParenR"/>
            </a:pPr>
            <a:r>
              <a:rPr lang="en-GB" dirty="0" smtClean="0"/>
              <a:t>The doctor was sick (I wanted to see the doctor)</a:t>
            </a:r>
          </a:p>
          <a:p>
            <a:pPr marL="514350" indent="-514350">
              <a:buAutoNum type="arabicParenR"/>
            </a:pPr>
            <a:r>
              <a:rPr lang="en-GB" dirty="0" smtClean="0"/>
              <a:t>I wrote to the friend (you met the friend last week) </a:t>
            </a:r>
          </a:p>
          <a:p>
            <a:pPr marL="514350" indent="-514350">
              <a:buAutoNum type="arabicParenR"/>
            </a:pPr>
            <a:r>
              <a:rPr lang="en-GB" dirty="0" smtClean="0"/>
              <a:t>I met a girl (the girl was a doctor)</a:t>
            </a:r>
          </a:p>
          <a:p>
            <a:pPr marL="514350" indent="-514350">
              <a:buAutoNum type="arabicParenR"/>
            </a:pPr>
            <a:r>
              <a:rPr lang="en-GB" dirty="0" smtClean="0"/>
              <a:t>I went to the restaurant (I read about the restaurant in the newspaper)</a:t>
            </a:r>
          </a:p>
          <a:p>
            <a:pPr marL="514350" indent="-514350">
              <a:buAutoNum type="arabicParenR"/>
            </a:pPr>
            <a:r>
              <a:rPr lang="en-GB" dirty="0" smtClean="0"/>
              <a:t>I often buy cheese (the cheese is imported from Paris)</a:t>
            </a:r>
          </a:p>
          <a:p>
            <a:pPr marL="514350" indent="-514350">
              <a:buAutoNum type="arabicParenR"/>
            </a:pPr>
            <a:r>
              <a:rPr lang="en-GB" dirty="0" smtClean="0"/>
              <a:t>The hairdresser was very good (the hairdresser has red hair)</a:t>
            </a:r>
          </a:p>
          <a:p>
            <a:pPr marL="514350" indent="-514350">
              <a:buAutoNum type="arabicParenR"/>
            </a:pPr>
            <a:r>
              <a:rPr lang="en-GB" dirty="0" smtClean="0"/>
              <a:t>The nurse is in the office (the nurse treated my grandmother) 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sz="1300" dirty="0" smtClean="0">
                <a:hlinkClick r:id="rId2"/>
              </a:rPr>
              <a:t>http://www.perfect-english-grammar.com/relative-clauses-exercise-4.html</a:t>
            </a:r>
            <a:endParaRPr lang="en-GB" sz="1300" dirty="0" smtClean="0"/>
          </a:p>
          <a:p>
            <a:pPr marL="0" indent="0" algn="ctr">
              <a:buNone/>
            </a:pPr>
            <a:endParaRPr lang="en-GB" sz="1300" dirty="0" smtClean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29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8758"/>
            <a:ext cx="10515600" cy="5888205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Add the phrase in brackets to the sentence using a relative </a:t>
            </a:r>
            <a:r>
              <a:rPr lang="en-GB" dirty="0" smtClean="0"/>
              <a:t>clause:</a:t>
            </a:r>
          </a:p>
          <a:p>
            <a:pPr marL="0" indent="0">
              <a:buNone/>
            </a:pPr>
            <a:r>
              <a:rPr lang="en-GB" dirty="0"/>
              <a:t> </a:t>
            </a:r>
          </a:p>
          <a:p>
            <a:pPr marL="514350" indent="-514350">
              <a:buAutoNum type="arabicParenR"/>
            </a:pPr>
            <a:r>
              <a:rPr lang="en-GB" dirty="0" smtClean="0"/>
              <a:t>The man who/that Julie invited was late.</a:t>
            </a:r>
          </a:p>
          <a:p>
            <a:pPr marL="514350" indent="-514350">
              <a:buAutoNum type="arabicParenR"/>
            </a:pPr>
            <a:r>
              <a:rPr lang="en-GB" dirty="0" smtClean="0"/>
              <a:t>The doctor who/that I wanted to see was sick.</a:t>
            </a:r>
          </a:p>
          <a:p>
            <a:pPr marL="514350" indent="-514350">
              <a:buAutoNum type="arabicParenR"/>
            </a:pPr>
            <a:r>
              <a:rPr lang="en-GB" dirty="0" smtClean="0"/>
              <a:t>I wrote to the friend who/that you met last week.</a:t>
            </a:r>
          </a:p>
          <a:p>
            <a:pPr marL="514350" indent="-514350">
              <a:buAutoNum type="arabicParenR"/>
            </a:pPr>
            <a:r>
              <a:rPr lang="en-GB" dirty="0" smtClean="0"/>
              <a:t>I met a girl who/that was a doctor.</a:t>
            </a:r>
          </a:p>
          <a:p>
            <a:pPr marL="514350" indent="-514350">
              <a:buAutoNum type="arabicParenR"/>
            </a:pPr>
            <a:r>
              <a:rPr lang="en-GB" dirty="0" smtClean="0"/>
              <a:t>I went to the restaurant which/that I read about in the newspaper.</a:t>
            </a:r>
          </a:p>
          <a:p>
            <a:pPr marL="514350" indent="-514350">
              <a:buAutoNum type="arabicParenR"/>
            </a:pPr>
            <a:r>
              <a:rPr lang="en-GB" dirty="0" smtClean="0"/>
              <a:t>I often buy cheese which/that is imported from Paris.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GB" dirty="0" smtClean="0"/>
              <a:t>The hairdresser who/that </a:t>
            </a:r>
            <a:r>
              <a:rPr lang="en-GB" dirty="0" smtClean="0"/>
              <a:t>has red hair </a:t>
            </a:r>
            <a:r>
              <a:rPr lang="en-GB" dirty="0" smtClean="0"/>
              <a:t>was very good. 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GB" dirty="0" smtClean="0"/>
              <a:t>The nurse who/that treated my grandmother is in the office.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endParaRPr lang="en-GB" sz="1300" dirty="0" smtClean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4812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4236"/>
            <a:ext cx="10515600" cy="5532727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Take note: replacing the relative pronoun</a:t>
            </a:r>
          </a:p>
          <a:p>
            <a:pPr marL="0" indent="0">
              <a:buNone/>
            </a:pPr>
            <a:r>
              <a:rPr lang="en-GB" dirty="0"/>
              <a:t>In </a:t>
            </a:r>
            <a:r>
              <a:rPr lang="en-GB" b="1" dirty="0"/>
              <a:t>informal </a:t>
            </a:r>
            <a:r>
              <a:rPr lang="en-GB" dirty="0"/>
              <a:t>communication, relative pronouns, such as </a:t>
            </a:r>
            <a:r>
              <a:rPr lang="en-GB" b="1" dirty="0"/>
              <a:t>who </a:t>
            </a:r>
            <a:r>
              <a:rPr lang="en-GB" dirty="0"/>
              <a:t>and </a:t>
            </a:r>
            <a:r>
              <a:rPr lang="en-GB" b="1" dirty="0" err="1"/>
              <a:t>when</a:t>
            </a:r>
            <a:r>
              <a:rPr lang="en-GB" dirty="0" err="1"/>
              <a:t>,are</a:t>
            </a:r>
            <a:r>
              <a:rPr lang="en-GB" dirty="0"/>
              <a:t> commonly replaced with </a:t>
            </a:r>
            <a:r>
              <a:rPr lang="en-GB" b="1" dirty="0"/>
              <a:t>that </a:t>
            </a:r>
            <a:r>
              <a:rPr lang="en-GB" dirty="0"/>
              <a:t>in defining relative clauses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i="1" dirty="0"/>
              <a:t>The woman </a:t>
            </a:r>
            <a:r>
              <a:rPr lang="en-GB" b="1" i="1" dirty="0"/>
              <a:t>that</a:t>
            </a:r>
            <a:r>
              <a:rPr lang="en-GB" i="1" dirty="0"/>
              <a:t> called last night was very polite.</a:t>
            </a:r>
            <a:endParaRPr lang="en-GB" dirty="0"/>
          </a:p>
          <a:p>
            <a:r>
              <a:rPr lang="en-GB" i="1" dirty="0"/>
              <a:t>Do you remember the time </a:t>
            </a:r>
            <a:r>
              <a:rPr lang="en-GB" b="1" i="1" dirty="0"/>
              <a:t>that </a:t>
            </a:r>
            <a:r>
              <a:rPr lang="en-GB" i="1" dirty="0"/>
              <a:t>you first met?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3394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10515600" cy="5491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 smtClean="0"/>
              <a:t>Take </a:t>
            </a:r>
            <a:r>
              <a:rPr lang="en-GB" b="1" dirty="0"/>
              <a:t>note: leaving out the relative pronoun</a:t>
            </a:r>
          </a:p>
          <a:p>
            <a:pPr marL="0" indent="0">
              <a:buNone/>
            </a:pPr>
            <a:r>
              <a:rPr lang="en-GB" dirty="0"/>
              <a:t>When using defining relative clauses in </a:t>
            </a:r>
            <a:r>
              <a:rPr lang="en-GB" b="1" dirty="0"/>
              <a:t>informal </a:t>
            </a:r>
            <a:r>
              <a:rPr lang="en-GB" dirty="0"/>
              <a:t>speech and writing, the relative pronoun can be </a:t>
            </a:r>
            <a:r>
              <a:rPr lang="en-GB" b="1" dirty="0"/>
              <a:t>left out completely</a:t>
            </a:r>
            <a:r>
              <a:rPr lang="en-GB" dirty="0"/>
              <a:t> if it refers to the </a:t>
            </a:r>
            <a:r>
              <a:rPr lang="en-GB" b="1" dirty="0"/>
              <a:t>object </a:t>
            </a:r>
            <a:r>
              <a:rPr lang="en-GB" dirty="0"/>
              <a:t>of the relative clause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i="1" dirty="0"/>
              <a:t>This is the shirt </a:t>
            </a:r>
            <a:r>
              <a:rPr lang="en-GB" b="1" i="1" dirty="0"/>
              <a:t>that </a:t>
            </a:r>
            <a:r>
              <a:rPr lang="en-GB" i="1" dirty="0"/>
              <a:t>I bought.</a:t>
            </a:r>
            <a:endParaRPr lang="en-GB" dirty="0"/>
          </a:p>
          <a:p>
            <a:r>
              <a:rPr lang="en-GB" i="1" dirty="0"/>
              <a:t>This is the shirt I bought.</a:t>
            </a:r>
            <a:endParaRPr lang="en-GB" dirty="0"/>
          </a:p>
          <a:p>
            <a:r>
              <a:rPr lang="en-GB" dirty="0"/>
              <a:t> </a:t>
            </a:r>
            <a:r>
              <a:rPr lang="en-GB" i="1" dirty="0"/>
              <a:t>The girl </a:t>
            </a:r>
            <a:r>
              <a:rPr lang="en-GB" b="1" i="1" dirty="0"/>
              <a:t>who </a:t>
            </a:r>
            <a:r>
              <a:rPr lang="en-GB" i="1" dirty="0"/>
              <a:t>I like isn’t here yet.</a:t>
            </a:r>
            <a:endParaRPr lang="en-GB" dirty="0"/>
          </a:p>
          <a:p>
            <a:r>
              <a:rPr lang="en-GB" i="1" dirty="0"/>
              <a:t>The girl I like isn’t here yet.</a:t>
            </a:r>
            <a:endParaRPr lang="en-GB" dirty="0"/>
          </a:p>
          <a:p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In</a:t>
            </a:r>
            <a:r>
              <a:rPr lang="en-GB" dirty="0"/>
              <a:t> </a:t>
            </a:r>
            <a:r>
              <a:rPr lang="en-GB" b="1" dirty="0"/>
              <a:t>non-defining</a:t>
            </a:r>
            <a:r>
              <a:rPr lang="en-GB" dirty="0"/>
              <a:t> relative clauses, the relative pronoun</a:t>
            </a:r>
            <a:r>
              <a:rPr lang="en-GB" b="1" dirty="0"/>
              <a:t> cannot be left out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09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8758"/>
            <a:ext cx="10515600" cy="632861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 smtClean="0"/>
              <a:t>Which sentences can have the relative pronoun removed?</a:t>
            </a:r>
          </a:p>
          <a:p>
            <a:pPr marL="0" indent="0">
              <a:buNone/>
            </a:pPr>
            <a:r>
              <a:rPr lang="en-GB" dirty="0"/>
              <a:t> </a:t>
            </a:r>
            <a:endParaRPr lang="en-GB" sz="2400" dirty="0"/>
          </a:p>
          <a:p>
            <a:pPr marL="514350" indent="-514350">
              <a:buAutoNum type="arabicParenR"/>
            </a:pPr>
            <a:r>
              <a:rPr lang="en-GB" sz="2400" dirty="0" smtClean="0"/>
              <a:t>The man who/that Julie invited was late.</a:t>
            </a:r>
          </a:p>
          <a:p>
            <a:pPr marL="914400" lvl="2" indent="0" algn="r">
              <a:buNone/>
            </a:pPr>
            <a:r>
              <a:rPr lang="en-GB" sz="2400" b="1" dirty="0" smtClean="0">
                <a:solidFill>
                  <a:schemeClr val="accent1">
                    <a:lumMod val="75000"/>
                  </a:schemeClr>
                </a:solidFill>
              </a:rPr>
              <a:t>The man Julie invited was late.</a:t>
            </a:r>
          </a:p>
          <a:p>
            <a:pPr marL="514350" indent="-514350">
              <a:buAutoNum type="arabicParenR"/>
            </a:pPr>
            <a:r>
              <a:rPr lang="en-GB" sz="2400" dirty="0" smtClean="0"/>
              <a:t>The doctor who/that I wanted to see was sick.</a:t>
            </a:r>
          </a:p>
          <a:p>
            <a:pPr marL="914400" lvl="2" indent="0" algn="r">
              <a:buNone/>
            </a:pP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GB" sz="2400" b="1" dirty="0" smtClean="0">
                <a:solidFill>
                  <a:schemeClr val="accent1">
                    <a:lumMod val="75000"/>
                  </a:schemeClr>
                </a:solidFill>
              </a:rPr>
              <a:t>doctor I wanted to see was sick.</a:t>
            </a:r>
            <a:endParaRPr lang="en-GB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514350" indent="-514350">
              <a:buAutoNum type="arabicParenR"/>
            </a:pPr>
            <a:r>
              <a:rPr lang="en-GB" sz="2400" dirty="0" smtClean="0"/>
              <a:t>I wrote to the friend who/that you met last week.</a:t>
            </a:r>
          </a:p>
          <a:p>
            <a:pPr marL="914400" lvl="2" indent="0" algn="r">
              <a:buNone/>
            </a:pPr>
            <a:r>
              <a:rPr lang="en-GB" sz="2400" b="1" dirty="0" smtClean="0">
                <a:solidFill>
                  <a:schemeClr val="accent1">
                    <a:lumMod val="75000"/>
                  </a:schemeClr>
                </a:solidFill>
              </a:rPr>
              <a:t>I wrote to the friend you met last week.</a:t>
            </a:r>
          </a:p>
          <a:p>
            <a:pPr marL="514350" indent="-514350">
              <a:buAutoNum type="arabicParenR"/>
            </a:pPr>
            <a:r>
              <a:rPr lang="en-GB" sz="2400" dirty="0" smtClean="0"/>
              <a:t>I met a girl who/that was a doctor.</a:t>
            </a:r>
          </a:p>
          <a:p>
            <a:pPr marL="514350" indent="-514350">
              <a:buAutoNum type="arabicParenR"/>
            </a:pPr>
            <a:endParaRPr lang="en-GB" sz="2400" dirty="0" smtClean="0"/>
          </a:p>
          <a:p>
            <a:pPr marL="514350" indent="-514350">
              <a:buAutoNum type="arabicParenR"/>
            </a:pPr>
            <a:r>
              <a:rPr lang="en-GB" sz="2400" dirty="0" smtClean="0"/>
              <a:t>I went to the restaurant which/that I read about in the newspaper.</a:t>
            </a:r>
          </a:p>
          <a:p>
            <a:pPr marL="1371600" lvl="3" indent="0" algn="r">
              <a:buNone/>
            </a:pPr>
            <a:r>
              <a:rPr lang="en-GB" sz="2400" b="1" dirty="0" smtClean="0">
                <a:solidFill>
                  <a:schemeClr val="accent1">
                    <a:lumMod val="75000"/>
                  </a:schemeClr>
                </a:solidFill>
              </a:rPr>
              <a:t>I went to the restaurant I read about in the newspaper.</a:t>
            </a:r>
          </a:p>
          <a:p>
            <a:pPr marL="514350" indent="-514350">
              <a:buAutoNum type="arabicParenR"/>
            </a:pPr>
            <a:r>
              <a:rPr lang="en-GB" sz="2400" dirty="0" smtClean="0"/>
              <a:t>I often buy cheese which/that is imported from Paris.</a:t>
            </a:r>
          </a:p>
          <a:p>
            <a:pPr marL="514350" indent="-514350">
              <a:buAutoNum type="arabicParenR"/>
            </a:pPr>
            <a:endParaRPr lang="en-GB" sz="2400" dirty="0" smtClean="0"/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GB" sz="2400" dirty="0" smtClean="0"/>
              <a:t>The hairdresser who/that </a:t>
            </a:r>
            <a:r>
              <a:rPr lang="en-GB" sz="2400" dirty="0" smtClean="0"/>
              <a:t>has red hair </a:t>
            </a:r>
            <a:r>
              <a:rPr lang="en-GB" sz="2400" dirty="0" smtClean="0"/>
              <a:t>was very good. 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endParaRPr lang="en-GB" sz="2400" dirty="0" smtClean="0"/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GB" sz="2400" dirty="0" smtClean="0"/>
              <a:t>The nurse who/that treated my grandmother is in the office.</a:t>
            </a:r>
          </a:p>
          <a:p>
            <a:pPr marL="0" indent="0" algn="ctr">
              <a:buNone/>
            </a:pPr>
            <a:endParaRPr lang="en-GB" sz="1300" dirty="0" smtClean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132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4236"/>
            <a:ext cx="10515600" cy="5735782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Take note: spoken English </a:t>
            </a:r>
          </a:p>
          <a:p>
            <a:pPr marL="0" indent="0">
              <a:buNone/>
            </a:pPr>
            <a:r>
              <a:rPr lang="en-GB" dirty="0"/>
              <a:t>The relative pronoun </a:t>
            </a:r>
            <a:r>
              <a:rPr lang="en-GB" b="1" dirty="0"/>
              <a:t>who</a:t>
            </a:r>
            <a:r>
              <a:rPr lang="en-GB" dirty="0"/>
              <a:t> is used when referring to people. However, in </a:t>
            </a:r>
            <a:r>
              <a:rPr lang="en-GB" b="1" dirty="0"/>
              <a:t>formal</a:t>
            </a:r>
            <a:r>
              <a:rPr lang="en-GB" dirty="0"/>
              <a:t> written and spoken English, if the pronoun refers to the </a:t>
            </a:r>
            <a:r>
              <a:rPr lang="en-GB" b="1" dirty="0"/>
              <a:t>object</a:t>
            </a:r>
            <a:r>
              <a:rPr lang="en-GB" dirty="0"/>
              <a:t> of the clause, we use </a:t>
            </a:r>
            <a:r>
              <a:rPr lang="en-GB" b="1" dirty="0"/>
              <a:t>whom</a:t>
            </a:r>
            <a:r>
              <a:rPr lang="en-GB" dirty="0"/>
              <a:t> instead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My German teacher, </a:t>
            </a:r>
            <a:r>
              <a:rPr lang="en-GB" b="1" dirty="0"/>
              <a:t>whom</a:t>
            </a:r>
            <a:r>
              <a:rPr lang="en-GB" dirty="0"/>
              <a:t> I really admired, retired last year.</a:t>
            </a:r>
          </a:p>
          <a:p>
            <a:r>
              <a:rPr lang="en-GB" dirty="0"/>
              <a:t>The woman </a:t>
            </a:r>
            <a:r>
              <a:rPr lang="en-GB" b="1" dirty="0"/>
              <a:t>whom</a:t>
            </a:r>
            <a:r>
              <a:rPr lang="en-GB" dirty="0"/>
              <a:t> I called this morning was my secretary.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891" y="4116934"/>
            <a:ext cx="3702218" cy="258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8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859338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 smtClean="0"/>
              <a:t>Let’s check… defining or non-defining:</a:t>
            </a:r>
            <a:r>
              <a:rPr lang="en-GB" dirty="0" smtClean="0">
                <a:hlinkClick r:id="rId2"/>
              </a:rPr>
              <a:t/>
            </a:r>
            <a:br>
              <a:rPr lang="en-GB" dirty="0" smtClean="0">
                <a:hlinkClick r:id="rId2"/>
              </a:rPr>
            </a:br>
            <a:r>
              <a:rPr lang="en-GB" dirty="0">
                <a:hlinkClick r:id="rId2"/>
              </a:rPr>
              <a:t/>
            </a:r>
            <a:br>
              <a:rPr lang="en-GB" dirty="0">
                <a:hlinkClick r:id="rId2"/>
              </a:rPr>
            </a:br>
            <a:r>
              <a:rPr lang="en-GB" dirty="0" smtClean="0">
                <a:hlinkClick r:id="rId2"/>
              </a:rPr>
              <a:t>http://www.bbc.co.uk/learningenglish/english/course/intermediate/unit-18/session-2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492" y="2837897"/>
            <a:ext cx="5425992" cy="38065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45" y="3128212"/>
            <a:ext cx="5049255" cy="296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7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015CD9D-6B61-4E68-84F0-5C96171DA8AD}"/>
</file>

<file path=customXml/itemProps2.xml><?xml version="1.0" encoding="utf-8"?>
<ds:datastoreItem xmlns:ds="http://schemas.openxmlformats.org/officeDocument/2006/customXml" ds:itemID="{F04B175F-ACC1-4617-AA6F-B9932D769F1A}"/>
</file>

<file path=customXml/itemProps3.xml><?xml version="1.0" encoding="utf-8"?>
<ds:datastoreItem xmlns:ds="http://schemas.openxmlformats.org/officeDocument/2006/customXml" ds:itemID="{C7D7FE8A-4A31-4D85-BBDC-3E294812B762}"/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364</Words>
  <Application>Microsoft Office PowerPoint</Application>
  <PresentationFormat>Widescreen</PresentationFormat>
  <Paragraphs>118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Relative clauses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check… defining or non-defining:  http://www.bbc.co.uk/learningenglish/english/course/intermediate/unit-18/session-2 </vt:lpstr>
    </vt:vector>
  </TitlesOfParts>
  <Company>Cardiff and Vale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Relative clauses</dc:title>
  <dc:creator>Rio Judson</dc:creator>
  <cp:lastModifiedBy>Rio Judson</cp:lastModifiedBy>
  <cp:revision>12</cp:revision>
  <dcterms:created xsi:type="dcterms:W3CDTF">2017-01-24T09:22:51Z</dcterms:created>
  <dcterms:modified xsi:type="dcterms:W3CDTF">2017-01-24T11:14:18Z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Order">
    <vt:r8>20226100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