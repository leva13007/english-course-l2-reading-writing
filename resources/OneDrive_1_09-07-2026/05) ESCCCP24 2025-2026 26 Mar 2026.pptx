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20.xml" ContentType="application/vnd.openxmlformats-officedocument.presentationml.slide+xml"/>
  <Override PartName="/ppt/slides/slide130.xml" ContentType="application/vnd.openxmlformats-officedocument.presentationml.slide+xml"/>
  <Override PartName="/ppt/slideLayouts/slideLayout70.xml" ContentType="application/vnd.openxmlformats-officedocument.presentationml.slideLayout+xml"/>
  <Override PartName="/ppt/slideMasters/slideMaster10.xml" ContentType="application/vnd.openxmlformats-officedocument.presentationml.slideMaster+xml"/>
  <Override PartName="/ppt/slideLayouts/slideLayout80.xml" ContentType="application/vnd.openxmlformats-officedocument.presentationml.slideLayout+xml"/>
  <Override PartName="/ppt/slideLayouts/slideLayout30.xml" ContentType="application/vnd.openxmlformats-officedocument.presentationml.slideLayout+xml"/>
  <Override PartName="/ppt/theme/theme10.xml" ContentType="application/vnd.openxmlformats-officedocument.theme+xml"/>
  <Override PartName="/ppt/slideLayouts/slideLayout20.xml" ContentType="application/vnd.openxmlformats-officedocument.presentationml.slideLayout+xml"/>
  <Override PartName="/ppt/slideLayouts/slideLayout12.xml" ContentType="application/vnd.openxmlformats-officedocument.presentationml.slideLayout+xml"/>
  <Override PartName="/ppt/slideLayouts/slideLayout60.xml" ContentType="application/vnd.openxmlformats-officedocument.presentationml.slideLayout+xml"/>
  <Override PartName="/ppt/slideLayouts/slideLayout110.xml" ContentType="application/vnd.openxmlformats-officedocument.presentationml.slideLayout+xml"/>
  <Override PartName="/ppt/slideLayouts/slideLayout50.xml" ContentType="application/vnd.openxmlformats-officedocument.presentationml.slideLayout+xml"/>
  <Override PartName="/ppt/slideLayouts/slideLayout100.xml" ContentType="application/vnd.openxmlformats-officedocument.presentationml.slideLayout+xml"/>
  <Override PartName="/ppt/slideLayouts/slideLayout40.xml" ContentType="application/vnd.openxmlformats-officedocument.presentationml.slideLayout+xml"/>
  <Override PartName="/ppt/slideLayouts/slideLayout9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344" r:id="rId6"/>
    <p:sldId id="343" r:id="rId7"/>
    <p:sldId id="345" r:id="rId8"/>
    <p:sldId id="257" r:id="rId9"/>
    <p:sldId id="260" r:id="rId10"/>
    <p:sldId id="261" r:id="rId11"/>
    <p:sldId id="258" r:id="rId12"/>
    <p:sldId id="259" r:id="rId13"/>
    <p:sldId id="262" r:id="rId14"/>
    <p:sldId id="268" r:id="rId15"/>
    <p:sldId id="264" r:id="rId16"/>
    <p:sldId id="265" r:id="rId17"/>
    <p:sldId id="311" r:id="rId18"/>
    <p:sldId id="347" r:id="rId19"/>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F8AA1D-36E8-2153-4047-0E1BF282CBB4}" v="18" dt="2026-03-26T17:24:48.502"/>
    <p1510:client id="{2B35CE57-6D4D-437B-A6F5-622A371D72E9}" v="51" dt="2026-03-26T20:39:17.171"/>
    <p1510:client id="{8EB6E68E-B003-15F0-EAB9-0315237671AC}" v="1" dt="2026-03-26T17:21:41.1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4" d="100"/>
          <a:sy n="64" d="100"/>
        </p:scale>
        <p:origin x="57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S::apatterson@cavc.ac.uk::6c8ffccf-7c1b-4173-8b93-861005bd5f70" providerId="AD" clId="Web-{8EB6E68E-B003-15F0-EAB9-0315237671AC}"/>
    <pc:docChg chg="addSld">
      <pc:chgData name="Andrew Patterson" userId="S::apatterson@cavc.ac.uk::6c8ffccf-7c1b-4173-8b93-861005bd5f70" providerId="AD" clId="Web-{8EB6E68E-B003-15F0-EAB9-0315237671AC}" dt="2026-03-26T17:21:41.139" v="0"/>
      <pc:docMkLst>
        <pc:docMk/>
      </pc:docMkLst>
      <pc:sldChg chg="add">
        <pc:chgData name="Andrew Patterson" userId="S::apatterson@cavc.ac.uk::6c8ffccf-7c1b-4173-8b93-861005bd5f70" providerId="AD" clId="Web-{8EB6E68E-B003-15F0-EAB9-0315237671AC}" dt="2026-03-26T17:21:41.139" v="0"/>
        <pc:sldMkLst>
          <pc:docMk/>
          <pc:sldMk cId="2071052272" sldId="343"/>
        </pc:sldMkLst>
      </pc:sldChg>
    </pc:docChg>
  </pc:docChgLst>
  <pc:docChgLst>
    <pc:chgData name="Andrew Patterson" userId="S::apatterson@cavc.ac.uk::6c8ffccf-7c1b-4173-8b93-861005bd5f70" providerId="AD" clId="Web-{03F8AA1D-36E8-2153-4047-0E1BF282CBB4}"/>
    <pc:docChg chg="addSld delSld modSld">
      <pc:chgData name="Andrew Patterson" userId="S::apatterson@cavc.ac.uk::6c8ffccf-7c1b-4173-8b93-861005bd5f70" providerId="AD" clId="Web-{03F8AA1D-36E8-2153-4047-0E1BF282CBB4}" dt="2026-03-26T17:24:48.502" v="10"/>
      <pc:docMkLst>
        <pc:docMk/>
      </pc:docMkLst>
      <pc:sldChg chg="modSp add">
        <pc:chgData name="Andrew Patterson" userId="S::apatterson@cavc.ac.uk::6c8ffccf-7c1b-4173-8b93-861005bd5f70" providerId="AD" clId="Web-{03F8AA1D-36E8-2153-4047-0E1BF282CBB4}" dt="2026-03-26T17:24:36.220" v="9" actId="20577"/>
        <pc:sldMkLst>
          <pc:docMk/>
          <pc:sldMk cId="1201532438" sldId="311"/>
        </pc:sldMkLst>
        <pc:spChg chg="mod">
          <ac:chgData name="Andrew Patterson" userId="S::apatterson@cavc.ac.uk::6c8ffccf-7c1b-4173-8b93-861005bd5f70" providerId="AD" clId="Web-{03F8AA1D-36E8-2153-4047-0E1BF282CBB4}" dt="2026-03-26T17:24:36.220" v="9" actId="20577"/>
          <ac:spMkLst>
            <pc:docMk/>
            <pc:sldMk cId="1201532438" sldId="311"/>
            <ac:spMk id="2" creationId="{8ABC872D-4CC6-5F41-37AA-E4345552FE53}"/>
          </ac:spMkLst>
        </pc:spChg>
      </pc:sldChg>
      <pc:sldChg chg="add del">
        <pc:chgData name="Andrew Patterson" userId="S::apatterson@cavc.ac.uk::6c8ffccf-7c1b-4173-8b93-861005bd5f70" providerId="AD" clId="Web-{03F8AA1D-36E8-2153-4047-0E1BF282CBB4}" dt="2026-03-26T17:22:56.118" v="1"/>
        <pc:sldMkLst>
          <pc:docMk/>
          <pc:sldMk cId="1121139704" sldId="344"/>
        </pc:sldMkLst>
      </pc:sldChg>
      <pc:sldChg chg="modSp add">
        <pc:chgData name="Andrew Patterson" userId="S::apatterson@cavc.ac.uk::6c8ffccf-7c1b-4173-8b93-861005bd5f70" providerId="AD" clId="Web-{03F8AA1D-36E8-2153-4047-0E1BF282CBB4}" dt="2026-03-26T17:23:34.151" v="5" actId="20577"/>
        <pc:sldMkLst>
          <pc:docMk/>
          <pc:sldMk cId="3345573719" sldId="344"/>
        </pc:sldMkLst>
        <pc:spChg chg="mod">
          <ac:chgData name="Andrew Patterson" userId="S::apatterson@cavc.ac.uk::6c8ffccf-7c1b-4173-8b93-861005bd5f70" providerId="AD" clId="Web-{03F8AA1D-36E8-2153-4047-0E1BF282CBB4}" dt="2026-03-26T17:23:34.151" v="5" actId="20577"/>
          <ac:spMkLst>
            <pc:docMk/>
            <pc:sldMk cId="3345573719" sldId="344"/>
            <ac:spMk id="2" creationId="{B46C6785-5287-802A-5CCB-9E287EB68794}"/>
          </ac:spMkLst>
        </pc:spChg>
      </pc:sldChg>
      <pc:sldChg chg="add">
        <pc:chgData name="Andrew Patterson" userId="S::apatterson@cavc.ac.uk::6c8ffccf-7c1b-4173-8b93-861005bd5f70" providerId="AD" clId="Web-{03F8AA1D-36E8-2153-4047-0E1BF282CBB4}" dt="2026-03-26T17:24:07.483" v="6"/>
        <pc:sldMkLst>
          <pc:docMk/>
          <pc:sldMk cId="1700952183" sldId="345"/>
        </pc:sldMkLst>
      </pc:sldChg>
      <pc:sldChg chg="new">
        <pc:chgData name="Andrew Patterson" userId="S::apatterson@cavc.ac.uk::6c8ffccf-7c1b-4173-8b93-861005bd5f70" providerId="AD" clId="Web-{03F8AA1D-36E8-2153-4047-0E1BF282CBB4}" dt="2026-03-26T17:24:48.502" v="10"/>
        <pc:sldMkLst>
          <pc:docMk/>
          <pc:sldMk cId="2938589452" sldId="346"/>
        </pc:sldMkLst>
      </pc:sldChg>
    </pc:docChg>
  </pc:docChgLst>
  <pc:docChgLst>
    <pc:chgData name="Andrew Patterson" userId="S::apatterson@cavc.ac.uk::6c8ffccf-7c1b-4173-8b93-861005bd5f70" providerId="AD" clId="Web-{9E601AEA-890D-4AC3-BE41-2853FAF71F2C}"/>
    <pc:docChg chg="modSld">
      <pc:chgData name="Andrew Patterson" userId="S::apatterson@cavc.ac.uk::6c8ffccf-7c1b-4173-8b93-861005bd5f70" providerId="AD" clId="Web-{9E601AEA-890D-4AC3-BE41-2853FAF71F2C}" dt="2026-03-25T09:59:28.336" v="0" actId="20577"/>
      <pc:docMkLst>
        <pc:docMk/>
      </pc:docMkLst>
      <pc:sldChg chg="modSp">
        <pc:chgData name="Andrew Patterson" userId="S::apatterson@cavc.ac.uk::6c8ffccf-7c1b-4173-8b93-861005bd5f70" providerId="AD" clId="Web-{9E601AEA-890D-4AC3-BE41-2853FAF71F2C}" dt="2026-03-25T09:59:28.336" v="0" actId="20577"/>
        <pc:sldMkLst>
          <pc:docMk/>
          <pc:sldMk cId="109857222" sldId="256"/>
        </pc:sldMkLst>
        <pc:spChg chg="mod">
          <ac:chgData name="Andrew Patterson" userId="S::apatterson@cavc.ac.uk::6c8ffccf-7c1b-4173-8b93-861005bd5f70" providerId="AD" clId="Web-{9E601AEA-890D-4AC3-BE41-2853FAF71F2C}" dt="2026-03-25T09:59:28.336" v="0" actId="20577"/>
          <ac:spMkLst>
            <pc:docMk/>
            <pc:sldMk cId="109857222" sldId="256"/>
            <ac:spMk id="2" creationId="{00000000-0000-0000-0000-000000000000}"/>
          </ac:spMkLst>
        </pc:spChg>
      </pc:sldChg>
    </pc:docChg>
  </pc:docChgLst>
  <pc:docChgLst>
    <pc:chgData name="Andrew Patterson" userId="6c8ffccf-7c1b-4173-8b93-861005bd5f70" providerId="ADAL" clId="{340A04FB-801D-4D33-9372-268FA29A2369}"/>
    <pc:docChg chg="undo custSel addSld delSld modSld sldOrd">
      <pc:chgData name="Andrew Patterson" userId="6c8ffccf-7c1b-4173-8b93-861005bd5f70" providerId="ADAL" clId="{340A04FB-801D-4D33-9372-268FA29A2369}" dt="2026-03-27T11:17:39.006" v="599" actId="2711"/>
      <pc:docMkLst>
        <pc:docMk/>
      </pc:docMkLst>
      <pc:sldChg chg="addSp delSp modSp new mod">
        <pc:chgData name="Andrew Patterson" userId="6c8ffccf-7c1b-4173-8b93-861005bd5f70" providerId="ADAL" clId="{340A04FB-801D-4D33-9372-268FA29A2369}" dt="2026-03-26T19:12:17.383" v="515" actId="20577"/>
        <pc:sldMkLst>
          <pc:docMk/>
          <pc:sldMk cId="2365369647" sldId="257"/>
        </pc:sldMkLst>
        <pc:spChg chg="add mod">
          <ac:chgData name="Andrew Patterson" userId="6c8ffccf-7c1b-4173-8b93-861005bd5f70" providerId="ADAL" clId="{340A04FB-801D-4D33-9372-268FA29A2369}" dt="2026-03-26T19:12:17.383" v="515" actId="20577"/>
          <ac:spMkLst>
            <pc:docMk/>
            <pc:sldMk cId="2365369647" sldId="257"/>
            <ac:spMk id="2" creationId="{800F6D28-DBC7-0E01-FDB2-39E81800B38C}"/>
          </ac:spMkLst>
        </pc:spChg>
        <pc:spChg chg="add del mod">
          <ac:chgData name="Andrew Patterson" userId="6c8ffccf-7c1b-4173-8b93-861005bd5f70" providerId="ADAL" clId="{340A04FB-801D-4D33-9372-268FA29A2369}" dt="2026-03-26T16:05:36.675" v="313" actId="478"/>
          <ac:spMkLst>
            <pc:docMk/>
            <pc:sldMk cId="2365369647" sldId="257"/>
            <ac:spMk id="3" creationId="{197C946A-C2DE-D640-2F69-A7D33935735D}"/>
          </ac:spMkLst>
        </pc:spChg>
        <pc:spChg chg="add del mod">
          <ac:chgData name="Andrew Patterson" userId="6c8ffccf-7c1b-4173-8b93-861005bd5f70" providerId="ADAL" clId="{340A04FB-801D-4D33-9372-268FA29A2369}" dt="2026-03-26T19:09:52.716" v="505" actId="478"/>
          <ac:spMkLst>
            <pc:docMk/>
            <pc:sldMk cId="2365369647" sldId="257"/>
            <ac:spMk id="3" creationId="{E55872B3-BFF3-063E-9DA3-F16ED1D655DF}"/>
          </ac:spMkLst>
        </pc:spChg>
        <pc:spChg chg="add del mod">
          <ac:chgData name="Andrew Patterson" userId="6c8ffccf-7c1b-4173-8b93-861005bd5f70" providerId="ADAL" clId="{340A04FB-801D-4D33-9372-268FA29A2369}" dt="2026-03-26T19:11:35.744" v="509" actId="478"/>
          <ac:spMkLst>
            <pc:docMk/>
            <pc:sldMk cId="2365369647" sldId="257"/>
            <ac:spMk id="5" creationId="{ADDC7CB0-8D3E-7711-E79B-C021777A463A}"/>
          </ac:spMkLst>
        </pc:spChg>
        <pc:spChg chg="add del mod">
          <ac:chgData name="Andrew Patterson" userId="6c8ffccf-7c1b-4173-8b93-861005bd5f70" providerId="ADAL" clId="{340A04FB-801D-4D33-9372-268FA29A2369}" dt="2026-03-26T19:12:12.298" v="513" actId="478"/>
          <ac:spMkLst>
            <pc:docMk/>
            <pc:sldMk cId="2365369647" sldId="257"/>
            <ac:spMk id="6" creationId="{1CAFE13D-CE87-CD9A-DB17-4CA592A4176E}"/>
          </ac:spMkLst>
        </pc:spChg>
      </pc:sldChg>
      <pc:sldChg chg="addSp modSp new mod">
        <pc:chgData name="Andrew Patterson" userId="6c8ffccf-7c1b-4173-8b93-861005bd5f70" providerId="ADAL" clId="{340A04FB-801D-4D33-9372-268FA29A2369}" dt="2026-03-25T10:43:13.137" v="235" actId="20577"/>
        <pc:sldMkLst>
          <pc:docMk/>
          <pc:sldMk cId="312046793" sldId="258"/>
        </pc:sldMkLst>
        <pc:spChg chg="add mod">
          <ac:chgData name="Andrew Patterson" userId="6c8ffccf-7c1b-4173-8b93-861005bd5f70" providerId="ADAL" clId="{340A04FB-801D-4D33-9372-268FA29A2369}" dt="2026-03-25T10:43:13.137" v="235" actId="20577"/>
          <ac:spMkLst>
            <pc:docMk/>
            <pc:sldMk cId="312046793" sldId="258"/>
            <ac:spMk id="4" creationId="{53508C1B-7BF5-830A-804E-6AE7DBC41145}"/>
          </ac:spMkLst>
        </pc:spChg>
      </pc:sldChg>
      <pc:sldChg chg="addSp modSp new mod ord modShow">
        <pc:chgData name="Andrew Patterson" userId="6c8ffccf-7c1b-4173-8b93-861005bd5f70" providerId="ADAL" clId="{340A04FB-801D-4D33-9372-268FA29A2369}" dt="2026-03-25T10:44:23.350" v="257" actId="20577"/>
        <pc:sldMkLst>
          <pc:docMk/>
          <pc:sldMk cId="2542365128" sldId="259"/>
        </pc:sldMkLst>
        <pc:spChg chg="add mod">
          <ac:chgData name="Andrew Patterson" userId="6c8ffccf-7c1b-4173-8b93-861005bd5f70" providerId="ADAL" clId="{340A04FB-801D-4D33-9372-268FA29A2369}" dt="2026-03-25T10:44:23.350" v="257" actId="20577"/>
          <ac:spMkLst>
            <pc:docMk/>
            <pc:sldMk cId="2542365128" sldId="259"/>
            <ac:spMk id="4" creationId="{A9172333-C630-02B1-281B-9108C084B607}"/>
          </ac:spMkLst>
        </pc:spChg>
      </pc:sldChg>
      <pc:sldChg chg="addSp modSp new mod">
        <pc:chgData name="Andrew Patterson" userId="6c8ffccf-7c1b-4173-8b93-861005bd5f70" providerId="ADAL" clId="{340A04FB-801D-4D33-9372-268FA29A2369}" dt="2026-03-25T10:51:00.810" v="266" actId="14734"/>
        <pc:sldMkLst>
          <pc:docMk/>
          <pc:sldMk cId="745201155" sldId="260"/>
        </pc:sldMkLst>
        <pc:graphicFrameChg chg="add mod modGraphic">
          <ac:chgData name="Andrew Patterson" userId="6c8ffccf-7c1b-4173-8b93-861005bd5f70" providerId="ADAL" clId="{340A04FB-801D-4D33-9372-268FA29A2369}" dt="2026-03-25T10:51:00.810" v="266" actId="14734"/>
          <ac:graphicFrameMkLst>
            <pc:docMk/>
            <pc:sldMk cId="745201155" sldId="260"/>
            <ac:graphicFrameMk id="2" creationId="{FC5E338C-5B58-794D-7020-C770F0098924}"/>
          </ac:graphicFrameMkLst>
        </pc:graphicFrameChg>
      </pc:sldChg>
      <pc:sldChg chg="addSp modSp new mod">
        <pc:chgData name="Andrew Patterson" userId="6c8ffccf-7c1b-4173-8b93-861005bd5f70" providerId="ADAL" clId="{340A04FB-801D-4D33-9372-268FA29A2369}" dt="2026-03-25T10:53:43.175" v="305" actId="14100"/>
        <pc:sldMkLst>
          <pc:docMk/>
          <pc:sldMk cId="555451715" sldId="261"/>
        </pc:sldMkLst>
        <pc:spChg chg="add mod">
          <ac:chgData name="Andrew Patterson" userId="6c8ffccf-7c1b-4173-8b93-861005bd5f70" providerId="ADAL" clId="{340A04FB-801D-4D33-9372-268FA29A2369}" dt="2026-03-25T10:53:43.175" v="305" actId="14100"/>
          <ac:spMkLst>
            <pc:docMk/>
            <pc:sldMk cId="555451715" sldId="261"/>
            <ac:spMk id="3" creationId="{A192EE2F-9339-27A8-FF8F-20D011E640D7}"/>
          </ac:spMkLst>
        </pc:spChg>
      </pc:sldChg>
      <pc:sldChg chg="addSp modSp new mod ord modAnim">
        <pc:chgData name="Andrew Patterson" userId="6c8ffccf-7c1b-4173-8b93-861005bd5f70" providerId="ADAL" clId="{340A04FB-801D-4D33-9372-268FA29A2369}" dt="2026-03-26T16:39:58.360" v="484" actId="14100"/>
        <pc:sldMkLst>
          <pc:docMk/>
          <pc:sldMk cId="3694972951" sldId="262"/>
        </pc:sldMkLst>
        <pc:spChg chg="add mod">
          <ac:chgData name="Andrew Patterson" userId="6c8ffccf-7c1b-4173-8b93-861005bd5f70" providerId="ADAL" clId="{340A04FB-801D-4D33-9372-268FA29A2369}" dt="2026-03-26T16:39:58.360" v="484" actId="14100"/>
          <ac:spMkLst>
            <pc:docMk/>
            <pc:sldMk cId="3694972951" sldId="262"/>
            <ac:spMk id="3" creationId="{C2071E71-DA4D-0DF2-472B-789631B1DED7}"/>
          </ac:spMkLst>
        </pc:spChg>
        <pc:graphicFrameChg chg="add mod modGraphic">
          <ac:chgData name="Andrew Patterson" userId="6c8ffccf-7c1b-4173-8b93-861005bd5f70" providerId="ADAL" clId="{340A04FB-801D-4D33-9372-268FA29A2369}" dt="2026-03-26T16:37:52.294" v="474"/>
          <ac:graphicFrameMkLst>
            <pc:docMk/>
            <pc:sldMk cId="3694972951" sldId="262"/>
            <ac:graphicFrameMk id="5" creationId="{A170DF4C-2F60-DC0D-C674-421A49DDFE4E}"/>
          </ac:graphicFrameMkLst>
        </pc:graphicFrameChg>
        <pc:graphicFrameChg chg="add mod modGraphic">
          <ac:chgData name="Andrew Patterson" userId="6c8ffccf-7c1b-4173-8b93-861005bd5f70" providerId="ADAL" clId="{340A04FB-801D-4D33-9372-268FA29A2369}" dt="2026-03-26T16:37:58.436" v="475"/>
          <ac:graphicFrameMkLst>
            <pc:docMk/>
            <pc:sldMk cId="3694972951" sldId="262"/>
            <ac:graphicFrameMk id="7" creationId="{71BBB11C-F785-8EE9-E81A-7E3AAE62C38B}"/>
          </ac:graphicFrameMkLst>
        </pc:graphicFrameChg>
      </pc:sldChg>
      <pc:sldChg chg="addSp modSp new del mod modAnim">
        <pc:chgData name="Andrew Patterson" userId="6c8ffccf-7c1b-4173-8b93-861005bd5f70" providerId="ADAL" clId="{340A04FB-801D-4D33-9372-268FA29A2369}" dt="2026-03-26T16:42:51.363" v="500" actId="47"/>
        <pc:sldMkLst>
          <pc:docMk/>
          <pc:sldMk cId="4064333278" sldId="263"/>
        </pc:sldMkLst>
        <pc:spChg chg="add mod">
          <ac:chgData name="Andrew Patterson" userId="6c8ffccf-7c1b-4173-8b93-861005bd5f70" providerId="ADAL" clId="{340A04FB-801D-4D33-9372-268FA29A2369}" dt="2026-03-26T16:24:03.236" v="344" actId="1076"/>
          <ac:spMkLst>
            <pc:docMk/>
            <pc:sldMk cId="4064333278" sldId="263"/>
            <ac:spMk id="3" creationId="{AF0068CB-AAF2-14E8-9647-2C7F01905E8F}"/>
          </ac:spMkLst>
        </pc:spChg>
      </pc:sldChg>
      <pc:sldChg chg="addSp modSp new mod modShow">
        <pc:chgData name="Andrew Patterson" userId="6c8ffccf-7c1b-4173-8b93-861005bd5f70" providerId="ADAL" clId="{340A04FB-801D-4D33-9372-268FA29A2369}" dt="2026-03-26T16:37:08.024" v="469" actId="729"/>
        <pc:sldMkLst>
          <pc:docMk/>
          <pc:sldMk cId="3901117999" sldId="264"/>
        </pc:sldMkLst>
        <pc:spChg chg="add mod">
          <ac:chgData name="Andrew Patterson" userId="6c8ffccf-7c1b-4173-8b93-861005bd5f70" providerId="ADAL" clId="{340A04FB-801D-4D33-9372-268FA29A2369}" dt="2026-03-26T16:31:21.517" v="390" actId="1076"/>
          <ac:spMkLst>
            <pc:docMk/>
            <pc:sldMk cId="3901117999" sldId="264"/>
            <ac:spMk id="3" creationId="{64BADE4C-2241-5DDD-FC83-9B3CFAB31701}"/>
          </ac:spMkLst>
        </pc:spChg>
      </pc:sldChg>
      <pc:sldChg chg="addSp modSp new mod modShow">
        <pc:chgData name="Andrew Patterson" userId="6c8ffccf-7c1b-4173-8b93-861005bd5f70" providerId="ADAL" clId="{340A04FB-801D-4D33-9372-268FA29A2369}" dt="2026-03-26T16:37:10.988" v="470" actId="729"/>
        <pc:sldMkLst>
          <pc:docMk/>
          <pc:sldMk cId="3727448119" sldId="265"/>
        </pc:sldMkLst>
        <pc:spChg chg="add mod">
          <ac:chgData name="Andrew Patterson" userId="6c8ffccf-7c1b-4173-8b93-861005bd5f70" providerId="ADAL" clId="{340A04FB-801D-4D33-9372-268FA29A2369}" dt="2026-03-26T16:30:55.606" v="386" actId="1076"/>
          <ac:spMkLst>
            <pc:docMk/>
            <pc:sldMk cId="3727448119" sldId="265"/>
            <ac:spMk id="3" creationId="{CF096475-E6FC-C0F0-A0DD-55E0569B7228}"/>
          </ac:spMkLst>
        </pc:spChg>
      </pc:sldChg>
      <pc:sldChg chg="addSp delSp modSp new del mod">
        <pc:chgData name="Andrew Patterson" userId="6c8ffccf-7c1b-4173-8b93-861005bd5f70" providerId="ADAL" clId="{340A04FB-801D-4D33-9372-268FA29A2369}" dt="2026-03-26T16:35:38.006" v="440" actId="47"/>
        <pc:sldMkLst>
          <pc:docMk/>
          <pc:sldMk cId="2245734885" sldId="266"/>
        </pc:sldMkLst>
        <pc:spChg chg="add del mod">
          <ac:chgData name="Andrew Patterson" userId="6c8ffccf-7c1b-4173-8b93-861005bd5f70" providerId="ADAL" clId="{340A04FB-801D-4D33-9372-268FA29A2369}" dt="2026-03-26T16:34:06.196" v="429" actId="22"/>
          <ac:spMkLst>
            <pc:docMk/>
            <pc:sldMk cId="2245734885" sldId="266"/>
            <ac:spMk id="7" creationId="{ACF580B4-0D6A-AA16-FBDD-64644C1EDF8B}"/>
          </ac:spMkLst>
        </pc:spChg>
        <pc:graphicFrameChg chg="add mod modGraphic">
          <ac:chgData name="Andrew Patterson" userId="6c8ffccf-7c1b-4173-8b93-861005bd5f70" providerId="ADAL" clId="{340A04FB-801D-4D33-9372-268FA29A2369}" dt="2026-03-26T16:32:57.783" v="424"/>
          <ac:graphicFrameMkLst>
            <pc:docMk/>
            <pc:sldMk cId="2245734885" sldId="266"/>
            <ac:graphicFrameMk id="3" creationId="{B33EB1C2-47C2-DED4-B685-E1D874A6F5EF}"/>
          </ac:graphicFrameMkLst>
        </pc:graphicFrameChg>
        <pc:graphicFrameChg chg="add mod modGraphic">
          <ac:chgData name="Andrew Patterson" userId="6c8ffccf-7c1b-4173-8b93-861005bd5f70" providerId="ADAL" clId="{340A04FB-801D-4D33-9372-268FA29A2369}" dt="2026-03-26T16:33:02.921" v="425"/>
          <ac:graphicFrameMkLst>
            <pc:docMk/>
            <pc:sldMk cId="2245734885" sldId="266"/>
            <ac:graphicFrameMk id="5" creationId="{635A8B3F-C50B-E0BC-A55B-EE7DD3E3A6ED}"/>
          </ac:graphicFrameMkLst>
        </pc:graphicFrameChg>
      </pc:sldChg>
      <pc:sldChg chg="add del">
        <pc:chgData name="Andrew Patterson" userId="6c8ffccf-7c1b-4173-8b93-861005bd5f70" providerId="ADAL" clId="{340A04FB-801D-4D33-9372-268FA29A2369}" dt="2026-03-26T16:42:48.276" v="499" actId="47"/>
        <pc:sldMkLst>
          <pc:docMk/>
          <pc:sldMk cId="1932901401" sldId="267"/>
        </pc:sldMkLst>
      </pc:sldChg>
      <pc:sldChg chg="addSp delSp modSp add mod delAnim modAnim">
        <pc:chgData name="Andrew Patterson" userId="6c8ffccf-7c1b-4173-8b93-861005bd5f70" providerId="ADAL" clId="{340A04FB-801D-4D33-9372-268FA29A2369}" dt="2026-03-26T16:42:08.687" v="498" actId="255"/>
        <pc:sldMkLst>
          <pc:docMk/>
          <pc:sldMk cId="2206879270" sldId="268"/>
        </pc:sldMkLst>
        <pc:spChg chg="add mod">
          <ac:chgData name="Andrew Patterson" userId="6c8ffccf-7c1b-4173-8b93-861005bd5f70" providerId="ADAL" clId="{340A04FB-801D-4D33-9372-268FA29A2369}" dt="2026-03-26T16:42:08.687" v="498" actId="255"/>
          <ac:spMkLst>
            <pc:docMk/>
            <pc:sldMk cId="2206879270" sldId="268"/>
            <ac:spMk id="2" creationId="{5C96A3EB-9923-9C06-E3DE-61B5017FBF0B}"/>
          </ac:spMkLst>
        </pc:spChg>
        <pc:spChg chg="del mod">
          <ac:chgData name="Andrew Patterson" userId="6c8ffccf-7c1b-4173-8b93-861005bd5f70" providerId="ADAL" clId="{340A04FB-801D-4D33-9372-268FA29A2369}" dt="2026-03-26T16:40:17.794" v="487" actId="478"/>
          <ac:spMkLst>
            <pc:docMk/>
            <pc:sldMk cId="2206879270" sldId="268"/>
            <ac:spMk id="3" creationId="{749B1137-DE82-3316-0F1B-0DE7E02FEE5B}"/>
          </ac:spMkLst>
        </pc:spChg>
        <pc:graphicFrameChg chg="mod">
          <ac:chgData name="Andrew Patterson" userId="6c8ffccf-7c1b-4173-8b93-861005bd5f70" providerId="ADAL" clId="{340A04FB-801D-4D33-9372-268FA29A2369}" dt="2026-03-26T16:41:51.056" v="495"/>
          <ac:graphicFrameMkLst>
            <pc:docMk/>
            <pc:sldMk cId="2206879270" sldId="268"/>
            <ac:graphicFrameMk id="5" creationId="{C9383FD4-C0FA-C118-71D4-3C33CE5C8CCE}"/>
          </ac:graphicFrameMkLst>
        </pc:graphicFrameChg>
        <pc:graphicFrameChg chg="mod">
          <ac:chgData name="Andrew Patterson" userId="6c8ffccf-7c1b-4173-8b93-861005bd5f70" providerId="ADAL" clId="{340A04FB-801D-4D33-9372-268FA29A2369}" dt="2026-03-26T16:41:55.469" v="496"/>
          <ac:graphicFrameMkLst>
            <pc:docMk/>
            <pc:sldMk cId="2206879270" sldId="268"/>
            <ac:graphicFrameMk id="7" creationId="{FBE36ED9-F575-93F8-756B-49752B700C3B}"/>
          </ac:graphicFrameMkLst>
        </pc:graphicFrameChg>
      </pc:sldChg>
      <pc:sldChg chg="del">
        <pc:chgData name="Andrew Patterson" userId="6c8ffccf-7c1b-4173-8b93-861005bd5f70" providerId="ADAL" clId="{340A04FB-801D-4D33-9372-268FA29A2369}" dt="2026-03-27T11:17:09.859" v="598" actId="47"/>
        <pc:sldMkLst>
          <pc:docMk/>
          <pc:sldMk cId="2938589452" sldId="346"/>
        </pc:sldMkLst>
      </pc:sldChg>
      <pc:sldChg chg="modSp add mod ord">
        <pc:chgData name="Andrew Patterson" userId="6c8ffccf-7c1b-4173-8b93-861005bd5f70" providerId="ADAL" clId="{340A04FB-801D-4D33-9372-268FA29A2369}" dt="2026-03-27T11:17:39.006" v="599" actId="2711"/>
        <pc:sldMkLst>
          <pc:docMk/>
          <pc:sldMk cId="305424352" sldId="347"/>
        </pc:sldMkLst>
        <pc:spChg chg="mod">
          <ac:chgData name="Andrew Patterson" userId="6c8ffccf-7c1b-4173-8b93-861005bd5f70" providerId="ADAL" clId="{340A04FB-801D-4D33-9372-268FA29A2369}" dt="2026-03-27T11:17:39.006" v="599" actId="2711"/>
          <ac:spMkLst>
            <pc:docMk/>
            <pc:sldMk cId="305424352" sldId="347"/>
            <ac:spMk id="2" creationId="{31CB387B-0DA1-9EBA-B363-97E9CF5FE7CC}"/>
          </ac:spMkLst>
        </pc:spChg>
      </pc:sldChg>
    </pc:docChg>
  </pc:docChgLst>
  <pc:docChgLst>
    <pc:chgData clId="Web-{9E601AEA-890D-4AC3-BE41-2853FAF71F2C}"/>
    <pc:docChg chg="modSld">
      <pc:chgData name="" userId="" providerId="" clId="Web-{9E601AEA-890D-4AC3-BE41-2853FAF71F2C}" dt="2026-03-25T09:59:17.351" v="0" actId="20577"/>
      <pc:docMkLst>
        <pc:docMk/>
      </pc:docMkLst>
      <pc:sldChg chg="modSp">
        <pc:chgData name="" userId="" providerId="" clId="Web-{9E601AEA-890D-4AC3-BE41-2853FAF71F2C}" dt="2026-03-25T09:59:17.351" v="0" actId="20577"/>
        <pc:sldMkLst>
          <pc:docMk/>
          <pc:sldMk cId="109857222" sldId="256"/>
        </pc:sldMkLst>
        <pc:spChg chg="mod">
          <ac:chgData name="" userId="" providerId="" clId="Web-{9E601AEA-890D-4AC3-BE41-2853FAF71F2C}" dt="2026-03-25T09:59:17.351" v="0" actId="20577"/>
          <ac:spMkLst>
            <pc:docMk/>
            <pc:sldMk cId="109857222" sldId="256"/>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27/03/2026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27/03/2026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27/03/2026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26/03/2026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26/03/2026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26/03/2026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26/03/2026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26/03/2026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26/03/2026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30.xml"/><Relationship Id="rId7" Type="http://schemas.openxmlformats.org/officeDocument/2006/relationships/slideLayout" Target="../slideLayouts/slideLayout70.xml"/><Relationship Id="rId12" Type="http://schemas.openxmlformats.org/officeDocument/2006/relationships/theme" Target="../theme/theme10.xml"/><Relationship Id="rId2" Type="http://schemas.openxmlformats.org/officeDocument/2006/relationships/slideLayout" Target="../slideLayouts/slideLayout20.xml"/><Relationship Id="rId1" Type="http://schemas.openxmlformats.org/officeDocument/2006/relationships/slideLayout" Target="../slideLayouts/slideLayout12.xml"/><Relationship Id="rId6" Type="http://schemas.openxmlformats.org/officeDocument/2006/relationships/slideLayout" Target="../slideLayouts/slideLayout60.xml"/><Relationship Id="rId11" Type="http://schemas.openxmlformats.org/officeDocument/2006/relationships/slideLayout" Target="../slideLayouts/slideLayout110.xml"/><Relationship Id="rId5" Type="http://schemas.openxmlformats.org/officeDocument/2006/relationships/slideLayout" Target="../slideLayouts/slideLayout50.xml"/><Relationship Id="rId10" Type="http://schemas.openxmlformats.org/officeDocument/2006/relationships/slideLayout" Target="../slideLayouts/slideLayout100.xml"/><Relationship Id="rId4" Type="http://schemas.openxmlformats.org/officeDocument/2006/relationships/slideLayout" Target="../slideLayouts/slideLayout40.xml"/><Relationship Id="rId9"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27/03/2026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26/03/2026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thecardiffandvalecollege.sharepoint.com/:b:/s/Section_ESCCCP24_2025_2026/IQCS57qxRe61SIr0aPtapzaKAXIIa87ZzRdJ73Ohmf337rw?e=AA6Evp" TargetMode="External"/><Relationship Id="rId2" Type="http://schemas.openxmlformats.org/officeDocument/2006/relationships/hyperlink" Target="https://thecardiffandvalecollege.sharepoint.com/:p:/s/Section_ESCCCP24_2025_2026/IQAxfcSP4ut9RKHJnb4fkrQkAS6X_hV7fkJ2W_lZ0TOS_zs?e=k6Ztx5"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thecardiffandvalecollege.sharepoint.com/:b:/s/Section_ESCCCP24_2025_2026/IQBd2zdRK3umT5cpeaVaqS9YAbI3BpxMhGUCq6cc6b38J5g?e=lV4YQZ" TargetMode="External"/><Relationship Id="rId2" Type="http://schemas.openxmlformats.org/officeDocument/2006/relationships/hyperlink" Target="https://thecardiffandvalecollege.sharepoint.com/:f:/s/Section_ESCCCP24_2025_2026/IgA4OGQn9S4kSpKX7qm2iLO7Ae5hT2QpEDry2yAquhJymnM?e=2ibKSc" TargetMode="External"/><Relationship Id="rId1" Type="http://schemas.openxmlformats.org/officeDocument/2006/relationships/slideLayout" Target="../slideLayouts/slideLayout7.xml"/><Relationship Id="rId4" Type="http://schemas.openxmlformats.org/officeDocument/2006/relationships/hyperlink" Target="https://thecardiffandvalecollege.sharepoint.com/:b:/s/Section_ESCCCP24_2025_2026/IQDCrhhJHlEjQ6bIMABpR5AXAQ6yerjk-T6eFvhPsIv8yhE?e=Ua5gq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 Target="slide120.xml"/><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slide" Target="slide130.xml"/><Relationship Id="rId5" Type="http://schemas.openxmlformats.org/officeDocument/2006/relationships/image" Target="../media/image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 Target="slide120.xml"/><Relationship Id="rId7"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 Target="slide130.xml"/><Relationship Id="rId5" Type="http://schemas.openxmlformats.org/officeDocument/2006/relationships/image" Target="../media/image4.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thecardiffandvalecollege.sharepoint.com/:b:/s/Section_ESCCCP24_2025_2026/IQBd2zdRK3umT5cpeaVaqS9YAbI3BpxMhGUCq6cc6b38J5g?e=lV4YQZ" TargetMode="External"/><Relationship Id="rId2" Type="http://schemas.openxmlformats.org/officeDocument/2006/relationships/hyperlink" Target="https://thecardiffandvalecollege.sharepoint.com/:f:/s/Section_ESCCCP24_2025_2026/IgA4OGQn9S4kSpKX7qm2iLO7Ae5hT2QpEDry2yAquhJymnM?e=2ibKSc" TargetMode="External"/><Relationship Id="rId1" Type="http://schemas.openxmlformats.org/officeDocument/2006/relationships/slideLayout" Target="../slideLayouts/slideLayout7.xml"/><Relationship Id="rId4" Type="http://schemas.openxmlformats.org/officeDocument/2006/relationships/hyperlink" Target="https://thecardiffandvalecollege.sharepoint.com/:b:/s/Section_ESCCCP24_2025_2026/IQDCrhhJHlEjQ6bIMABpR5AXAQ6yerjk-T6eFvhPsIv8yhE?e=Ua5gq9"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ea typeface="+mj-lt"/>
                <a:cs typeface="+mj-lt"/>
              </a:rPr>
              <a:t>5) ESCCCP24 2025-2026 </a:t>
            </a:r>
            <a:br>
              <a:rPr lang="en-GB" dirty="0">
                <a:ea typeface="+mj-lt"/>
                <a:cs typeface="+mj-lt"/>
              </a:rPr>
            </a:br>
            <a:r>
              <a:rPr lang="en-GB">
                <a:ea typeface="+mj-lt"/>
                <a:cs typeface="+mj-lt"/>
              </a:rPr>
              <a:t>26 Mar 2026</a:t>
            </a:r>
            <a:endParaRPr lang="en-US"/>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6C6785-5287-802A-5CCB-9E287EB68794}"/>
              </a:ext>
            </a:extLst>
          </p:cNvPr>
          <p:cNvSpPr txBox="1"/>
          <p:nvPr/>
        </p:nvSpPr>
        <p:spPr>
          <a:xfrm>
            <a:off x="557134" y="1074509"/>
            <a:ext cx="11077731" cy="4708981"/>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0" b="0" i="0" u="none" strike="noStrike" kern="1200" cap="none" spc="0" normalizeH="0" baseline="0" noProof="0" dirty="0">
                <a:ln>
                  <a:noFill/>
                </a:ln>
                <a:solidFill>
                  <a:prstClr val="white"/>
                </a:solidFill>
                <a:effectLst/>
                <a:uLnTx/>
                <a:uFillTx/>
                <a:latin typeface="Tw Cen MT Condensed Extra Bold" panose="020B0803020202020204" pitchFamily="34" charset="0"/>
                <a:ea typeface="+mn-ea"/>
                <a:cs typeface="+mn-cs"/>
              </a:rPr>
              <a:t>Check-in</a:t>
            </a:r>
          </a:p>
          <a:p>
            <a:pPr algn="ctr">
              <a:defRPr/>
            </a:pPr>
            <a:r>
              <a:rPr lang="en-GB" sz="15000">
                <a:solidFill>
                  <a:prstClr val="white"/>
                </a:solidFill>
                <a:latin typeface="Tw Cen MT Condensed Extra Bold"/>
              </a:rPr>
              <a:t> 26</a:t>
            </a:r>
            <a:r>
              <a:rPr kumimoji="0" lang="en-GB" sz="15000" b="0" i="0" u="none" strike="noStrike" kern="1200" cap="none" spc="0" normalizeH="0" baseline="0" noProof="0">
                <a:ln>
                  <a:noFill/>
                </a:ln>
                <a:solidFill>
                  <a:prstClr val="white"/>
                </a:solidFill>
                <a:effectLst/>
                <a:uLnTx/>
                <a:uFillTx/>
                <a:latin typeface="Tw Cen MT Condensed Extra Bold"/>
              </a:rPr>
              <a:t> Mar 2026</a:t>
            </a:r>
            <a:endParaRPr lang="en-GB" sz="15000" b="0" i="0" u="none" strike="noStrike" kern="1200" cap="none" spc="0" normalizeH="0" baseline="0" noProof="0">
              <a:ln>
                <a:noFill/>
              </a:ln>
              <a:solidFill>
                <a:prstClr val="white"/>
              </a:solidFill>
              <a:effectLst/>
              <a:uLnTx/>
              <a:uFillTx/>
              <a:latin typeface="Tw Cen MT Condensed Extra Bold"/>
            </a:endParaRPr>
          </a:p>
        </p:txBody>
      </p:sp>
    </p:spTree>
    <p:extLst>
      <p:ext uri="{BB962C8B-B14F-4D97-AF65-F5344CB8AC3E}">
        <p14:creationId xmlns:p14="http://schemas.microsoft.com/office/powerpoint/2010/main" val="334557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6D394D-A124-0A37-92F7-266E85F80F9E}"/>
              </a:ext>
            </a:extLst>
          </p:cNvPr>
          <p:cNvSpPr>
            <a:spLocks noChangeArrowheads="1"/>
          </p:cNvSpPr>
          <p:nvPr/>
        </p:nvSpPr>
        <p:spPr bwMode="auto">
          <a:xfrm>
            <a:off x="879878" y="417915"/>
            <a:ext cx="9441759"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defRPr/>
            </a:pPr>
            <a:r>
              <a:rPr kumimoji="0" lang="en-US" altLang="en-US" sz="3200" b="0" i="0" u="sng" strike="noStrike" kern="1200" cap="none" spc="0" normalizeH="0" baseline="0" noProof="0">
                <a:ln>
                  <a:noFill/>
                </a:ln>
                <a:solidFill>
                  <a:prstClr val="black"/>
                </a:solidFill>
                <a:effectLst/>
                <a:uLnTx/>
                <a:uFillTx/>
                <a:latin typeface="Abadi ExtraLight" panose="020B0204020104020204" pitchFamily="34" charset="0"/>
              </a:rPr>
              <a:t>Work from 19 Mar 2026</a:t>
            </a:r>
          </a:p>
          <a:p>
            <a:pPr eaLnBrk="0" fontAlgn="base" hangingPunct="0">
              <a:spcBef>
                <a:spcPct val="0"/>
              </a:spcBef>
              <a:spcAft>
                <a:spcPct val="0"/>
              </a:spcAft>
              <a:defRPr/>
            </a:pPr>
            <a:r>
              <a:rPr kumimoji="0" lang="en-US" altLang="en-US" sz="3200" b="0" i="0" u="none" strike="noStrike" kern="1200" cap="none" spc="0" normalizeH="0" baseline="0" noProof="0">
                <a:ln>
                  <a:noFill/>
                </a:ln>
                <a:solidFill>
                  <a:prstClr val="black"/>
                </a:solidFill>
                <a:effectLst/>
                <a:uLnTx/>
                <a:uFillTx/>
                <a:latin typeface="Abadi ExtraLight" panose="020B0204020104020204" pitchFamily="34" charset="0"/>
              </a:rPr>
              <a:t>Using  </a:t>
            </a:r>
            <a:r>
              <a:rPr kumimoji="0" lang="en-US" altLang="en-US" sz="3200" b="0" i="0" u="none" strike="noStrike" kern="1200" cap="none" spc="0" normalizeH="0" baseline="0" noProof="0">
                <a:ln>
                  <a:noFill/>
                </a:ln>
                <a:solidFill>
                  <a:prstClr val="black"/>
                </a:solidFill>
                <a:effectLst/>
                <a:uLnTx/>
                <a:uFillTx/>
                <a:latin typeface="Tw Cen MT Condensed Extra Bold" panose="020B0803020202020204" pitchFamily="34" charset="0"/>
                <a:hlinkClick r:id="rId2"/>
              </a:rPr>
              <a:t>Writing a film review.pptx</a:t>
            </a:r>
            <a:r>
              <a:rPr kumimoji="0" lang="en-US" altLang="en-US" sz="3200" b="0" i="0" u="none" strike="noStrike" kern="1200" cap="none" spc="0" normalizeH="0" baseline="0" noProof="0">
                <a:ln>
                  <a:noFill/>
                </a:ln>
                <a:solidFill>
                  <a:prstClr val="black"/>
                </a:solidFill>
                <a:effectLst/>
                <a:uLnTx/>
                <a:uFillTx/>
                <a:latin typeface="Tw Cen MT Condensed Extra Bold" panose="020B0803020202020204" pitchFamily="34" charset="0"/>
              </a:rPr>
              <a:t> </a:t>
            </a:r>
            <a:r>
              <a:rPr kumimoji="0" lang="en-US" altLang="en-US" sz="3200" b="0" i="0" u="none" strike="noStrike" kern="1200" cap="none" spc="0" normalizeH="0" baseline="0" noProof="0">
                <a:ln>
                  <a:noFill/>
                </a:ln>
                <a:solidFill>
                  <a:prstClr val="black"/>
                </a:solidFill>
                <a:effectLst/>
                <a:uLnTx/>
                <a:uFillTx/>
                <a:latin typeface="Abadi ExtraLight" panose="020B0204020104020204" pitchFamily="34" charset="0"/>
              </a:rPr>
              <a:t>made from </a:t>
            </a:r>
          </a:p>
          <a:p>
            <a:pPr eaLnBrk="0" fontAlgn="base" hangingPunct="0">
              <a:spcBef>
                <a:spcPct val="0"/>
              </a:spcBef>
              <a:spcAft>
                <a:spcPct val="0"/>
              </a:spcAft>
              <a:defRPr/>
            </a:pPr>
            <a:r>
              <a:rPr kumimoji="0" lang="en-US" altLang="en-US" sz="3200" b="0" i="0" u="none" strike="noStrike" cap="none" normalizeH="0" baseline="0">
                <a:ln>
                  <a:noFill/>
                </a:ln>
                <a:solidFill>
                  <a:schemeClr val="tx1"/>
                </a:solidFill>
                <a:effectLst/>
                <a:latin typeface="Tw Cen MT Condensed Extra Bold" panose="020B0803020202020204" pitchFamily="34" charset="0"/>
                <a:hlinkClick r:id="rId3"/>
              </a:rPr>
              <a:t>07) PlusPreIntU7 Film review.pdf</a:t>
            </a:r>
            <a:r>
              <a:rPr kumimoji="0" lang="en-US" altLang="en-US" sz="3200" b="0" i="0" u="none" strike="noStrike" kern="1200" cap="none" spc="0" normalizeH="0" baseline="0" noProof="0">
                <a:ln>
                  <a:noFill/>
                </a:ln>
                <a:solidFill>
                  <a:prstClr val="black"/>
                </a:solidFill>
                <a:effectLst/>
                <a:uLnTx/>
                <a:uFillTx/>
                <a:latin typeface="Abadi ExtraLight" panose="020B0204020104020204" pitchFamily="34" charset="0"/>
              </a:rPr>
              <a:t>, we </a:t>
            </a:r>
            <a:endParaRPr kumimoji="0" lang="en-US" altLang="en-US" sz="3200" b="0" i="0" u="none" strike="noStrike" cap="none" normalizeH="0" baseline="0">
              <a:ln>
                <a:noFill/>
              </a:ln>
              <a:solidFill>
                <a:schemeClr val="tx1"/>
              </a:solidFill>
              <a:effectLst/>
              <a:latin typeface="Tw Cen MT Condensed Extra Bold" panose="020B0803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altLang="en-US" sz="3200">
                <a:solidFill>
                  <a:prstClr val="black"/>
                </a:solidFill>
                <a:latin typeface="Abadi ExtraLight" panose="020B0204020104020204" pitchFamily="34" charset="0"/>
              </a:rPr>
              <a:t>l</a:t>
            </a:r>
            <a:r>
              <a:rPr kumimoji="0" lang="en-US" altLang="en-US" sz="3200" b="0" i="0" u="none" strike="noStrike" kern="1200" cap="none" spc="0" normalizeH="0" baseline="0" noProof="0">
                <a:ln>
                  <a:noFill/>
                </a:ln>
                <a:solidFill>
                  <a:prstClr val="black"/>
                </a:solidFill>
                <a:effectLst/>
                <a:uLnTx/>
                <a:uFillTx/>
                <a:latin typeface="Abadi ExtraLight" panose="020B0204020104020204" pitchFamily="34" charset="0"/>
              </a:rPr>
              <a:t>earnt to write a film review.</a:t>
            </a:r>
          </a:p>
          <a:p>
            <a:pPr marR="0" lvl="0" algn="l" defTabSz="914400" rtl="0" eaLnBrk="0" fontAlgn="base" latinLnBrk="0" hangingPunct="0">
              <a:lnSpc>
                <a:spcPct val="100000"/>
              </a:lnSpc>
              <a:spcBef>
                <a:spcPct val="0"/>
              </a:spcBef>
              <a:spcAft>
                <a:spcPct val="0"/>
              </a:spcAft>
              <a:buClrTx/>
              <a:buSzTx/>
              <a:tabLst/>
              <a:defRPr/>
            </a:pPr>
            <a:r>
              <a:rPr lang="en-US" altLang="en-US" sz="3200" u="sng">
                <a:solidFill>
                  <a:prstClr val="black"/>
                </a:solidFill>
                <a:latin typeface="Abadi ExtraLight" panose="020B0204020104020204" pitchFamily="34" charset="0"/>
              </a:rPr>
              <a:t>Homework</a:t>
            </a:r>
          </a:p>
          <a:p>
            <a:pPr marR="0" lvl="0" algn="l" defTabSz="914400" rtl="0" eaLnBrk="0" fontAlgn="base" latinLnBrk="0" hangingPunct="0">
              <a:lnSpc>
                <a:spcPct val="100000"/>
              </a:lnSpc>
              <a:spcBef>
                <a:spcPct val="0"/>
              </a:spcBef>
              <a:spcAft>
                <a:spcPct val="0"/>
              </a:spcAft>
              <a:buClrTx/>
              <a:buSzTx/>
              <a:tabLst/>
              <a:defRPr/>
            </a:pPr>
            <a:r>
              <a:rPr kumimoji="0" lang="en-US" altLang="en-US" sz="3200" b="0" i="0" u="none" strike="noStrike" cap="none" normalizeH="0" baseline="0">
                <a:ln>
                  <a:noFill/>
                </a:ln>
                <a:solidFill>
                  <a:schemeClr val="tx1"/>
                </a:solidFill>
                <a:effectLst/>
                <a:latin typeface="Tw Cen MT Condensed Extra Bold" panose="020B0803020202020204" pitchFamily="34" charset="0"/>
                <a:hlinkClick r:id="rId3"/>
              </a:rPr>
              <a:t>07) PlusPreIntU7 Film review.pdf </a:t>
            </a:r>
            <a:endParaRPr kumimoji="0" lang="en-US" altLang="en-US" sz="3200" b="0" i="0" u="none" strike="noStrike" cap="none" normalizeH="0" baseline="0">
              <a:ln>
                <a:noFill/>
              </a:ln>
              <a:solidFill>
                <a:schemeClr val="tx1"/>
              </a:solidFill>
              <a:effectLst/>
              <a:latin typeface="Tw Cen MT Condensed Extra Bold" panose="020B0803020202020204" pitchFamily="34" charset="0"/>
            </a:endParaRPr>
          </a:p>
          <a:p>
            <a:pPr eaLnBrk="0" fontAlgn="base" hangingPunct="0">
              <a:spcBef>
                <a:spcPct val="0"/>
              </a:spcBef>
              <a:spcAft>
                <a:spcPct val="0"/>
              </a:spcAft>
              <a:defRPr/>
            </a:pPr>
            <a:r>
              <a:rPr kumimoji="0" lang="en-US" altLang="en-US" sz="3200" b="0" i="0" strike="noStrike" kern="1200" cap="none" spc="0" normalizeH="0" baseline="0" noProof="0">
                <a:ln>
                  <a:noFill/>
                </a:ln>
                <a:solidFill>
                  <a:prstClr val="black"/>
                </a:solidFill>
                <a:effectLst/>
                <a:uLnTx/>
                <a:uFillTx/>
                <a:latin typeface="Abadi ExtraLight" panose="020B0204020104020204" pitchFamily="34" charset="0"/>
              </a:rPr>
              <a:t>Using the plan template </a:t>
            </a:r>
            <a:r>
              <a:rPr kumimoji="0" lang="en-US" altLang="en-US" sz="3200" b="0" i="0" strike="noStrike" kern="1200" cap="none" spc="0" normalizeH="0" baseline="0" noProof="0" err="1">
                <a:ln>
                  <a:noFill/>
                </a:ln>
                <a:solidFill>
                  <a:prstClr val="black"/>
                </a:solidFill>
                <a:effectLst/>
                <a:uLnTx/>
                <a:uFillTx/>
                <a:latin typeface="Abadi ExtraLight" panose="020B0204020104020204" pitchFamily="34" charset="0"/>
              </a:rPr>
              <a:t>i</a:t>
            </a:r>
            <a:r>
              <a:rPr lang="en-US" altLang="en-US" sz="3200">
                <a:solidFill>
                  <a:prstClr val="black"/>
                </a:solidFill>
                <a:latin typeface="Abadi ExtraLight" panose="020B0204020104020204" pitchFamily="34" charset="0"/>
              </a:rPr>
              <a:t>n </a:t>
            </a:r>
            <a:r>
              <a:rPr kumimoji="0" lang="en-US" altLang="en-US" sz="3200" b="0" i="0" strike="noStrike" kern="1200" cap="none" spc="0" normalizeH="0" baseline="0" noProof="0">
                <a:ln>
                  <a:noFill/>
                </a:ln>
                <a:solidFill>
                  <a:prstClr val="black"/>
                </a:solidFill>
                <a:effectLst/>
                <a:uLnTx/>
                <a:uFillTx/>
                <a:latin typeface="Abadi ExtraLight" panose="020B0204020104020204" pitchFamily="34" charset="0"/>
              </a:rPr>
              <a:t>Ex 3 p. 56 of </a:t>
            </a:r>
            <a:r>
              <a:rPr lang="en-US" altLang="en-US" sz="3200">
                <a:latin typeface="Tw Cen MT Condensed Extra Bold" panose="020B0803020202020204" pitchFamily="34" charset="0"/>
                <a:hlinkClick r:id="rId3"/>
              </a:rPr>
              <a:t>07) PlusPreIntU7 Film review.pdf </a:t>
            </a:r>
            <a:r>
              <a:rPr kumimoji="0" lang="en-US" altLang="en-US" sz="3200" b="0" i="0" strike="noStrike" kern="1200" cap="none" spc="0" normalizeH="0" baseline="0" noProof="0">
                <a:ln>
                  <a:noFill/>
                </a:ln>
                <a:solidFill>
                  <a:prstClr val="black"/>
                </a:solidFill>
                <a:effectLst/>
                <a:uLnTx/>
                <a:uFillTx/>
                <a:latin typeface="Abadi ExtraLight" panose="020B0204020104020204" pitchFamily="34" charset="0"/>
              </a:rPr>
              <a:t>, or your own plan – experience has taught me that not everyone likes this framework, plan and write a film review of a film of your choice. P. 56 Ex 4. </a:t>
            </a:r>
            <a:r>
              <a:rPr lang="en-US" altLang="en-US" sz="3200">
                <a:solidFill>
                  <a:prstClr val="black"/>
                </a:solidFill>
                <a:latin typeface="Abadi ExtraLight" panose="020B0204020104020204" pitchFamily="34" charset="0"/>
              </a:rPr>
              <a:t>Use </a:t>
            </a:r>
            <a:r>
              <a:rPr kumimoji="0" lang="en-US" altLang="en-US" sz="3200" b="0" i="0" u="none" strike="noStrike" kern="1200" cap="none" spc="0" normalizeH="0" baseline="0" noProof="0">
                <a:ln>
                  <a:noFill/>
                </a:ln>
                <a:solidFill>
                  <a:prstClr val="black"/>
                </a:solidFill>
                <a:effectLst/>
                <a:uLnTx/>
                <a:uFillTx/>
                <a:latin typeface="Tw Cen MT Condensed Extra Bold" panose="020B0803020202020204" pitchFamily="34" charset="0"/>
                <a:hlinkClick r:id="rId2"/>
              </a:rPr>
              <a:t>Writing a film review.pptx</a:t>
            </a:r>
            <a:r>
              <a:rPr kumimoji="0" lang="en-US" altLang="en-US" sz="3200" b="0" i="0" u="none" strike="noStrike" kern="1200" cap="none" spc="0" normalizeH="0" baseline="0" noProof="0">
                <a:ln>
                  <a:noFill/>
                </a:ln>
                <a:solidFill>
                  <a:prstClr val="black"/>
                </a:solidFill>
                <a:effectLst/>
                <a:uLnTx/>
                <a:uFillTx/>
                <a:latin typeface="Tw Cen MT Condensed Extra Bold" panose="020B0803020202020204" pitchFamily="34" charset="0"/>
              </a:rPr>
              <a:t> </a:t>
            </a:r>
            <a:r>
              <a:rPr lang="en-US" altLang="en-US" sz="3200">
                <a:solidFill>
                  <a:prstClr val="black"/>
                </a:solidFill>
                <a:latin typeface="Abadi ExtraLight" panose="020B0204020104020204" pitchFamily="34" charset="0"/>
              </a:rPr>
              <a:t>to help you.</a:t>
            </a:r>
            <a:endParaRPr kumimoji="0" lang="en-US" altLang="en-US" sz="3200" b="0" i="0" strike="noStrike" kern="1200" cap="none" spc="0" normalizeH="0" baseline="0" noProof="0">
              <a:ln>
                <a:noFill/>
              </a:ln>
              <a:solidFill>
                <a:prstClr val="black"/>
              </a:solidFill>
              <a:effectLst/>
              <a:uLnTx/>
              <a:uFillTx/>
              <a:latin typeface="Abadi ExtraLight" panose="020B0204020104020204" pitchFamily="34" charset="0"/>
            </a:endParaRPr>
          </a:p>
        </p:txBody>
      </p:sp>
    </p:spTree>
    <p:extLst>
      <p:ext uri="{BB962C8B-B14F-4D97-AF65-F5344CB8AC3E}">
        <p14:creationId xmlns:p14="http://schemas.microsoft.com/office/powerpoint/2010/main" val="2071052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B62880-872B-7C90-3DBE-A2E103D5CE40}"/>
              </a:ext>
            </a:extLst>
          </p:cNvPr>
          <p:cNvSpPr txBox="1"/>
          <p:nvPr/>
        </p:nvSpPr>
        <p:spPr>
          <a:xfrm>
            <a:off x="1891145" y="1843950"/>
            <a:ext cx="8409709"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0" b="0" i="0" u="none" strike="noStrike" kern="1200" cap="none" spc="0" normalizeH="0" baseline="0" noProof="0" dirty="0">
                <a:ln>
                  <a:noFill/>
                </a:ln>
                <a:solidFill>
                  <a:prstClr val="black"/>
                </a:solidFill>
                <a:effectLst/>
                <a:uLnTx/>
                <a:uFillTx/>
                <a:latin typeface="Tw Cen MT Condensed Extra Bold" panose="020B0803020202020204" pitchFamily="34" charset="0"/>
                <a:ea typeface="+mn-ea"/>
                <a:cs typeface="+mn-cs"/>
              </a:rPr>
              <a:t>Reading/Writing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0" b="0" i="0" u="none" strike="noStrike" kern="1200" cap="none" spc="0" normalizeH="0" baseline="0" noProof="0" dirty="0">
                <a:ln>
                  <a:noFill/>
                </a:ln>
                <a:solidFill>
                  <a:prstClr val="black"/>
                </a:solidFill>
                <a:effectLst/>
                <a:uLnTx/>
                <a:uFillTx/>
                <a:latin typeface="Tw Cen MT Condensed Extra Bold" panose="020B0803020202020204" pitchFamily="34" charset="0"/>
                <a:ea typeface="+mn-ea"/>
                <a:cs typeface="+mn-cs"/>
              </a:rPr>
              <a:t>17:45-20:45</a:t>
            </a:r>
          </a:p>
        </p:txBody>
      </p:sp>
    </p:spTree>
    <p:extLst>
      <p:ext uri="{BB962C8B-B14F-4D97-AF65-F5344CB8AC3E}">
        <p14:creationId xmlns:p14="http://schemas.microsoft.com/office/powerpoint/2010/main" val="1700952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0F6D28-DBC7-0E01-FDB2-39E81800B38C}"/>
              </a:ext>
            </a:extLst>
          </p:cNvPr>
          <p:cNvSpPr txBox="1"/>
          <p:nvPr/>
        </p:nvSpPr>
        <p:spPr>
          <a:xfrm>
            <a:off x="2083632" y="1265234"/>
            <a:ext cx="9069050" cy="4031873"/>
          </a:xfrm>
          <a:prstGeom prst="rect">
            <a:avLst/>
          </a:prstGeom>
          <a:noFill/>
        </p:spPr>
        <p:txBody>
          <a:bodyPr wrap="square" rtlCol="0">
            <a:spAutoFit/>
          </a:bodyPr>
          <a:lstStyle/>
          <a:p>
            <a:r>
              <a:rPr lang="en-GB" sz="3200" u="sng" dirty="0"/>
              <a:t>Running order</a:t>
            </a:r>
          </a:p>
          <a:p>
            <a:r>
              <a:rPr lang="en-GB" sz="3200" dirty="0"/>
              <a:t>Reading booklet Week 4 – </a:t>
            </a:r>
          </a:p>
          <a:p>
            <a:r>
              <a:rPr lang="en-US" altLang="en-US" sz="3200" dirty="0">
                <a:latin typeface="ADLaM Display" panose="02010000000000000000" pitchFamily="2" charset="0"/>
                <a:ea typeface="ADLaM Display" panose="02010000000000000000" pitchFamily="2" charset="0"/>
                <a:cs typeface="ADLaM Display" panose="02010000000000000000" pitchFamily="2" charset="0"/>
                <a:hlinkClick r:id="rId2"/>
              </a:rPr>
              <a:t>0) Reading Booklet</a:t>
            </a:r>
            <a:endParaRPr lang="en-GB" sz="3200" dirty="0">
              <a:latin typeface="ADLaM Display" panose="02010000000000000000" pitchFamily="2" charset="0"/>
              <a:ea typeface="ADLaM Display" panose="02010000000000000000" pitchFamily="2" charset="0"/>
              <a:cs typeface="ADLaM Display" panose="02010000000000000000" pitchFamily="2" charset="0"/>
            </a:endParaRPr>
          </a:p>
          <a:p>
            <a:r>
              <a:rPr lang="en-GB" sz="3200" dirty="0"/>
              <a:t>Skimming, scanning, close reading, </a:t>
            </a:r>
            <a:r>
              <a:rPr lang="en-GB" sz="3200" strike="sngStrike" dirty="0"/>
              <a:t>(not exegesis)</a:t>
            </a:r>
          </a:p>
          <a:p>
            <a:r>
              <a:rPr lang="en-GB" sz="3200" dirty="0"/>
              <a:t>Reading Paper A</a:t>
            </a:r>
          </a:p>
          <a:p>
            <a:r>
              <a:rPr lang="en-US" altLang="en-US" sz="3200" dirty="0">
                <a:latin typeface="Arial" panose="020B0604020202020204" pitchFamily="34" charset="0"/>
                <a:hlinkClick r:id="rId3"/>
              </a:rPr>
              <a:t>L2 R - Paper A (1).pdf</a:t>
            </a:r>
            <a:endParaRPr lang="en-US" altLang="en-US" sz="3200" dirty="0">
              <a:latin typeface="Arial" panose="020B0604020202020204" pitchFamily="34" charset="0"/>
            </a:endParaRPr>
          </a:p>
          <a:p>
            <a:r>
              <a:rPr lang="en-US" altLang="en-US" sz="3200" dirty="0">
                <a:latin typeface="Arial" panose="020B0604020202020204" pitchFamily="34" charset="0"/>
                <a:hlinkClick r:id="rId4"/>
              </a:rPr>
              <a:t>L2 R - Paper A - Mark Scheme.pdf</a:t>
            </a:r>
            <a:endParaRPr lang="en-GB" sz="3200" dirty="0"/>
          </a:p>
          <a:p>
            <a:r>
              <a:rPr lang="en-GB" sz="3200" dirty="0"/>
              <a:t>Finish for HW.</a:t>
            </a:r>
          </a:p>
        </p:txBody>
      </p:sp>
    </p:spTree>
    <p:extLst>
      <p:ext uri="{BB962C8B-B14F-4D97-AF65-F5344CB8AC3E}">
        <p14:creationId xmlns:p14="http://schemas.microsoft.com/office/powerpoint/2010/main" val="2365369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C5E338C-5B58-794D-7020-C770F0098924}"/>
              </a:ext>
            </a:extLst>
          </p:cNvPr>
          <p:cNvGraphicFramePr>
            <a:graphicFrameLocks noGrp="1"/>
          </p:cNvGraphicFramePr>
          <p:nvPr>
            <p:extLst>
              <p:ext uri="{D42A27DB-BD31-4B8C-83A1-F6EECF244321}">
                <p14:modId xmlns:p14="http://schemas.microsoft.com/office/powerpoint/2010/main" val="1013841032"/>
              </p:ext>
            </p:extLst>
          </p:nvPr>
        </p:nvGraphicFramePr>
        <p:xfrm>
          <a:off x="709863" y="556449"/>
          <a:ext cx="11065041" cy="5223258"/>
        </p:xfrm>
        <a:graphic>
          <a:graphicData uri="http://schemas.openxmlformats.org/drawingml/2006/table">
            <a:tbl>
              <a:tblPr firstRow="1" firstCol="1" bandRow="1">
                <a:tableStyleId>{5C22544A-7EE6-4342-B048-85BDC9FD1C3A}</a:tableStyleId>
              </a:tblPr>
              <a:tblGrid>
                <a:gridCol w="3688347">
                  <a:extLst>
                    <a:ext uri="{9D8B030D-6E8A-4147-A177-3AD203B41FA5}">
                      <a16:colId xmlns:a16="http://schemas.microsoft.com/office/drawing/2014/main" val="1631535824"/>
                    </a:ext>
                  </a:extLst>
                </a:gridCol>
                <a:gridCol w="3221790">
                  <a:extLst>
                    <a:ext uri="{9D8B030D-6E8A-4147-A177-3AD203B41FA5}">
                      <a16:colId xmlns:a16="http://schemas.microsoft.com/office/drawing/2014/main" val="1781139355"/>
                    </a:ext>
                  </a:extLst>
                </a:gridCol>
                <a:gridCol w="4154904">
                  <a:extLst>
                    <a:ext uri="{9D8B030D-6E8A-4147-A177-3AD203B41FA5}">
                      <a16:colId xmlns:a16="http://schemas.microsoft.com/office/drawing/2014/main" val="1616166816"/>
                    </a:ext>
                  </a:extLst>
                </a:gridCol>
              </a:tblGrid>
              <a:tr h="0">
                <a:tc>
                  <a:txBody>
                    <a:bodyPr/>
                    <a:lstStyle/>
                    <a:p>
                      <a:pPr>
                        <a:lnSpc>
                          <a:spcPct val="107000"/>
                        </a:lnSpc>
                        <a:spcAft>
                          <a:spcPts val="800"/>
                        </a:spcAft>
                        <a:buNone/>
                      </a:pPr>
                      <a:r>
                        <a:rPr lang="en-GB" sz="3200" kern="100">
                          <a:effectLst/>
                        </a:rPr>
                        <a:t>Reading Strategy</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GB" sz="3200" kern="100">
                          <a:effectLst/>
                        </a:rPr>
                        <a:t>Type of Interpretation</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GB" sz="3200" kern="100">
                          <a:effectLst/>
                        </a:rPr>
                        <a:t>Role</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74184005"/>
                  </a:ext>
                </a:extLst>
              </a:tr>
              <a:tr h="0">
                <a:tc>
                  <a:txBody>
                    <a:bodyPr/>
                    <a:lstStyle/>
                    <a:p>
                      <a:pPr>
                        <a:lnSpc>
                          <a:spcPct val="107000"/>
                        </a:lnSpc>
                        <a:spcAft>
                          <a:spcPts val="800"/>
                        </a:spcAft>
                        <a:buNone/>
                      </a:pPr>
                      <a:r>
                        <a:rPr lang="en-GB" sz="3200" kern="100">
                          <a:effectLst/>
                        </a:rPr>
                        <a:t>Skimming</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GB" sz="3200" kern="100">
                          <a:effectLst/>
                        </a:rPr>
                        <a:t>Global / gist</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GB" sz="3200" kern="100">
                          <a:effectLst/>
                        </a:rPr>
                        <a:t>Establishes a first understanding of the whole text</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12918384"/>
                  </a:ext>
                </a:extLst>
              </a:tr>
              <a:tr h="0">
                <a:tc>
                  <a:txBody>
                    <a:bodyPr/>
                    <a:lstStyle/>
                    <a:p>
                      <a:pPr>
                        <a:lnSpc>
                          <a:spcPct val="107000"/>
                        </a:lnSpc>
                        <a:spcAft>
                          <a:spcPts val="800"/>
                        </a:spcAft>
                        <a:buNone/>
                      </a:pPr>
                      <a:r>
                        <a:rPr lang="en-GB" sz="3200" kern="100">
                          <a:effectLst/>
                        </a:rPr>
                        <a:t>Scanning</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GB" sz="3200" kern="100">
                          <a:effectLst/>
                        </a:rPr>
                        <a:t>Specific / targeted</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GB" sz="3200" kern="100" dirty="0">
                          <a:effectLst/>
                        </a:rPr>
                        <a:t>Interprets only the exact information needed</a:t>
                      </a: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11817255"/>
                  </a:ext>
                </a:extLst>
              </a:tr>
              <a:tr h="0">
                <a:tc>
                  <a:txBody>
                    <a:bodyPr/>
                    <a:lstStyle/>
                    <a:p>
                      <a:pPr>
                        <a:lnSpc>
                          <a:spcPct val="107000"/>
                        </a:lnSpc>
                        <a:spcAft>
                          <a:spcPts val="800"/>
                        </a:spcAft>
                        <a:buNone/>
                      </a:pPr>
                      <a:r>
                        <a:rPr lang="en-GB" sz="3200" kern="100">
                          <a:effectLst/>
                        </a:rPr>
                        <a:t>Close Reading</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GB" sz="3200" kern="100">
                          <a:effectLst/>
                        </a:rPr>
                        <a:t>Detailed / analytical</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GB" sz="3200" kern="100" dirty="0">
                          <a:effectLst/>
                        </a:rPr>
                        <a:t>Builds full, deep meaning from the text</a:t>
                      </a: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19978747"/>
                  </a:ext>
                </a:extLst>
              </a:tr>
            </a:tbl>
          </a:graphicData>
        </a:graphic>
      </p:graphicFrame>
    </p:spTree>
    <p:extLst>
      <p:ext uri="{BB962C8B-B14F-4D97-AF65-F5344CB8AC3E}">
        <p14:creationId xmlns:p14="http://schemas.microsoft.com/office/powerpoint/2010/main" val="745201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92EE2F-9339-27A8-FF8F-20D011E640D7}"/>
              </a:ext>
            </a:extLst>
          </p:cNvPr>
          <p:cNvSpPr txBox="1"/>
          <p:nvPr/>
        </p:nvSpPr>
        <p:spPr>
          <a:xfrm>
            <a:off x="1277912" y="1500005"/>
            <a:ext cx="10099622" cy="3016788"/>
          </a:xfrm>
          <a:prstGeom prst="rect">
            <a:avLst/>
          </a:prstGeom>
          <a:noFill/>
        </p:spPr>
        <p:txBody>
          <a:bodyPr wrap="square">
            <a:spAutoFit/>
          </a:bodyPr>
          <a:lstStyle/>
          <a:p>
            <a:pPr>
              <a:lnSpc>
                <a:spcPct val="107000"/>
              </a:lnSpc>
              <a:spcAft>
                <a:spcPts val="800"/>
              </a:spcAft>
              <a:buNone/>
            </a:pPr>
            <a:r>
              <a:rPr lang="en-GB" sz="3200" b="1" kern="100" dirty="0">
                <a:effectLst/>
                <a:latin typeface="Aptos" panose="020B0004020202020204" pitchFamily="34" charset="0"/>
                <a:ea typeface="Aptos" panose="020B0004020202020204" pitchFamily="34" charset="0"/>
                <a:cs typeface="Times New Roman" panose="02020603050405020304" pitchFamily="18" charset="0"/>
              </a:rPr>
              <a:t>Skimming (A2)</a:t>
            </a: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Skimming is reading a text </a:t>
            </a:r>
            <a:r>
              <a:rPr lang="en-GB" sz="3200" b="1" kern="100" dirty="0">
                <a:effectLst/>
                <a:latin typeface="Aptos" panose="020B0004020202020204" pitchFamily="34" charset="0"/>
                <a:ea typeface="Aptos" panose="020B0004020202020204" pitchFamily="34" charset="0"/>
                <a:cs typeface="Times New Roman" panose="02020603050405020304" pitchFamily="18" charset="0"/>
              </a:rPr>
              <a:t>quickly</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to find the </a:t>
            </a:r>
            <a:r>
              <a:rPr lang="en-GB" sz="3200" b="1" kern="100" dirty="0">
                <a:effectLst/>
                <a:latin typeface="Aptos" panose="020B0004020202020204" pitchFamily="34" charset="0"/>
                <a:ea typeface="Aptos" panose="020B0004020202020204" pitchFamily="34" charset="0"/>
                <a:cs typeface="Times New Roman" panose="02020603050405020304" pitchFamily="18" charset="0"/>
              </a:rPr>
              <a:t>main idea</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07000"/>
              </a:lnSpc>
              <a:spcAft>
                <a:spcPts val="800"/>
              </a:spcAft>
              <a:buNone/>
            </a:pPr>
            <a:r>
              <a:rPr lang="en-GB" sz="3200" b="1" kern="100" dirty="0">
                <a:effectLst/>
                <a:latin typeface="Aptos" panose="020B0004020202020204" pitchFamily="34" charset="0"/>
                <a:ea typeface="Aptos" panose="020B0004020202020204" pitchFamily="34" charset="0"/>
                <a:cs typeface="Times New Roman" panose="02020603050405020304" pitchFamily="18" charset="0"/>
              </a:rPr>
              <a:t>Scanning (A2)</a:t>
            </a: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Scanning is reading a text </a:t>
            </a:r>
            <a:r>
              <a:rPr lang="en-GB" sz="3200" b="1" kern="100" dirty="0">
                <a:effectLst/>
                <a:latin typeface="Aptos" panose="020B0004020202020204" pitchFamily="34" charset="0"/>
                <a:ea typeface="Aptos" panose="020B0004020202020204" pitchFamily="34" charset="0"/>
                <a:cs typeface="Times New Roman" panose="02020603050405020304" pitchFamily="18" charset="0"/>
              </a:rPr>
              <a:t>quickly</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to find </a:t>
            </a:r>
            <a:r>
              <a:rPr lang="en-GB" sz="3200" b="1" kern="100" dirty="0">
                <a:effectLst/>
                <a:latin typeface="Aptos" panose="020B0004020202020204" pitchFamily="34" charset="0"/>
                <a:ea typeface="Aptos" panose="020B0004020202020204" pitchFamily="34" charset="0"/>
                <a:cs typeface="Times New Roman" panose="02020603050405020304" pitchFamily="18" charset="0"/>
              </a:rPr>
              <a:t>one piece of information</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like a number, name, or date.</a:t>
            </a:r>
          </a:p>
        </p:txBody>
      </p:sp>
    </p:spTree>
    <p:extLst>
      <p:ext uri="{BB962C8B-B14F-4D97-AF65-F5344CB8AC3E}">
        <p14:creationId xmlns:p14="http://schemas.microsoft.com/office/powerpoint/2010/main" val="555451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508C1B-7BF5-830A-804E-6AE7DBC41145}"/>
              </a:ext>
            </a:extLst>
          </p:cNvPr>
          <p:cNvSpPr txBox="1"/>
          <p:nvPr/>
        </p:nvSpPr>
        <p:spPr>
          <a:xfrm>
            <a:off x="544642" y="428419"/>
            <a:ext cx="10653009" cy="5951181"/>
          </a:xfrm>
          <a:prstGeom prst="rect">
            <a:avLst/>
          </a:prstGeom>
          <a:noFill/>
        </p:spPr>
        <p:txBody>
          <a:bodyPr wrap="square">
            <a:spAutoFit/>
          </a:bodyPr>
          <a:lstStyle/>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Close reading means </a:t>
            </a:r>
            <a:r>
              <a:rPr lang="en-GB" sz="3200" b="1" kern="100" dirty="0">
                <a:effectLst/>
                <a:latin typeface="Aptos" panose="020B0004020202020204" pitchFamily="34" charset="0"/>
                <a:ea typeface="Aptos" panose="020B0004020202020204" pitchFamily="34" charset="0"/>
                <a:cs typeface="Times New Roman" panose="02020603050405020304" pitchFamily="18" charset="0"/>
              </a:rPr>
              <a:t>examining the words, structure, and details inside a text very carefully</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to understand exactly what it says.</a:t>
            </a:r>
          </a:p>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It focuses on:</a:t>
            </a:r>
          </a:p>
          <a:p>
            <a:pPr marL="342900" lvl="0" indent="-342900">
              <a:lnSpc>
                <a:spcPts val="3200"/>
              </a:lnSpc>
              <a:spcAft>
                <a:spcPts val="800"/>
              </a:spcAft>
              <a:buSzPts val="1000"/>
              <a:buFont typeface="Symbol" panose="05050102010706020507" pitchFamily="18" charset="2"/>
              <a:buChar char=""/>
              <a:tabLst>
                <a:tab pos="457200" algn="l"/>
              </a:tabLst>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vocabulary</a:t>
            </a:r>
          </a:p>
          <a:p>
            <a:pPr marL="342900" lvl="0" indent="-342900">
              <a:lnSpc>
                <a:spcPts val="3200"/>
              </a:lnSpc>
              <a:spcAft>
                <a:spcPts val="800"/>
              </a:spcAft>
              <a:buSzPts val="1000"/>
              <a:buFont typeface="Symbol" panose="05050102010706020507" pitchFamily="18" charset="2"/>
              <a:buChar char=""/>
              <a:tabLst>
                <a:tab pos="457200" algn="l"/>
              </a:tabLst>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grammar</a:t>
            </a:r>
          </a:p>
          <a:p>
            <a:pPr marL="342900" lvl="0" indent="-342900">
              <a:lnSpc>
                <a:spcPts val="3200"/>
              </a:lnSpc>
              <a:spcAft>
                <a:spcPts val="800"/>
              </a:spcAft>
              <a:buSzPts val="1000"/>
              <a:buFont typeface="Symbol" panose="05050102010706020507" pitchFamily="18" charset="2"/>
              <a:buChar char=""/>
              <a:tabLst>
                <a:tab pos="457200" algn="l"/>
              </a:tabLst>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cohesion</a:t>
            </a:r>
          </a:p>
          <a:p>
            <a:pPr marL="342900" lvl="0" indent="-342900">
              <a:lnSpc>
                <a:spcPts val="3200"/>
              </a:lnSpc>
              <a:spcAft>
                <a:spcPts val="800"/>
              </a:spcAft>
              <a:buSzPts val="1000"/>
              <a:buFont typeface="Symbol" panose="05050102010706020507" pitchFamily="18" charset="2"/>
              <a:buChar char=""/>
              <a:tabLst>
                <a:tab pos="457200" algn="l"/>
              </a:tabLst>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tone</a:t>
            </a:r>
          </a:p>
          <a:p>
            <a:pPr marL="342900" lvl="0" indent="-342900">
              <a:lnSpc>
                <a:spcPts val="3200"/>
              </a:lnSpc>
              <a:spcAft>
                <a:spcPts val="800"/>
              </a:spcAft>
              <a:buSzPts val="1000"/>
              <a:buFont typeface="Symbol" panose="05050102010706020507" pitchFamily="18" charset="2"/>
              <a:buChar char=""/>
              <a:tabLst>
                <a:tab pos="457200" algn="l"/>
              </a:tabLst>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organisation</a:t>
            </a:r>
          </a:p>
          <a:p>
            <a:pPr marL="342900" lvl="0" indent="-342900">
              <a:lnSpc>
                <a:spcPts val="3200"/>
              </a:lnSpc>
              <a:spcAft>
                <a:spcPts val="800"/>
              </a:spcAft>
              <a:buSzPts val="1000"/>
              <a:buFont typeface="Symbol" panose="05050102010706020507" pitchFamily="18" charset="2"/>
              <a:buChar char=""/>
              <a:tabLst>
                <a:tab pos="457200" algn="l"/>
              </a:tabLst>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literal and implied meaning</a:t>
            </a:r>
          </a:p>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Close reading stays </a:t>
            </a:r>
            <a:r>
              <a:rPr lang="en-GB" sz="3200" i="1" kern="100" dirty="0">
                <a:effectLst/>
                <a:latin typeface="Aptos" panose="020B0004020202020204" pitchFamily="34" charset="0"/>
                <a:ea typeface="Aptos" panose="020B0004020202020204" pitchFamily="34" charset="0"/>
                <a:cs typeface="Times New Roman" panose="02020603050405020304" pitchFamily="18" charset="0"/>
              </a:rPr>
              <a:t>inside the text</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ts val="3200"/>
              </a:lnSpc>
              <a:spcAft>
                <a:spcPts val="800"/>
              </a:spcAft>
              <a:buNone/>
            </a:pPr>
            <a:r>
              <a:rPr lang="en-GB" sz="3200" kern="100" dirty="0">
                <a:latin typeface="Aptos" panose="020B0004020202020204" pitchFamily="34" charset="0"/>
                <a:ea typeface="Aptos" panose="020B0004020202020204" pitchFamily="34" charset="0"/>
                <a:cs typeface="Times New Roman" panose="02020603050405020304" pitchFamily="18" charset="0"/>
              </a:rPr>
              <a:t>Do not be tempted to go outside of the text.</a:t>
            </a: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2046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172333-C630-02B1-281B-9108C084B607}"/>
              </a:ext>
            </a:extLst>
          </p:cNvPr>
          <p:cNvSpPr txBox="1"/>
          <p:nvPr/>
        </p:nvSpPr>
        <p:spPr>
          <a:xfrm>
            <a:off x="664563" y="306838"/>
            <a:ext cx="11117705" cy="6061852"/>
          </a:xfrm>
          <a:prstGeom prst="rect">
            <a:avLst/>
          </a:prstGeom>
          <a:noFill/>
        </p:spPr>
        <p:txBody>
          <a:bodyPr wrap="square">
            <a:spAutoFit/>
          </a:bodyPr>
          <a:lstStyle/>
          <a:p>
            <a:pPr>
              <a:lnSpc>
                <a:spcPct val="107000"/>
              </a:lnSpc>
              <a:spcAft>
                <a:spcPts val="800"/>
              </a:spcAft>
              <a:buNone/>
            </a:pPr>
            <a:r>
              <a:rPr lang="en-GB" sz="3200" b="1" kern="100" dirty="0">
                <a:effectLst/>
                <a:latin typeface="Aptos" panose="020B0004020202020204" pitchFamily="34" charset="0"/>
                <a:ea typeface="Aptos" panose="020B0004020202020204" pitchFamily="34" charset="0"/>
                <a:cs typeface="Times New Roman" panose="02020603050405020304" pitchFamily="18" charset="0"/>
              </a:rPr>
              <a:t>Exegesis = Why it says it, what it means in context, and how we can explain that meaning clearly</a:t>
            </a: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Exegesis uses:</a:t>
            </a:r>
          </a:p>
          <a:p>
            <a:pPr marL="342900" lvl="0" indent="-342900">
              <a:lnSpc>
                <a:spcPct val="107000"/>
              </a:lnSpc>
              <a:spcAft>
                <a:spcPts val="800"/>
              </a:spcAft>
              <a:buSzPts val="1000"/>
              <a:buFont typeface="Symbol" panose="05050102010706020507" pitchFamily="18" charset="2"/>
              <a:buChar char=""/>
              <a:tabLst>
                <a:tab pos="457200" algn="l"/>
              </a:tabLst>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close reading (the text itself)</a:t>
            </a:r>
          </a:p>
          <a:p>
            <a:pPr marL="342900" lvl="0" indent="-342900">
              <a:lnSpc>
                <a:spcPct val="107000"/>
              </a:lnSpc>
              <a:spcAft>
                <a:spcPts val="800"/>
              </a:spcAft>
              <a:buSzPts val="1000"/>
              <a:buFont typeface="Symbol" panose="05050102010706020507" pitchFamily="18" charset="2"/>
              <a:buChar char=""/>
              <a:tabLst>
                <a:tab pos="457200" algn="l"/>
              </a:tabLst>
            </a:pPr>
            <a:r>
              <a:rPr lang="en-GB" sz="3200" b="1" kern="100" dirty="0">
                <a:effectLst/>
                <a:latin typeface="Aptos" panose="020B0004020202020204" pitchFamily="34" charset="0"/>
                <a:ea typeface="Aptos" panose="020B0004020202020204" pitchFamily="34" charset="0"/>
                <a:cs typeface="Times New Roman" panose="02020603050405020304" pitchFamily="18" charset="0"/>
              </a:rPr>
              <a:t>context</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(when/where it was written, who for, why)</a:t>
            </a:r>
          </a:p>
          <a:p>
            <a:pPr marL="342900" lvl="0" indent="-342900">
              <a:lnSpc>
                <a:spcPct val="107000"/>
              </a:lnSpc>
              <a:spcAft>
                <a:spcPts val="800"/>
              </a:spcAft>
              <a:buSzPts val="1000"/>
              <a:buFont typeface="Symbol" panose="05050102010706020507" pitchFamily="18" charset="2"/>
              <a:buChar char=""/>
              <a:tabLst>
                <a:tab pos="457200" algn="l"/>
              </a:tabLst>
            </a:pPr>
            <a:r>
              <a:rPr lang="en-GB" sz="3200" b="1" kern="100" dirty="0">
                <a:effectLst/>
                <a:latin typeface="Aptos" panose="020B0004020202020204" pitchFamily="34" charset="0"/>
                <a:ea typeface="Aptos" panose="020B0004020202020204" pitchFamily="34" charset="0"/>
                <a:cs typeface="Times New Roman" panose="02020603050405020304" pitchFamily="18" charset="0"/>
              </a:rPr>
              <a:t>purpose</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(the writer’s intention)</a:t>
            </a:r>
          </a:p>
          <a:p>
            <a:pPr marL="342900" lvl="0" indent="-342900">
              <a:lnSpc>
                <a:spcPct val="107000"/>
              </a:lnSpc>
              <a:spcAft>
                <a:spcPts val="800"/>
              </a:spcAft>
              <a:buSzPts val="1000"/>
              <a:buFont typeface="Symbol" panose="05050102010706020507" pitchFamily="18" charset="2"/>
              <a:buChar char=""/>
              <a:tabLst>
                <a:tab pos="457200" algn="l"/>
              </a:tabLst>
            </a:pPr>
            <a:r>
              <a:rPr lang="en-GB" sz="3200" b="1" kern="100" dirty="0">
                <a:effectLst/>
                <a:latin typeface="Aptos" panose="020B0004020202020204" pitchFamily="34" charset="0"/>
                <a:ea typeface="Aptos" panose="020B0004020202020204" pitchFamily="34" charset="0"/>
                <a:cs typeface="Times New Roman" panose="02020603050405020304" pitchFamily="18" charset="0"/>
              </a:rPr>
              <a:t>background knowledge</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(cultural, social, situational)</a:t>
            </a:r>
          </a:p>
          <a:p>
            <a:pPr marL="342900" lvl="0" indent="-342900">
              <a:lnSpc>
                <a:spcPct val="107000"/>
              </a:lnSpc>
              <a:spcAft>
                <a:spcPts val="800"/>
              </a:spcAft>
              <a:buSzPts val="1000"/>
              <a:buFont typeface="Symbol" panose="05050102010706020507" pitchFamily="18" charset="2"/>
              <a:buChar char=""/>
              <a:tabLst>
                <a:tab pos="457200" algn="l"/>
              </a:tabLst>
            </a:pPr>
            <a:r>
              <a:rPr lang="en-GB" sz="3200" b="1" kern="100" dirty="0">
                <a:effectLst/>
                <a:latin typeface="Aptos" panose="020B0004020202020204" pitchFamily="34" charset="0"/>
                <a:ea typeface="Aptos" panose="020B0004020202020204" pitchFamily="34" charset="0"/>
                <a:cs typeface="Times New Roman" panose="02020603050405020304" pitchFamily="18" charset="0"/>
              </a:rPr>
              <a:t>reasoned explanation</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(a structured interpretation)</a:t>
            </a:r>
          </a:p>
          <a:p>
            <a:pPr>
              <a:lnSpc>
                <a:spcPct val="1070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This takes you </a:t>
            </a:r>
            <a:r>
              <a:rPr lang="en-GB" sz="3200" b="1" kern="100" dirty="0">
                <a:effectLst/>
                <a:latin typeface="Aptos" panose="020B0004020202020204" pitchFamily="34" charset="0"/>
                <a:ea typeface="Aptos" panose="020B0004020202020204" pitchFamily="34" charset="0"/>
                <a:cs typeface="Times New Roman" panose="02020603050405020304" pitchFamily="18" charset="0"/>
              </a:rPr>
              <a:t>beyond</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the text into a fuller, supported interpretation. Do not do this.</a:t>
            </a:r>
          </a:p>
        </p:txBody>
      </p:sp>
    </p:spTree>
    <p:extLst>
      <p:ext uri="{BB962C8B-B14F-4D97-AF65-F5344CB8AC3E}">
        <p14:creationId xmlns:p14="http://schemas.microsoft.com/office/powerpoint/2010/main" val="2542365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071E71-DA4D-0DF2-472B-789631B1DED7}"/>
              </a:ext>
            </a:extLst>
          </p:cNvPr>
          <p:cNvSpPr txBox="1"/>
          <p:nvPr/>
        </p:nvSpPr>
        <p:spPr>
          <a:xfrm>
            <a:off x="2953063" y="0"/>
            <a:ext cx="9114019" cy="7232173"/>
          </a:xfrm>
          <a:prstGeom prst="rect">
            <a:avLst/>
          </a:prstGeom>
          <a:noFill/>
        </p:spPr>
        <p:txBody>
          <a:bodyPr wrap="square">
            <a:spAutoFit/>
          </a:bodyPr>
          <a:lstStyle/>
          <a:p>
            <a:pPr>
              <a:lnSpc>
                <a:spcPts val="2800"/>
              </a:lnSpc>
              <a:spcAft>
                <a:spcPts val="800"/>
              </a:spcAft>
              <a:buNone/>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1. What is digital literacy?</a:t>
            </a:r>
            <a:endParaRPr lang="en-GB" sz="2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2800"/>
              </a:lnSpc>
              <a:spcAft>
                <a:spcPts val="800"/>
              </a:spcAft>
              <a:buNone/>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Digital literacy is the ability to use digital tools and technologies effectively.</a:t>
            </a:r>
          </a:p>
          <a:p>
            <a:pPr>
              <a:lnSpc>
                <a:spcPts val="2800"/>
              </a:lnSpc>
              <a:spcAft>
                <a:spcPts val="800"/>
              </a:spcAft>
              <a:buNone/>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2. How might a nurse use digital tools in their job?</a:t>
            </a:r>
            <a:endParaRPr lang="en-GB" sz="2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2800"/>
              </a:lnSpc>
              <a:spcAft>
                <a:spcPts val="800"/>
              </a:spcAft>
              <a:buNone/>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A nurse might use digital tools to track patient records.</a:t>
            </a:r>
          </a:p>
          <a:p>
            <a:pPr>
              <a:lnSpc>
                <a:spcPts val="2800"/>
              </a:lnSpc>
              <a:spcAft>
                <a:spcPts val="800"/>
              </a:spcAft>
              <a:buNone/>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3. Why are critical thinking and problem‑solving skills important in today’s job market?</a:t>
            </a:r>
            <a:endParaRPr lang="en-GB" sz="2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2800"/>
              </a:lnSpc>
              <a:spcAft>
                <a:spcPts val="800"/>
              </a:spcAft>
              <a:buNone/>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They are important because automation is replacing many routine tasks, so workers need to analyse information, think creatively and make good decisions.</a:t>
            </a:r>
          </a:p>
          <a:p>
            <a:pPr>
              <a:lnSpc>
                <a:spcPts val="2800"/>
              </a:lnSpc>
              <a:spcAft>
                <a:spcPts val="800"/>
              </a:spcAft>
              <a:buNone/>
            </a:pPr>
            <a:r>
              <a:rPr lang="en-GB" sz="2800" b="1" kern="100" dirty="0">
                <a:latin typeface="Aptos" panose="020B0004020202020204" pitchFamily="34" charset="0"/>
                <a:ea typeface="Aptos" panose="020B0004020202020204" pitchFamily="34" charset="0"/>
                <a:cs typeface="Times New Roman" panose="02020603050405020304" pitchFamily="18" charset="0"/>
              </a:rPr>
              <a:t>4. Give an example of a role that requires critical thinking and problem‑solving.</a:t>
            </a:r>
            <a:endParaRPr lang="en-GB" sz="2800" kern="100" dirty="0">
              <a:latin typeface="Aptos" panose="020B0004020202020204" pitchFamily="34" charset="0"/>
              <a:ea typeface="Aptos" panose="020B0004020202020204" pitchFamily="34" charset="0"/>
              <a:cs typeface="Times New Roman" panose="02020603050405020304" pitchFamily="18" charset="0"/>
            </a:endParaRPr>
          </a:p>
          <a:p>
            <a:pPr>
              <a:lnSpc>
                <a:spcPts val="2800"/>
              </a:lnSpc>
              <a:spcAft>
                <a:spcPts val="800"/>
              </a:spcAft>
              <a:buNone/>
            </a:pPr>
            <a:r>
              <a:rPr lang="en-GB" sz="2800" kern="100" dirty="0">
                <a:latin typeface="Aptos" panose="020B0004020202020204" pitchFamily="34" charset="0"/>
                <a:ea typeface="Aptos" panose="020B0004020202020204" pitchFamily="34" charset="0"/>
                <a:cs typeface="Times New Roman" panose="02020603050405020304" pitchFamily="18" charset="0"/>
              </a:rPr>
              <a:t>An engineer working on renewable energy solutions.</a:t>
            </a:r>
          </a:p>
          <a:p>
            <a:pPr>
              <a:lnSpc>
                <a:spcPts val="2800"/>
              </a:lnSpc>
              <a:spcAft>
                <a:spcPts val="800"/>
              </a:spcAft>
              <a:buNone/>
            </a:pPr>
            <a:r>
              <a:rPr lang="en-GB" sz="2800" b="1" kern="100" dirty="0">
                <a:latin typeface="Aptos" panose="020B0004020202020204" pitchFamily="34" charset="0"/>
                <a:ea typeface="Aptos" panose="020B0004020202020204" pitchFamily="34" charset="0"/>
                <a:cs typeface="Times New Roman" panose="02020603050405020304" pitchFamily="18" charset="0"/>
              </a:rPr>
              <a:t>5. What is emotional intelligence?</a:t>
            </a:r>
            <a:endParaRPr lang="en-GB" sz="2800" kern="100" dirty="0">
              <a:latin typeface="Aptos" panose="020B0004020202020204" pitchFamily="34" charset="0"/>
              <a:ea typeface="Aptos" panose="020B0004020202020204" pitchFamily="34" charset="0"/>
              <a:cs typeface="Times New Roman" panose="02020603050405020304" pitchFamily="18" charset="0"/>
            </a:endParaRPr>
          </a:p>
          <a:p>
            <a:pPr>
              <a:lnSpc>
                <a:spcPts val="2800"/>
              </a:lnSpc>
              <a:spcAft>
                <a:spcPts val="800"/>
              </a:spcAft>
              <a:buNone/>
            </a:pPr>
            <a:r>
              <a:rPr lang="en-GB" sz="2800" kern="100" dirty="0">
                <a:latin typeface="Aptos" panose="020B0004020202020204" pitchFamily="34" charset="0"/>
                <a:ea typeface="Aptos" panose="020B0004020202020204" pitchFamily="34" charset="0"/>
                <a:cs typeface="Times New Roman" panose="02020603050405020304" pitchFamily="18" charset="0"/>
              </a:rPr>
              <a:t>Emotional intelligence is the ability to understand and manage your own emotions and the emotions of others.</a:t>
            </a:r>
          </a:p>
          <a:p>
            <a:pPr>
              <a:lnSpc>
                <a:spcPts val="2800"/>
              </a:lnSpc>
              <a:spcAft>
                <a:spcPts val="800"/>
              </a:spcAft>
              <a:buNone/>
            </a:pPr>
            <a:endParaRPr lang="en-GB" sz="2800" kern="100" dirty="0">
              <a:effectLst/>
              <a:latin typeface="Aptos" panose="020B0004020202020204" pitchFamily="34" charset="0"/>
              <a:ea typeface="Aptos" panose="020B0004020202020204" pitchFamily="34" charset="0"/>
              <a:cs typeface="Times New Roman" panose="02020603050405020304" pitchFamily="18" charset="0"/>
            </a:endParaRP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A170DF4C-2F60-DC0D-C674-421A49DDFE4E}"/>
                  </a:ext>
                </a:extLst>
              </p:cNvPr>
              <p:cNvGraphicFramePr>
                <a:graphicFrameLocks noChangeAspect="1"/>
              </p:cNvGraphicFramePr>
              <p:nvPr>
                <p:extLst>
                  <p:ext uri="{D42A27DB-BD31-4B8C-83A1-F6EECF244321}">
                    <p14:modId xmlns:p14="http://schemas.microsoft.com/office/powerpoint/2010/main" val="144560231"/>
                  </p:ext>
                </p:extLst>
              </p:nvPr>
            </p:nvGraphicFramePr>
            <p:xfrm>
              <a:off x="0" y="0"/>
              <a:ext cx="2848131" cy="3341076"/>
            </p:xfrm>
            <a:graphic>
              <a:graphicData uri="http://schemas.microsoft.com/office/powerpoint/2016/slidezoom">
                <pslz:sldZm>
                  <pslz:sldZmObj sldId="264" cId="3901117999">
                    <pslz:zmPr id="{E9A74F6D-2DB8-4CC3-A30B-10E8EA39C6EB}" transitionDur="1000">
                      <p166:blipFill xmlns:p166="http://schemas.microsoft.com/office/powerpoint/2016/6/main">
                        <a:blip r:embed="rId2"/>
                        <a:stretch>
                          <a:fillRect/>
                        </a:stretch>
                      </p166:blipFill>
                      <p166:spPr xmlns:p166="http://schemas.microsoft.com/office/powerpoint/2016/6/main">
                        <a:xfrm>
                          <a:off x="0" y="0"/>
                          <a:ext cx="2848131" cy="3341076"/>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A170DF4C-2F60-DC0D-C674-421A49DDFE4E}"/>
                  </a:ext>
                </a:extLst>
              </p:cNvPr>
              <p:cNvPicPr>
                <a:picLocks noGrp="1" noRot="1" noChangeAspect="1" noMove="1" noResize="1" noEditPoints="1" noAdjustHandles="1" noChangeArrowheads="1" noChangeShapeType="1"/>
              </p:cNvPicPr>
              <p:nvPr/>
            </p:nvPicPr>
            <p:blipFill>
              <a:blip r:embed="rId4"/>
              <a:stretch>
                <a:fillRect/>
              </a:stretch>
            </p:blipFill>
            <p:spPr>
              <a:xfrm>
                <a:off x="0" y="0"/>
                <a:ext cx="2848131" cy="334107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71BBB11C-F785-8EE9-E81A-7E3AAE62C38B}"/>
                  </a:ext>
                </a:extLst>
              </p:cNvPr>
              <p:cNvGraphicFramePr>
                <a:graphicFrameLocks noChangeAspect="1"/>
              </p:cNvGraphicFramePr>
              <p:nvPr>
                <p:extLst>
                  <p:ext uri="{D42A27DB-BD31-4B8C-83A1-F6EECF244321}">
                    <p14:modId xmlns:p14="http://schemas.microsoft.com/office/powerpoint/2010/main" val="2172050150"/>
                  </p:ext>
                </p:extLst>
              </p:nvPr>
            </p:nvGraphicFramePr>
            <p:xfrm>
              <a:off x="1" y="3516925"/>
              <a:ext cx="2848130" cy="3341076"/>
            </p:xfrm>
            <a:graphic>
              <a:graphicData uri="http://schemas.microsoft.com/office/powerpoint/2016/slidezoom">
                <pslz:sldZm>
                  <pslz:sldZmObj sldId="265" cId="3727448119">
                    <pslz:zmPr id="{E00410B8-A484-4800-B654-AE07E7A466D8}" transitionDur="1000">
                      <p166:blipFill xmlns:p166="http://schemas.microsoft.com/office/powerpoint/2016/6/main">
                        <a:blip r:embed="rId5"/>
                        <a:stretch>
                          <a:fillRect/>
                        </a:stretch>
                      </p166:blipFill>
                      <p166:spPr xmlns:p166="http://schemas.microsoft.com/office/powerpoint/2016/6/main">
                        <a:xfrm>
                          <a:off x="0" y="0"/>
                          <a:ext cx="2848130" cy="3341076"/>
                        </a:xfrm>
                        <a:prstGeom prst="rect">
                          <a:avLst/>
                        </a:prstGeom>
                        <a:ln w="3175">
                          <a:solidFill>
                            <a:prstClr val="ltGray"/>
                          </a:solidFill>
                        </a:ln>
                      </p166:spPr>
                    </pslz:zmPr>
                  </pslz:sldZmObj>
                </pslz:sldZm>
              </a:graphicData>
            </a:graphic>
          </p:graphicFrame>
        </mc:Choice>
        <mc:Fallback xmlns="">
          <p:pic>
            <p:nvPicPr>
              <p:cNvPr id="7" name="Slide Zoom 6">
                <a:hlinkClick r:id="rId6" action="ppaction://hlinksldjump"/>
                <a:extLst>
                  <a:ext uri="{FF2B5EF4-FFF2-40B4-BE49-F238E27FC236}">
                    <a16:creationId xmlns:a16="http://schemas.microsoft.com/office/drawing/2014/main" id="{71BBB11C-F785-8EE9-E81A-7E3AAE62C38B}"/>
                  </a:ext>
                </a:extLst>
              </p:cNvPr>
              <p:cNvPicPr>
                <a:picLocks noGrp="1" noRot="1" noChangeAspect="1" noMove="1" noResize="1" noEditPoints="1" noAdjustHandles="1" noChangeArrowheads="1" noChangeShapeType="1"/>
              </p:cNvPicPr>
              <p:nvPr/>
            </p:nvPicPr>
            <p:blipFill>
              <a:blip r:embed="rId7"/>
              <a:stretch>
                <a:fillRect/>
              </a:stretch>
            </p:blipFill>
            <p:spPr>
              <a:xfrm>
                <a:off x="1" y="3516925"/>
                <a:ext cx="2848130" cy="3341076"/>
              </a:xfrm>
              <a:prstGeom prst="rect">
                <a:avLst/>
              </a:prstGeom>
              <a:ln w="3175">
                <a:solidFill>
                  <a:prstClr val="ltGray"/>
                </a:solidFill>
              </a:ln>
            </p:spPr>
          </p:pic>
        </mc:Fallback>
      </mc:AlternateContent>
    </p:spTree>
    <p:extLst>
      <p:ext uri="{BB962C8B-B14F-4D97-AF65-F5344CB8AC3E}">
        <p14:creationId xmlns:p14="http://schemas.microsoft.com/office/powerpoint/2010/main" val="369497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3C0AE-2178-CFE4-F65F-373EDDF48934}"/>
            </a:ext>
          </a:extLst>
        </p:cNvPr>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C9383FD4-C0FA-C118-71D4-3C33CE5C8CCE}"/>
                  </a:ext>
                </a:extLst>
              </p:cNvPr>
              <p:cNvGraphicFramePr>
                <a:graphicFrameLocks noChangeAspect="1"/>
              </p:cNvGraphicFramePr>
              <p:nvPr>
                <p:extLst>
                  <p:ext uri="{D42A27DB-BD31-4B8C-83A1-F6EECF244321}">
                    <p14:modId xmlns:p14="http://schemas.microsoft.com/office/powerpoint/2010/main" val="1563393424"/>
                  </p:ext>
                </p:extLst>
              </p:nvPr>
            </p:nvGraphicFramePr>
            <p:xfrm>
              <a:off x="0" y="0"/>
              <a:ext cx="2188564" cy="3341076"/>
            </p:xfrm>
            <a:graphic>
              <a:graphicData uri="http://schemas.microsoft.com/office/powerpoint/2016/slidezoom">
                <pslz:sldZm>
                  <pslz:sldZmObj sldId="264" cId="3901117999">
                    <pslz:zmPr id="{E9A74F6D-2DB8-4CC3-A30B-10E8EA39C6EB}" transitionDur="1000">
                      <p166:blipFill xmlns:p166="http://schemas.microsoft.com/office/powerpoint/2016/6/main">
                        <a:blip r:embed="rId2"/>
                        <a:stretch>
                          <a:fillRect/>
                        </a:stretch>
                      </p166:blipFill>
                      <p166:spPr xmlns:p166="http://schemas.microsoft.com/office/powerpoint/2016/6/main">
                        <a:xfrm>
                          <a:off x="0" y="0"/>
                          <a:ext cx="2188564" cy="3341076"/>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C9383FD4-C0FA-C118-71D4-3C33CE5C8CCE}"/>
                  </a:ext>
                </a:extLst>
              </p:cNvPr>
              <p:cNvPicPr>
                <a:picLocks noGrp="1" noRot="1" noChangeAspect="1" noMove="1" noResize="1" noEditPoints="1" noAdjustHandles="1" noChangeArrowheads="1" noChangeShapeType="1"/>
              </p:cNvPicPr>
              <p:nvPr/>
            </p:nvPicPr>
            <p:blipFill>
              <a:blip r:embed="rId4"/>
              <a:stretch>
                <a:fillRect/>
              </a:stretch>
            </p:blipFill>
            <p:spPr>
              <a:xfrm>
                <a:off x="0" y="0"/>
                <a:ext cx="2188564" cy="334107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FBE36ED9-F575-93F8-756B-49752B700C3B}"/>
                  </a:ext>
                </a:extLst>
              </p:cNvPr>
              <p:cNvGraphicFramePr>
                <a:graphicFrameLocks noChangeAspect="1"/>
              </p:cNvGraphicFramePr>
              <p:nvPr>
                <p:extLst>
                  <p:ext uri="{D42A27DB-BD31-4B8C-83A1-F6EECF244321}">
                    <p14:modId xmlns:p14="http://schemas.microsoft.com/office/powerpoint/2010/main" val="940671635"/>
                  </p:ext>
                </p:extLst>
              </p:nvPr>
            </p:nvGraphicFramePr>
            <p:xfrm>
              <a:off x="1" y="3516925"/>
              <a:ext cx="2188563" cy="3341076"/>
            </p:xfrm>
            <a:graphic>
              <a:graphicData uri="http://schemas.microsoft.com/office/powerpoint/2016/slidezoom">
                <pslz:sldZm>
                  <pslz:sldZmObj sldId="265" cId="3727448119">
                    <pslz:zmPr id="{E00410B8-A484-4800-B654-AE07E7A466D8}" transitionDur="1000">
                      <p166:blipFill xmlns:p166="http://schemas.microsoft.com/office/powerpoint/2016/6/main">
                        <a:blip r:embed="rId5"/>
                        <a:stretch>
                          <a:fillRect/>
                        </a:stretch>
                      </p166:blipFill>
                      <p166:spPr xmlns:p166="http://schemas.microsoft.com/office/powerpoint/2016/6/main">
                        <a:xfrm>
                          <a:off x="0" y="0"/>
                          <a:ext cx="2188563" cy="3341076"/>
                        </a:xfrm>
                        <a:prstGeom prst="rect">
                          <a:avLst/>
                        </a:prstGeom>
                        <a:ln w="3175">
                          <a:solidFill>
                            <a:prstClr val="ltGray"/>
                          </a:solidFill>
                        </a:ln>
                      </p166:spPr>
                    </pslz:zmPr>
                  </pslz:sldZmObj>
                </pslz:sldZm>
              </a:graphicData>
            </a:graphic>
          </p:graphicFrame>
        </mc:Choice>
        <mc:Fallback xmlns="">
          <p:pic>
            <p:nvPicPr>
              <p:cNvPr id="7" name="Slide Zoom 6">
                <a:hlinkClick r:id="rId6" action="ppaction://hlinksldjump"/>
                <a:extLst>
                  <a:ext uri="{FF2B5EF4-FFF2-40B4-BE49-F238E27FC236}">
                    <a16:creationId xmlns:a16="http://schemas.microsoft.com/office/drawing/2014/main" id="{FBE36ED9-F575-93F8-756B-49752B700C3B}"/>
                  </a:ext>
                </a:extLst>
              </p:cNvPr>
              <p:cNvPicPr>
                <a:picLocks noGrp="1" noRot="1" noChangeAspect="1" noMove="1" noResize="1" noEditPoints="1" noAdjustHandles="1" noChangeArrowheads="1" noChangeShapeType="1"/>
              </p:cNvPicPr>
              <p:nvPr/>
            </p:nvPicPr>
            <p:blipFill>
              <a:blip r:embed="rId7"/>
              <a:stretch>
                <a:fillRect/>
              </a:stretch>
            </p:blipFill>
            <p:spPr>
              <a:xfrm>
                <a:off x="1" y="3516925"/>
                <a:ext cx="2188563" cy="3341076"/>
              </a:xfrm>
              <a:prstGeom prst="rect">
                <a:avLst/>
              </a:prstGeom>
              <a:ln w="3175">
                <a:solidFill>
                  <a:prstClr val="ltGray"/>
                </a:solidFill>
              </a:ln>
            </p:spPr>
          </p:pic>
        </mc:Fallback>
      </mc:AlternateContent>
      <p:sp>
        <p:nvSpPr>
          <p:cNvPr id="2" name="TextBox 1">
            <a:extLst>
              <a:ext uri="{FF2B5EF4-FFF2-40B4-BE49-F238E27FC236}">
                <a16:creationId xmlns:a16="http://schemas.microsoft.com/office/drawing/2014/main" id="{5C96A3EB-9923-9C06-E3DE-61B5017FBF0B}"/>
              </a:ext>
            </a:extLst>
          </p:cNvPr>
          <p:cNvSpPr txBox="1"/>
          <p:nvPr/>
        </p:nvSpPr>
        <p:spPr>
          <a:xfrm>
            <a:off x="2383437" y="147044"/>
            <a:ext cx="9808564" cy="6567504"/>
          </a:xfrm>
          <a:prstGeom prst="rect">
            <a:avLst/>
          </a:prstGeom>
          <a:noFill/>
        </p:spPr>
        <p:txBody>
          <a:bodyPr wrap="square">
            <a:spAutoFit/>
          </a:bodyPr>
          <a:lstStyle/>
          <a:p>
            <a:pPr>
              <a:lnSpc>
                <a:spcPts val="2400"/>
              </a:lnSpc>
              <a:spcAft>
                <a:spcPts val="800"/>
              </a:spcAft>
              <a:buNone/>
            </a:pPr>
            <a:r>
              <a:rPr lang="en-GB" sz="2500" b="1" kern="100" dirty="0">
                <a:effectLst/>
                <a:latin typeface="Aptos" panose="020B0004020202020204" pitchFamily="34" charset="0"/>
                <a:ea typeface="Aptos" panose="020B0004020202020204" pitchFamily="34" charset="0"/>
                <a:cs typeface="Times New Roman" panose="02020603050405020304" pitchFamily="18" charset="0"/>
              </a:rPr>
              <a:t>6. How can emotional intelligence improve a workplace environment?</a:t>
            </a:r>
            <a:endParaRPr lang="en-GB" sz="25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2400"/>
              </a:lnSpc>
              <a:spcAft>
                <a:spcPts val="800"/>
              </a:spcAft>
              <a:buNone/>
            </a:pPr>
            <a:r>
              <a:rPr lang="en-GB" sz="2500" kern="100" dirty="0">
                <a:effectLst/>
                <a:latin typeface="Aptos" panose="020B0004020202020204" pitchFamily="34" charset="0"/>
                <a:ea typeface="Aptos" panose="020B0004020202020204" pitchFamily="34" charset="0"/>
                <a:cs typeface="Times New Roman" panose="02020603050405020304" pitchFamily="18" charset="0"/>
              </a:rPr>
              <a:t>It improves teamwork, communication and conflict resolution, creating a more positive and supportive workplace.</a:t>
            </a:r>
          </a:p>
          <a:p>
            <a:pPr>
              <a:lnSpc>
                <a:spcPts val="2400"/>
              </a:lnSpc>
              <a:spcAft>
                <a:spcPts val="800"/>
              </a:spcAft>
              <a:buNone/>
            </a:pPr>
            <a:r>
              <a:rPr lang="en-GB" sz="2500" b="1" kern="100" dirty="0">
                <a:effectLst/>
                <a:latin typeface="Aptos" panose="020B0004020202020204" pitchFamily="34" charset="0"/>
                <a:ea typeface="Aptos" panose="020B0004020202020204" pitchFamily="34" charset="0"/>
                <a:cs typeface="Times New Roman" panose="02020603050405020304" pitchFamily="18" charset="0"/>
              </a:rPr>
              <a:t>7. Why is adaptability important in the modern job market?</a:t>
            </a:r>
            <a:endParaRPr lang="en-GB" sz="25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2400"/>
              </a:lnSpc>
              <a:spcAft>
                <a:spcPts val="800"/>
              </a:spcAft>
              <a:buNone/>
            </a:pPr>
            <a:r>
              <a:rPr lang="en-GB" sz="2500" kern="100" dirty="0">
                <a:effectLst/>
                <a:latin typeface="Aptos" panose="020B0004020202020204" pitchFamily="34" charset="0"/>
                <a:ea typeface="Aptos" panose="020B0004020202020204" pitchFamily="34" charset="0"/>
                <a:cs typeface="Times New Roman" panose="02020603050405020304" pitchFamily="18" charset="0"/>
              </a:rPr>
              <a:t>Adaptability is important because the nature of work is changing quickly, and new types of jobs are constantly emerging.</a:t>
            </a:r>
          </a:p>
          <a:p>
            <a:pPr>
              <a:lnSpc>
                <a:spcPts val="2400"/>
              </a:lnSpc>
              <a:spcAft>
                <a:spcPts val="800"/>
              </a:spcAft>
              <a:buNone/>
            </a:pPr>
            <a:r>
              <a:rPr lang="en-GB" sz="2500" b="1" kern="100" dirty="0">
                <a:effectLst/>
                <a:latin typeface="Aptos" panose="020B0004020202020204" pitchFamily="34" charset="0"/>
                <a:ea typeface="Aptos" panose="020B0004020202020204" pitchFamily="34" charset="0"/>
                <a:cs typeface="Times New Roman" panose="02020603050405020304" pitchFamily="18" charset="0"/>
              </a:rPr>
              <a:t>8. Describe an example of adaptability in the context of teaching.</a:t>
            </a:r>
            <a:endParaRPr lang="en-GB" sz="25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2400"/>
              </a:lnSpc>
              <a:spcAft>
                <a:spcPts val="800"/>
              </a:spcAft>
              <a:buNone/>
            </a:pPr>
            <a:r>
              <a:rPr lang="en-GB" sz="2500" kern="100" dirty="0">
                <a:effectLst/>
                <a:latin typeface="Aptos" panose="020B0004020202020204" pitchFamily="34" charset="0"/>
                <a:ea typeface="Aptos" panose="020B0004020202020204" pitchFamily="34" charset="0"/>
                <a:cs typeface="Times New Roman" panose="02020603050405020304" pitchFamily="18" charset="0"/>
              </a:rPr>
              <a:t>A teacher showed adaptability by shifting from in‑person classes to online teaching during the COVID‑19 pandemic and learning to use virtual platforms.</a:t>
            </a:r>
          </a:p>
          <a:p>
            <a:pPr>
              <a:lnSpc>
                <a:spcPts val="2400"/>
              </a:lnSpc>
              <a:spcAft>
                <a:spcPts val="800"/>
              </a:spcAft>
              <a:buNone/>
            </a:pPr>
            <a:r>
              <a:rPr lang="en-GB" sz="2500" b="1" kern="100" dirty="0">
                <a:effectLst/>
                <a:latin typeface="Aptos" panose="020B0004020202020204" pitchFamily="34" charset="0"/>
                <a:ea typeface="Aptos" panose="020B0004020202020204" pitchFamily="34" charset="0"/>
                <a:cs typeface="Times New Roman" panose="02020603050405020304" pitchFamily="18" charset="0"/>
              </a:rPr>
              <a:t>9. What does collaboration involve?</a:t>
            </a:r>
            <a:endParaRPr lang="en-GB" sz="25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2400"/>
              </a:lnSpc>
              <a:spcAft>
                <a:spcPts val="800"/>
              </a:spcAft>
              <a:buNone/>
            </a:pPr>
            <a:r>
              <a:rPr lang="en-GB" sz="2500" kern="100" dirty="0">
                <a:effectLst/>
                <a:latin typeface="Aptos" panose="020B0004020202020204" pitchFamily="34" charset="0"/>
                <a:ea typeface="Aptos" panose="020B0004020202020204" pitchFamily="34" charset="0"/>
                <a:cs typeface="Times New Roman" panose="02020603050405020304" pitchFamily="18" charset="0"/>
              </a:rPr>
              <a:t>Collaboration involves working effectively with others to achieve common goals.</a:t>
            </a:r>
          </a:p>
          <a:p>
            <a:pPr>
              <a:lnSpc>
                <a:spcPts val="2400"/>
              </a:lnSpc>
              <a:spcAft>
                <a:spcPts val="800"/>
              </a:spcAft>
              <a:buNone/>
            </a:pPr>
            <a:r>
              <a:rPr lang="en-GB" sz="2500" b="1" kern="100" dirty="0">
                <a:effectLst/>
                <a:latin typeface="Aptos" panose="020B0004020202020204" pitchFamily="34" charset="0"/>
                <a:ea typeface="Aptos" panose="020B0004020202020204" pitchFamily="34" charset="0"/>
                <a:cs typeface="Times New Roman" panose="02020603050405020304" pitchFamily="18" charset="0"/>
              </a:rPr>
              <a:t>10. Provide an example of how collaboration is used in software development.</a:t>
            </a:r>
            <a:endParaRPr lang="en-GB" sz="25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2400"/>
              </a:lnSpc>
              <a:spcAft>
                <a:spcPts val="800"/>
              </a:spcAft>
              <a:buNone/>
            </a:pPr>
            <a:r>
              <a:rPr lang="en-GB" sz="2500" kern="100" dirty="0">
                <a:effectLst/>
                <a:latin typeface="Aptos" panose="020B0004020202020204" pitchFamily="34" charset="0"/>
                <a:ea typeface="Aptos" panose="020B0004020202020204" pitchFamily="34" charset="0"/>
                <a:cs typeface="Times New Roman" panose="02020603050405020304" pitchFamily="18" charset="0"/>
              </a:rPr>
              <a:t>In software development, programmers, designers and testers work together as a team to create a new application.</a:t>
            </a:r>
          </a:p>
        </p:txBody>
      </p:sp>
    </p:spTree>
    <p:extLst>
      <p:ext uri="{BB962C8B-B14F-4D97-AF65-F5344CB8AC3E}">
        <p14:creationId xmlns:p14="http://schemas.microsoft.com/office/powerpoint/2010/main" val="220687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BADE4C-2241-5DDD-FC83-9B3CFAB31701}"/>
              </a:ext>
            </a:extLst>
          </p:cNvPr>
          <p:cNvSpPr txBox="1"/>
          <p:nvPr/>
        </p:nvSpPr>
        <p:spPr>
          <a:xfrm>
            <a:off x="189875" y="299521"/>
            <a:ext cx="11812249" cy="6258958"/>
          </a:xfrm>
          <a:prstGeom prst="rect">
            <a:avLst/>
          </a:prstGeom>
          <a:noFill/>
        </p:spPr>
        <p:txBody>
          <a:bodyPr wrap="square">
            <a:spAutoFit/>
          </a:bodyPr>
          <a:lstStyle/>
          <a:p>
            <a:pPr>
              <a:lnSpc>
                <a:spcPts val="3200"/>
              </a:lnSpc>
            </a:pPr>
            <a:r>
              <a:rPr lang="en-GB" sz="2800" b="1" dirty="0"/>
              <a:t>Employable Skills for the Future </a:t>
            </a:r>
          </a:p>
          <a:p>
            <a:pPr>
              <a:lnSpc>
                <a:spcPts val="3200"/>
              </a:lnSpc>
            </a:pPr>
            <a:r>
              <a:rPr lang="en-GB" sz="2800" dirty="0"/>
              <a:t>In today’s rapidly changing world, the skills needed to be employable are also evolving. As technology advances and the job market transforms, certain skills are becoming increasingly valuable. Here, we will explore some of these critical skills and provide real-life examples to illustrate their importance.</a:t>
            </a:r>
          </a:p>
          <a:p>
            <a:pPr>
              <a:lnSpc>
                <a:spcPts val="3200"/>
              </a:lnSpc>
            </a:pPr>
            <a:endParaRPr lang="en-GB" sz="2800" dirty="0"/>
          </a:p>
          <a:p>
            <a:pPr>
              <a:lnSpc>
                <a:spcPts val="3200"/>
              </a:lnSpc>
            </a:pPr>
            <a:r>
              <a:rPr lang="en-GB" sz="2800" b="1" dirty="0"/>
              <a:t>Digital Literacy </a:t>
            </a:r>
          </a:p>
          <a:p>
            <a:pPr>
              <a:lnSpc>
                <a:spcPts val="3200"/>
              </a:lnSpc>
            </a:pPr>
            <a:r>
              <a:rPr lang="en-GB" sz="2800" dirty="0"/>
              <a:t>Digital literacy refers to the ability to use digital tools and technologies effectively. In nearly every job, from retail to medicine, employees need to know how to operate computers, use software and navigate the internet. For example, a nurse might use digital tools to track patient records, while a marketing professional may analyse social media trends to create campaigns. Companies now look for employees who can easily adapt to new digital platforms. </a:t>
            </a:r>
          </a:p>
        </p:txBody>
      </p:sp>
    </p:spTree>
    <p:extLst>
      <p:ext uri="{BB962C8B-B14F-4D97-AF65-F5344CB8AC3E}">
        <p14:creationId xmlns:p14="http://schemas.microsoft.com/office/powerpoint/2010/main" val="3901117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96475-E6FC-C0F0-A0DD-55E0569B7228}"/>
              </a:ext>
            </a:extLst>
          </p:cNvPr>
          <p:cNvSpPr txBox="1"/>
          <p:nvPr/>
        </p:nvSpPr>
        <p:spPr>
          <a:xfrm>
            <a:off x="76823" y="99883"/>
            <a:ext cx="12038354" cy="6658233"/>
          </a:xfrm>
          <a:prstGeom prst="rect">
            <a:avLst/>
          </a:prstGeom>
          <a:noFill/>
        </p:spPr>
        <p:txBody>
          <a:bodyPr wrap="square">
            <a:spAutoFit/>
          </a:bodyPr>
          <a:lstStyle/>
          <a:p>
            <a:pPr>
              <a:lnSpc>
                <a:spcPts val="3200"/>
              </a:lnSpc>
            </a:pPr>
            <a:r>
              <a:rPr lang="en-GB" sz="2800" b="1" dirty="0"/>
              <a:t>Critical Thinking and Problem-Solving </a:t>
            </a:r>
          </a:p>
          <a:p>
            <a:pPr>
              <a:lnSpc>
                <a:spcPts val="3200"/>
              </a:lnSpc>
            </a:pPr>
            <a:r>
              <a:rPr lang="en-GB" sz="2800" dirty="0"/>
              <a:t>Critical thinking and problem-solving skills are essential in a world where automation is taking over many routine tasks. These skills involve analysing information, thinking creatively and making decisions. Consider the role of an engineer working on renewable energy solutions. They must evaluate different technologies, foresee potential problems and develop innovative solutions to make clean energy more accessible. Employers value individuals who can tackle complex issues effectively.</a:t>
            </a:r>
          </a:p>
          <a:p>
            <a:pPr>
              <a:lnSpc>
                <a:spcPts val="3200"/>
              </a:lnSpc>
            </a:pPr>
            <a:endParaRPr lang="en-GB" sz="2800" dirty="0"/>
          </a:p>
          <a:p>
            <a:pPr>
              <a:lnSpc>
                <a:spcPts val="3200"/>
              </a:lnSpc>
            </a:pPr>
            <a:r>
              <a:rPr lang="en-GB" sz="2800" b="1" dirty="0"/>
              <a:t>Emotional Intelligence </a:t>
            </a:r>
          </a:p>
          <a:p>
            <a:pPr>
              <a:lnSpc>
                <a:spcPts val="3200"/>
              </a:lnSpc>
            </a:pPr>
            <a:r>
              <a:rPr lang="en-GB" sz="2800" dirty="0"/>
              <a:t>Emotional intelligence is the ability to understand and manage your own emotions and those of others. In the workplace, this translates to better teamwork, communication and conflict resolution. For instance, a manager with high emotional intelligence can motivate their team, recognise when someone is struggling and provide the necessary support. This skill is crucial in creating a positive work environment and improving employee satisfaction.</a:t>
            </a:r>
          </a:p>
        </p:txBody>
      </p:sp>
    </p:spTree>
    <p:extLst>
      <p:ext uri="{BB962C8B-B14F-4D97-AF65-F5344CB8AC3E}">
        <p14:creationId xmlns:p14="http://schemas.microsoft.com/office/powerpoint/2010/main" val="3727448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924890BC-D04E-5C19-2EE1-A751FDDD0E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BC872D-4CC6-5F41-37AA-E4345552FE53}"/>
              </a:ext>
            </a:extLst>
          </p:cNvPr>
          <p:cNvSpPr txBox="1"/>
          <p:nvPr/>
        </p:nvSpPr>
        <p:spPr>
          <a:xfrm>
            <a:off x="557134" y="1074509"/>
            <a:ext cx="11077731" cy="4708981"/>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0" b="0" i="0" u="none" strike="noStrike" kern="1200" cap="none" spc="0" normalizeH="0" baseline="0" noProof="0" dirty="0">
                <a:ln>
                  <a:noFill/>
                </a:ln>
                <a:solidFill>
                  <a:prstClr val="white"/>
                </a:solidFill>
                <a:effectLst/>
                <a:uLnTx/>
                <a:uFillTx/>
                <a:latin typeface="Tw Cen MT Condensed Extra Bold" panose="020B0803020202020204" pitchFamily="34" charset="0"/>
                <a:ea typeface="+mn-ea"/>
                <a:cs typeface="+mn-cs"/>
              </a:rPr>
              <a:t>Check-out</a:t>
            </a:r>
          </a:p>
          <a:p>
            <a:pPr algn="ctr">
              <a:defRPr/>
            </a:pPr>
            <a:r>
              <a:rPr lang="en-GB" sz="15000">
                <a:solidFill>
                  <a:prstClr val="white"/>
                </a:solidFill>
                <a:latin typeface="Tw Cen MT Condensed Extra Bold"/>
              </a:rPr>
              <a:t> 26</a:t>
            </a:r>
            <a:r>
              <a:rPr kumimoji="0" lang="en-GB" sz="15000" b="0" i="0" u="none" strike="noStrike" kern="1200" cap="none" spc="0" normalizeH="0" baseline="0" noProof="0">
                <a:ln>
                  <a:noFill/>
                </a:ln>
                <a:solidFill>
                  <a:prstClr val="white"/>
                </a:solidFill>
                <a:effectLst/>
                <a:uLnTx/>
                <a:uFillTx/>
                <a:latin typeface="Tw Cen MT Condensed Extra Bold"/>
              </a:rPr>
              <a:t> Mar 2026</a:t>
            </a:r>
            <a:endParaRPr lang="en-GB" sz="15000" b="0" i="0" u="none" strike="noStrike" kern="1200" cap="none" spc="0" normalizeH="0" baseline="0" noProof="0">
              <a:ln>
                <a:noFill/>
              </a:ln>
              <a:solidFill>
                <a:prstClr val="white"/>
              </a:solidFill>
              <a:effectLst/>
              <a:uLnTx/>
              <a:uFillTx/>
              <a:latin typeface="Tw Cen MT Condensed Extra Bold"/>
            </a:endParaRPr>
          </a:p>
        </p:txBody>
      </p:sp>
    </p:spTree>
    <p:extLst>
      <p:ext uri="{BB962C8B-B14F-4D97-AF65-F5344CB8AC3E}">
        <p14:creationId xmlns:p14="http://schemas.microsoft.com/office/powerpoint/2010/main" val="1201532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E52D9-161C-16BD-9904-50B1055F3E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CB387B-0DA1-9EBA-B363-97E9CF5FE7CC}"/>
              </a:ext>
            </a:extLst>
          </p:cNvPr>
          <p:cNvSpPr txBox="1"/>
          <p:nvPr/>
        </p:nvSpPr>
        <p:spPr>
          <a:xfrm>
            <a:off x="2083632" y="1265234"/>
            <a:ext cx="7135319" cy="5016758"/>
          </a:xfrm>
          <a:prstGeom prst="rect">
            <a:avLst/>
          </a:prstGeom>
          <a:noFill/>
        </p:spPr>
        <p:txBody>
          <a:bodyPr wrap="square" rtlCol="0">
            <a:spAutoFit/>
          </a:bodyPr>
          <a:lstStyle/>
          <a:p>
            <a:r>
              <a:rPr lang="en-GB" sz="3200" u="sng" dirty="0"/>
              <a:t>Work from 26 Mar 2026</a:t>
            </a:r>
          </a:p>
          <a:p>
            <a:r>
              <a:rPr lang="en-GB" sz="3200" dirty="0"/>
              <a:t>Reading booklet Week 4 – </a:t>
            </a:r>
          </a:p>
          <a:p>
            <a:r>
              <a:rPr lang="en-US" altLang="en-US" sz="3200" dirty="0">
                <a:latin typeface="ADLaM Display" panose="02010000000000000000" pitchFamily="2" charset="0"/>
                <a:ea typeface="ADLaM Display" panose="02010000000000000000" pitchFamily="2" charset="0"/>
                <a:cs typeface="ADLaM Display" panose="02010000000000000000" pitchFamily="2" charset="0"/>
                <a:hlinkClick r:id="rId2"/>
              </a:rPr>
              <a:t>0) Reading Booklet</a:t>
            </a:r>
            <a:endParaRPr lang="en-GB" sz="3200" dirty="0">
              <a:latin typeface="ADLaM Display" panose="02010000000000000000" pitchFamily="2" charset="0"/>
              <a:ea typeface="ADLaM Display" panose="02010000000000000000" pitchFamily="2" charset="0"/>
              <a:cs typeface="ADLaM Display" panose="02010000000000000000" pitchFamily="2" charset="0"/>
            </a:endParaRPr>
          </a:p>
          <a:p>
            <a:r>
              <a:rPr lang="en-GB" sz="3200" dirty="0"/>
              <a:t>Skimming, scanning, close reading, </a:t>
            </a:r>
          </a:p>
          <a:p>
            <a:r>
              <a:rPr lang="en-GB" sz="3200" dirty="0"/>
              <a:t>Reading Paper A Tasks 1 &amp;2</a:t>
            </a:r>
          </a:p>
          <a:p>
            <a:r>
              <a:rPr lang="en-US" altLang="en-US" sz="3200" dirty="0">
                <a:latin typeface="Tw Cen MT Condensed Extra Bold" panose="020B0803020202020204" pitchFamily="34" charset="0"/>
                <a:hlinkClick r:id="rId3"/>
              </a:rPr>
              <a:t>L2 R - Paper A (1).pdf</a:t>
            </a:r>
            <a:endParaRPr lang="en-US" altLang="en-US" sz="3200" dirty="0">
              <a:latin typeface="Tw Cen MT Condensed Extra Bold" panose="020B0803020202020204" pitchFamily="34" charset="0"/>
            </a:endParaRPr>
          </a:p>
          <a:p>
            <a:r>
              <a:rPr lang="en-US" altLang="en-US" sz="3200" dirty="0">
                <a:latin typeface="Tw Cen MT Condensed Extra Bold" panose="020B0803020202020204" pitchFamily="34" charset="0"/>
                <a:hlinkClick r:id="rId4"/>
              </a:rPr>
              <a:t>L2 R - Paper A - Mark Scheme.pdf</a:t>
            </a:r>
            <a:endParaRPr lang="en-GB" sz="3200" dirty="0">
              <a:latin typeface="Tw Cen MT Condensed Extra Bold" panose="020B0803020202020204" pitchFamily="34" charset="0"/>
            </a:endParaRPr>
          </a:p>
          <a:p>
            <a:r>
              <a:rPr lang="en-GB" sz="3200" dirty="0"/>
              <a:t>Finish for HW.</a:t>
            </a:r>
          </a:p>
          <a:p>
            <a:r>
              <a:rPr lang="en-GB" sz="3200" u="sng" dirty="0"/>
              <a:t>Homework</a:t>
            </a:r>
          </a:p>
          <a:p>
            <a:r>
              <a:rPr lang="en-GB" sz="3200" dirty="0"/>
              <a:t>Reading Paper A Tasks 3 &amp; 4.</a:t>
            </a:r>
          </a:p>
        </p:txBody>
      </p:sp>
    </p:spTree>
    <p:extLst>
      <p:ext uri="{BB962C8B-B14F-4D97-AF65-F5344CB8AC3E}">
        <p14:creationId xmlns:p14="http://schemas.microsoft.com/office/powerpoint/2010/main" val="30542435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BADE4C-2241-5DDD-FC83-9B3CFAB31701}"/>
              </a:ext>
            </a:extLst>
          </p:cNvPr>
          <p:cNvSpPr txBox="1"/>
          <p:nvPr/>
        </p:nvSpPr>
        <p:spPr>
          <a:xfrm>
            <a:off x="189875" y="299521"/>
            <a:ext cx="11812249" cy="6258958"/>
          </a:xfrm>
          <a:prstGeom prst="rect">
            <a:avLst/>
          </a:prstGeom>
          <a:noFill/>
        </p:spPr>
        <p:txBody>
          <a:bodyPr wrap="square">
            <a:spAutoFit/>
          </a:bodyPr>
          <a:lstStyle/>
          <a:p>
            <a:pPr>
              <a:lnSpc>
                <a:spcPts val="3200"/>
              </a:lnSpc>
            </a:pPr>
            <a:r>
              <a:rPr lang="en-GB" sz="2800" b="1"/>
              <a:t>Employable Skills for the Future </a:t>
            </a:r>
          </a:p>
          <a:p>
            <a:pPr>
              <a:lnSpc>
                <a:spcPts val="3200"/>
              </a:lnSpc>
            </a:pPr>
            <a:r>
              <a:rPr lang="en-GB" sz="2800"/>
              <a:t>In today’s rapidly changing world, the skills needed to be employable are also evolving. As technology advances and the job market transforms, certain skills are becoming increasingly valuable. Here, we will explore some of these critical skills and provide real-life examples to illustrate their importance.</a:t>
            </a:r>
          </a:p>
          <a:p>
            <a:pPr>
              <a:lnSpc>
                <a:spcPts val="3200"/>
              </a:lnSpc>
            </a:pPr>
            <a:endParaRPr lang="en-GB" sz="2800"/>
          </a:p>
          <a:p>
            <a:pPr>
              <a:lnSpc>
                <a:spcPts val="3200"/>
              </a:lnSpc>
            </a:pPr>
            <a:r>
              <a:rPr lang="en-GB" sz="2800" b="1"/>
              <a:t>Digital Literacy </a:t>
            </a:r>
          </a:p>
          <a:p>
            <a:pPr>
              <a:lnSpc>
                <a:spcPts val="3200"/>
              </a:lnSpc>
            </a:pPr>
            <a:r>
              <a:rPr lang="en-GB" sz="2800"/>
              <a:t>Digital literacy refers to the ability to use digital tools and technologies effectively. In nearly every job, from retail to medicine, employees need to know how to operate computers, use software and navigate the internet. For example, a nurse might use digital tools to track patient records, while a marketing professional may analyse social media trends to create campaigns. Companies now look for employees who can easily adapt to new digital platforms. </a:t>
            </a:r>
          </a:p>
        </p:txBody>
      </p:sp>
    </p:spTree>
    <p:extLst>
      <p:ext uri="{BB962C8B-B14F-4D97-AF65-F5344CB8AC3E}">
        <p14:creationId xmlns:p14="http://schemas.microsoft.com/office/powerpoint/2010/main" val="390111799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96475-E6FC-C0F0-A0DD-55E0569B7228}"/>
              </a:ext>
            </a:extLst>
          </p:cNvPr>
          <p:cNvSpPr txBox="1"/>
          <p:nvPr/>
        </p:nvSpPr>
        <p:spPr>
          <a:xfrm>
            <a:off x="76823" y="99883"/>
            <a:ext cx="12038354" cy="6658233"/>
          </a:xfrm>
          <a:prstGeom prst="rect">
            <a:avLst/>
          </a:prstGeom>
          <a:noFill/>
        </p:spPr>
        <p:txBody>
          <a:bodyPr wrap="square">
            <a:spAutoFit/>
          </a:bodyPr>
          <a:lstStyle/>
          <a:p>
            <a:pPr>
              <a:lnSpc>
                <a:spcPts val="3200"/>
              </a:lnSpc>
            </a:pPr>
            <a:r>
              <a:rPr lang="en-GB" sz="2800" b="1"/>
              <a:t>Critical Thinking and Problem-Solving </a:t>
            </a:r>
          </a:p>
          <a:p>
            <a:pPr>
              <a:lnSpc>
                <a:spcPts val="3200"/>
              </a:lnSpc>
            </a:pPr>
            <a:r>
              <a:rPr lang="en-GB" sz="2800"/>
              <a:t>Critical thinking and problem-solving skills are essential in a world where automation is taking over many routine tasks. These skills involve analysing information, thinking creatively and making decisions. Consider the role of an engineer working on renewable energy solutions. They must evaluate different technologies, foresee potential problems and develop innovative solutions to make clean energy more accessible. Employers value individuals who can tackle complex issues effectively.</a:t>
            </a:r>
          </a:p>
          <a:p>
            <a:pPr>
              <a:lnSpc>
                <a:spcPts val="3200"/>
              </a:lnSpc>
            </a:pPr>
            <a:endParaRPr lang="en-GB" sz="2800"/>
          </a:p>
          <a:p>
            <a:pPr>
              <a:lnSpc>
                <a:spcPts val="3200"/>
              </a:lnSpc>
            </a:pPr>
            <a:r>
              <a:rPr lang="en-GB" sz="2800" b="1"/>
              <a:t>Emotional Intelligence </a:t>
            </a:r>
          </a:p>
          <a:p>
            <a:pPr>
              <a:lnSpc>
                <a:spcPts val="3200"/>
              </a:lnSpc>
            </a:pPr>
            <a:r>
              <a:rPr lang="en-GB" sz="2800"/>
              <a:t>Emotional intelligence is the ability to understand and manage your own emotions and those of others. In the workplace, this translates to better teamwork, communication and conflict resolution. For instance, a manager with high emotional intelligence can motivate their team, recognise when someone is struggling and provide the necessary support. This skill is crucial in creating a positive work environment and improving employee satisfaction.</a:t>
            </a:r>
          </a:p>
        </p:txBody>
      </p:sp>
    </p:spTree>
    <p:extLst>
      <p:ext uri="{BB962C8B-B14F-4D97-AF65-F5344CB8AC3E}">
        <p14:creationId xmlns:p14="http://schemas.microsoft.com/office/powerpoint/2010/main" val="37274481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39D589-9BEC-492D-97B3-EEC6B97484A4}">
  <ds:schemaRefs>
    <ds:schemaRef ds:uri="http://www.w3.org/XML/1998/namespace"/>
    <ds:schemaRef ds:uri="http://purl.org/dc/terms/"/>
    <ds:schemaRef ds:uri="http://purl.org/dc/dcmitype/"/>
    <ds:schemaRef ds:uri="http://purl.org/dc/elements/1.1/"/>
    <ds:schemaRef ds:uri="http://schemas.openxmlformats.org/package/2006/metadata/core-properties"/>
    <ds:schemaRef ds:uri="31635c7e-3a11-4128-b6ca-f17fd774e46d"/>
    <ds:schemaRef ds:uri="http://schemas.microsoft.com/office/2006/documentManagement/type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E6CC4B2-DC72-4B33-BD65-0728749207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F1244F8-5793-476C-A602-C76951A142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256</TotalTime>
  <Words>1034</Words>
  <Application>Microsoft Office PowerPoint</Application>
  <PresentationFormat>Widescreen</PresentationFormat>
  <Paragraphs>96</Paragraphs>
  <Slides>15</Slides>
  <Notes>0</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Abadi ExtraLight</vt:lpstr>
      <vt:lpstr>ADLaM Display</vt:lpstr>
      <vt:lpstr>Aptos</vt:lpstr>
      <vt:lpstr>Aptos Display</vt:lpstr>
      <vt:lpstr>Arial</vt:lpstr>
      <vt:lpstr>Symbol</vt:lpstr>
      <vt:lpstr>Tw Cen MT Condensed Extra Bold</vt:lpstr>
      <vt:lpstr>office theme</vt:lpstr>
      <vt:lpstr>5) ESCCCP24 2025-2026  26 Mar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Andrew Patterson</cp:lastModifiedBy>
  <cp:revision>4</cp:revision>
  <dcterms:created xsi:type="dcterms:W3CDTF">2026-03-25T09:59:07Z</dcterms:created>
  <dcterms:modified xsi:type="dcterms:W3CDTF">2026-03-27T11:17:49Z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ies>
</file>